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Argus" id="{6027c26e-5015-3407-7fea-4ccca11d2c58}">
          <p14:sldIdLst>
            <p14:sldId id="256"/>
            <p14:sldId id="257"/>
            <p14:sldId id="258"/>
            <p14:sldId id="259"/>
          </p14:sldIdLst>
        </p14:section>
        <p14:section name="What Argus does" id="{ef9b741a-7cc8-77e3-8fa2-788c2654ed2d}">
          <p14:sldIdLst>
            <p14:sldId id="260"/>
            <p14:sldId id="261"/>
            <p14:sldId id="262"/>
            <p14:sldId id="263"/>
            <p14:sldId id="264"/>
          </p14:sldIdLst>
        </p14:section>
        <p14:section name="On site" id="{d30e652b-97a4-4ef6-6f57-5e893754db70}">
          <p14:sldIdLst>
            <p14:sldId id="265"/>
            <p14:sldId id="266"/>
          </p14:sldIdLst>
        </p14:section>
        <p14:section name="Next steps" id="{43756bbc-1219-78dd-ff2e-ff75674785af}">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Argus is our video memory solution: it records everything a camera sees as searchable memory and lets you ask about it in plain language. This deck covers what it does, how it works, how it keeps footage private, and how to try it on your own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pain: sites record a lot of video, but searching it is slow and manual. Recorders search by time, not by what happened. Alerts only fire on rules set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Argus Panoptes, the hundred-eyed watchman of Greek myth, who never closed all his eyes at once. That is the product: a watchman for every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use the same cameras. Alerts answer "is X happening now?" for rules set in advance; memory answers "what happened?" afterwards, for any question. Argus runs both in one recorder, on the same detector, tracker and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example. The operator types a question the way they would ask a colleague. Argus answers in a sentence and shows the frames it used, so the answer can be checked. This exchange is illustrative, not a recorded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 one recorder per camera detects and tracks every object (all 80 COCO classes), embeds each tracked object with CLIP, and every few seconds embeds the whole frame plus a 2x2 grid of tiles. Everything lands in one store per site. Ask: the question is parsed into what / when / which camera; the "what" is embedded with CLIP's text model and compared with stored vectors. Answer: an LLM gets the store as two tools and composes the answer with evidence thumbnails.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ranges can be in plain words (yesterday, this morning, last 2 hours) or exact times. "Together" means the same camera and overlapping in time, within about 15 seconds by default. Counts come straight from the tracker, so they are exact; descriptions such as clothing or colour are ranked visual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language model has two lookups. "objects" returns tracked objects by time, class and co-occurrence: exact, no guessing. "search" is CLIP visual similarity for descriptions: ranked guesses where low-ranked hits can be wrong. The model never sees the database, only the results, and the thumbnails it was shown are returned as evidence. Counts are visits, not unique people: someone who leaves and comes back is two visits. Telling people apart across visits would need face recognition, which stays off unless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Alerts run inside the same recorder as the memory, on the same cameras. Tested with Argus's recorder on sample street footage: zone enter, exit and stay-too-long events and line crossings, limited to chosen object types. Delivery is by webhook (into the client's own systems) or email, with a snapshot and a cooldown between repeats. Rules work on the 80 everyday object types today. Fire, smoke or other new object types need a model trained for that customer; weapons are not offered.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every client asks: where does my footage go? Nowhere. Detection, search and the memory store run on the site's server. The default chat model is Qwen3 4B (Apache-2.0) through Ollama on CPU; a larger local option is Qwen3 30B-A3B. Any OpenAI-compatible server works (llama.cpp, LM Studio, vLLM). A cloud model such as Claude is an opt-in switch: it receives the question and the search results (times, cameras, labels, thumbnail paths), never images or video. Face prints are biometric data and stay off unless the client has approved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uses YOLOX on ONNX Runtime and descriptions use CLIP, both on CPU. The detector reads the cheap sub stream; the main stream is saved as-is (about no CPU) in one-minute files, and full-resolution keyframes give sharp crops. On busy scenes the indexer samples more sparsely rather than lagging behind. Sizing note: 1080p at 4 Mbit/s is about 43 GB per camera per day of recording, 7 days kept by default. The 55 ms figure is a laptop CPU measurement for one CLIP crop.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questions per site type. Each maps onto what Argus does today: counts by object type and time, presence on a named camera in a time window, co-occurrence (bag with bench), and visual description search (white van).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straightforward about maturity. Today Argus runs as a recorder per camera plus a chat. Counting and "what was he doing" questions are where CLIP alone is weakest, which is why scene captions from a small vision-language model are on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pilot offer: a demo on their own recorded footage. Fill in the contact line before sending.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Dark-glow-image-2.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Blue-statement-image-2.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image-1006-2.png"/><Relationship Id="rId3" Type="http://schemas.openxmlformats.org/officeDocument/2006/relationships/image" Target="../media/Hero-image-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pic>
        <p:nvPicPr>
          <p:cNvPr id="2" name="Image 0" descr="logo_icon.png">    </p:cNvPr>
          <p:cNvPicPr>
            <a:picLocks noChangeAspect="1"/>
          </p:cNvPicPr>
          <p:nvPr/>
        </p:nvPicPr>
        <p:blipFill>
          <a:blip r:embed="rId1"/>
          <a:stretch>
            <a:fillRect/>
          </a:stretch>
        </p:blipFill>
        <p:spPr>
          <a:xfrm>
            <a:off x="812800" y="6299200"/>
            <a:ext cx="330200" cy="203200"/>
          </a:xfrm>
          <a:prstGeom prst="rect">
            <a:avLst/>
          </a:prstGeom>
        </p:spPr>
      </p:pic>
      <p:sp>
        <p:nvSpPr>
          <p:cNvPr id="3" name="Text 0"/>
          <p:cNvSpPr/>
          <p:nvPr/>
        </p:nvSpPr>
        <p:spPr>
          <a:xfrm>
            <a:off x="1244600" y="6286500"/>
            <a:ext cx="5715000" cy="228600"/>
          </a:xfrm>
          <a:prstGeom prst="rect">
            <a:avLst/>
          </a:prstGeom>
          <a:noFill/>
          <a:ln/>
        </p:spPr>
        <p:txBody>
          <a:bodyPr wrap="square" lIns="0" tIns="0" rIns="0" bIns="0" rtlCol="0" anchor="ctr"/>
          <a:lstStyle/>
          <a:p>
            <a:pPr indent="0" marL="0">
              <a:buNone/>
            </a:pPr>
            <a:r>
              <a:rPr lang="en-US" sz="1200" spc="200" kern="0" dirty="0">
                <a:solidFill>
                  <a:srgbClr val="7E8BA6"/>
                </a:solidFill>
                <a:latin typeface="Consolas" pitchFamily="34" charset="0"/>
                <a:ea typeface="Consolas" pitchFamily="34" charset="-122"/>
                <a:cs typeface="Consolas" pitchFamily="34" charset="-120"/>
              </a:rPr>
              <a:t>MOBIUS TENSORS · ARGUS</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algn="l" indent="0" marL="0">
              <a:buNone/>
              <a:defRPr lang="en-US" sz="1200" spc="300" kern="0" dirty="0">
                <a:solidFill>
                  <a:schemeClr val="accent2"/>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5" name="Text 1"/>
          <p:cNvSpPr/>
          <p:nvPr>
            <p:ph idx="103" type="title" hasCustomPrompt="1"/>
          </p:nvPr>
        </p:nvSpPr>
        <p:spPr>
          <a:xfrm>
            <a:off x="812800" y="1117600"/>
            <a:ext cx="10566400" cy="1651000"/>
          </a:xfrm>
          <a:prstGeom prst="rect">
            <a:avLst/>
          </a:prstGeom>
          <a:noFill/>
          <a:ln/>
        </p:spPr>
        <p:txBody>
          <a:bodyPr wrap="square" rtlCol="0"/>
          <a:lstStyle>
            <a:lvl1pPr algn="l" indent="0" marL="0">
              <a:lnSpc>
                <a:spcPct val="95000"/>
              </a:lnSpc>
              <a:buNone/>
              <a:defRPr lang="en-US" sz="36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alt">
    <p:bg>
      <p:bgPr>
        <a:solidFill>
          <a:schemeClr val="tx2"/>
        </a:solidFill>
      </p:bgPr>
    </p:bg>
    <p:spTree>
      <p:nvGrpSpPr>
        <p:cNvPr id="1" name=""/>
        <p:cNvGrpSpPr/>
        <p:nvPr/>
      </p:nvGrpSpPr>
      <p:grpSpPr>
        <a:xfrm>
          <a:off x="0" y="0"/>
          <a:ext cx="0" cy="0"/>
          <a:chOff x="0" y="0"/>
          <a:chExt cx="0" cy="0"/>
        </a:xfrm>
      </p:grpSpPr>
      <p:pic>
        <p:nvPicPr>
          <p:cNvPr id="2" name="Image 0" descr="logo_icon.png">    </p:cNvPr>
          <p:cNvPicPr>
            <a:picLocks noChangeAspect="1"/>
          </p:cNvPicPr>
          <p:nvPr/>
        </p:nvPicPr>
        <p:blipFill>
          <a:blip r:embed="rId1"/>
          <a:stretch>
            <a:fillRect/>
          </a:stretch>
        </p:blipFill>
        <p:spPr>
          <a:xfrm>
            <a:off x="812800" y="6299200"/>
            <a:ext cx="330200" cy="203200"/>
          </a:xfrm>
          <a:prstGeom prst="rect">
            <a:avLst/>
          </a:prstGeom>
        </p:spPr>
      </p:pic>
      <p:sp>
        <p:nvSpPr>
          <p:cNvPr id="3" name="Text 0"/>
          <p:cNvSpPr/>
          <p:nvPr/>
        </p:nvSpPr>
        <p:spPr>
          <a:xfrm>
            <a:off x="1244600" y="6286500"/>
            <a:ext cx="5715000" cy="228600"/>
          </a:xfrm>
          <a:prstGeom prst="rect">
            <a:avLst/>
          </a:prstGeom>
          <a:noFill/>
          <a:ln/>
        </p:spPr>
        <p:txBody>
          <a:bodyPr wrap="square" lIns="0" tIns="0" rIns="0" bIns="0" rtlCol="0" anchor="ctr"/>
          <a:lstStyle/>
          <a:p>
            <a:pPr indent="0" marL="0">
              <a:buNone/>
            </a:pPr>
            <a:r>
              <a:rPr lang="en-US" sz="1200" spc="200" kern="0" dirty="0">
                <a:solidFill>
                  <a:srgbClr val="7E8BA6"/>
                </a:solidFill>
                <a:latin typeface="Consolas" pitchFamily="34" charset="0"/>
                <a:ea typeface="Consolas" pitchFamily="34" charset="-122"/>
                <a:cs typeface="Consolas" pitchFamily="34" charset="-120"/>
              </a:rPr>
              <a:t>MOBIUS TENSORS · ARGUS</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algn="l" indent="0" marL="0">
              <a:buNone/>
              <a:defRPr lang="en-US" sz="1200" spc="300" kern="0" dirty="0">
                <a:solidFill>
                  <a:schemeClr val="accent2"/>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5" name="Text 1"/>
          <p:cNvSpPr/>
          <p:nvPr>
            <p:ph idx="103" type="title" hasCustomPrompt="1"/>
          </p:nvPr>
        </p:nvSpPr>
        <p:spPr>
          <a:xfrm>
            <a:off x="812800" y="1117600"/>
            <a:ext cx="10566400" cy="1651000"/>
          </a:xfrm>
          <a:prstGeom prst="rect">
            <a:avLst/>
          </a:prstGeom>
          <a:noFill/>
          <a:ln/>
        </p:spPr>
        <p:txBody>
          <a:bodyPr wrap="square" rtlCol="0"/>
          <a:lstStyle>
            <a:lvl1pPr algn="l" indent="0" marL="0">
              <a:lnSpc>
                <a:spcPct val="95000"/>
              </a:lnSpc>
              <a:buNone/>
              <a:defRPr lang="en-US" sz="36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glo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logo_icon.png">    </p:cNvPr>
          <p:cNvPicPr>
            <a:picLocks noChangeAspect="1"/>
          </p:cNvPicPr>
          <p:nvPr/>
        </p:nvPicPr>
        <p:blipFill>
          <a:blip r:embed="rId1"/>
          <a:stretch>
            <a:fillRect/>
          </a:stretch>
        </p:blipFill>
        <p:spPr>
          <a:xfrm>
            <a:off x="812800" y="6299200"/>
            <a:ext cx="330200" cy="203200"/>
          </a:xfrm>
          <a:prstGeom prst="rect">
            <a:avLst/>
          </a:prstGeom>
        </p:spPr>
      </p:pic>
      <p:sp>
        <p:nvSpPr>
          <p:cNvPr id="3" name="Text 0"/>
          <p:cNvSpPr/>
          <p:nvPr/>
        </p:nvSpPr>
        <p:spPr>
          <a:xfrm>
            <a:off x="1244600" y="6286500"/>
            <a:ext cx="5715000" cy="228600"/>
          </a:xfrm>
          <a:prstGeom prst="rect">
            <a:avLst/>
          </a:prstGeom>
          <a:noFill/>
          <a:ln/>
        </p:spPr>
        <p:txBody>
          <a:bodyPr wrap="square" lIns="0" tIns="0" rIns="0" bIns="0" rtlCol="0" anchor="ctr"/>
          <a:lstStyle/>
          <a:p>
            <a:pPr indent="0" marL="0">
              <a:buNone/>
            </a:pPr>
            <a:r>
              <a:rPr lang="en-US" sz="1200" spc="200" kern="0" dirty="0">
                <a:solidFill>
                  <a:srgbClr val="7E8BA6"/>
                </a:solidFill>
                <a:latin typeface="Consolas" pitchFamily="34" charset="0"/>
                <a:ea typeface="Consolas" pitchFamily="34" charset="-122"/>
                <a:cs typeface="Consolas" pitchFamily="34" charset="-120"/>
              </a:rPr>
              <a:t>MOBIUS TENSORS · ARGUS</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algn="l" indent="0" marL="0">
              <a:buNone/>
              <a:defRPr lang="en-US" sz="1200" spc="300" kern="0" dirty="0">
                <a:solidFill>
                  <a:schemeClr val="accent2"/>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5" name="Text 1"/>
          <p:cNvSpPr/>
          <p:nvPr>
            <p:ph idx="103" type="title" hasCustomPrompt="1"/>
          </p:nvPr>
        </p:nvSpPr>
        <p:spPr>
          <a:xfrm>
            <a:off x="812800" y="1117600"/>
            <a:ext cx="10566400" cy="1651000"/>
          </a:xfrm>
          <a:prstGeom prst="rect">
            <a:avLst/>
          </a:prstGeom>
          <a:noFill/>
          <a:ln/>
        </p:spPr>
        <p:txBody>
          <a:bodyPr wrap="square" rtlCol="0"/>
          <a:lstStyle>
            <a:lvl1pPr algn="l" indent="0" marL="0">
              <a:lnSpc>
                <a:spcPct val="95000"/>
              </a:lnSpc>
              <a:buNone/>
              <a:defRPr lang="en-US" sz="36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3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ue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logo_icon.png">    </p:cNvPr>
          <p:cNvPicPr>
            <a:picLocks noChangeAspect="1"/>
          </p:cNvPicPr>
          <p:nvPr/>
        </p:nvPicPr>
        <p:blipFill>
          <a:blip r:embed="rId1"/>
          <a:stretch>
            <a:fillRect/>
          </a:stretch>
        </p:blipFill>
        <p:spPr>
          <a:xfrm>
            <a:off x="812800" y="6299200"/>
            <a:ext cx="330200" cy="203200"/>
          </a:xfrm>
          <a:prstGeom prst="rect">
            <a:avLst/>
          </a:prstGeom>
        </p:spPr>
      </p:pic>
      <p:sp>
        <p:nvSpPr>
          <p:cNvPr id="3" name="Text 0"/>
          <p:cNvSpPr/>
          <p:nvPr/>
        </p:nvSpPr>
        <p:spPr>
          <a:xfrm>
            <a:off x="1244600" y="6286500"/>
            <a:ext cx="5715000" cy="228600"/>
          </a:xfrm>
          <a:prstGeom prst="rect">
            <a:avLst/>
          </a:prstGeom>
          <a:noFill/>
          <a:ln/>
        </p:spPr>
        <p:txBody>
          <a:bodyPr wrap="square" lIns="0" tIns="0" rIns="0" bIns="0" rtlCol="0" anchor="ctr"/>
          <a:lstStyle/>
          <a:p>
            <a:pPr indent="0" marL="0">
              <a:buNone/>
            </a:pPr>
            <a:r>
              <a:rPr lang="en-US" sz="1200" spc="200" kern="0" dirty="0">
                <a:solidFill>
                  <a:srgbClr val="D3DFFF"/>
                </a:solidFill>
                <a:latin typeface="Consolas" pitchFamily="34" charset="0"/>
                <a:ea typeface="Consolas" pitchFamily="34" charset="-122"/>
                <a:cs typeface="Consolas" pitchFamily="34" charset="-120"/>
              </a:rPr>
              <a:t>MOBIUS TENSORS · ARGUS</a:t>
            </a:r>
            <a:endParaRPr lang="en-US" sz="1200" dirty="0"/>
          </a:p>
        </p:txBody>
      </p:sp>
      <p:sp>
        <p:nvSpPr>
          <p:cNvPr id="4" name="Text 1"/>
          <p:cNvSpPr/>
          <p:nvPr>
            <p:ph idx="102" type="body" hasCustomPrompt="1"/>
          </p:nvPr>
        </p:nvSpPr>
        <p:spPr>
          <a:xfrm>
            <a:off x="812800" y="812800"/>
            <a:ext cx="10566400" cy="254000"/>
          </a:xfrm>
          <a:prstGeom prst="rect">
            <a:avLst/>
          </a:prstGeom>
          <a:noFill/>
          <a:ln/>
        </p:spPr>
        <p:txBody>
          <a:bodyPr wrap="square" rtlCol="0"/>
          <a:lstStyle>
            <a:lvl1pPr algn="l" indent="0" marL="0">
              <a:buNone/>
              <a:defRPr lang="en-US" sz="1200" spc="300" kern="0" dirty="0">
                <a:solidFill>
                  <a:srgbClr val="D3DFFF"/>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5" name="Text 1"/>
          <p:cNvSpPr/>
          <p:nvPr>
            <p:ph idx="103" type="title" hasCustomPrompt="1"/>
          </p:nvPr>
        </p:nvSpPr>
        <p:spPr>
          <a:xfrm>
            <a:off x="812800" y="1117600"/>
            <a:ext cx="10566400" cy="1651000"/>
          </a:xfrm>
          <a:prstGeom prst="rect">
            <a:avLst/>
          </a:prstGeom>
          <a:noFill/>
          <a:ln/>
        </p:spPr>
        <p:txBody>
          <a:bodyPr wrap="square" rtlCol="0"/>
          <a:lstStyle>
            <a:lvl1pPr algn="l" indent="0" marL="0">
              <a:lnSpc>
                <a:spcPct val="95000"/>
              </a:lnSpc>
              <a:buNone/>
              <a:defRPr lang="en-US" sz="80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80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D3DFFF"/>
                </a:solidFill>
                <a:latin typeface="Consolas"/>
                <a:ea typeface="Consolas"/>
                <a:cs typeface="Consolas"/>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12800" y="1905000"/>
            <a:ext cx="10566400" cy="254000"/>
          </a:xfrm>
          <a:prstGeom prst="rect">
            <a:avLst/>
          </a:prstGeom>
          <a:noFill/>
          <a:ln/>
        </p:spPr>
        <p:txBody>
          <a:bodyPr wrap="square" rtlCol="0"/>
          <a:lstStyle>
            <a:lvl1pPr algn="l" indent="0" marL="0">
              <a:buNone/>
              <a:defRPr lang="en-US" sz="1200" spc="300" kern="0" dirty="0">
                <a:solidFill>
                  <a:schemeClr val="accent2"/>
                </a:solidFill>
                <a:latin typeface="Consolas" pitchFamily="34" charset="0"/>
                <a:ea typeface="Consolas" pitchFamily="34" charset="-122"/>
                <a:cs typeface="Consolas" pitchFamily="34" charset="-120"/>
              </a:defRPr>
            </a:lvl1pPr>
          </a:lstStyle>
          <a:p>
            <a:pPr algn="l" indent="0" marL="0">
              <a:buNone/>
            </a:pPr>
            <a:endParaRPr lang="en-US" sz="1200" dirty="0"/>
          </a:p>
        </p:txBody>
      </p:sp>
      <p:sp>
        <p:nvSpPr>
          <p:cNvPr id="3" name="Text 0"/>
          <p:cNvSpPr/>
          <p:nvPr>
            <p:ph idx="101" type="title" hasCustomPrompt="1"/>
          </p:nvPr>
        </p:nvSpPr>
        <p:spPr>
          <a:xfrm>
            <a:off x="812800" y="2222500"/>
            <a:ext cx="10566400" cy="1714500"/>
          </a:xfrm>
          <a:prstGeom prst="rect">
            <a:avLst/>
          </a:prstGeom>
          <a:noFill/>
          <a:ln/>
        </p:spPr>
        <p:txBody>
          <a:bodyPr wrap="square" rtlCol="0"/>
          <a:lstStyle>
            <a:lvl1pPr algn="l" indent="0" marL="0">
              <a:lnSpc>
                <a:spcPct val="95000"/>
              </a:lnSpc>
              <a:buNone/>
              <a:defRPr lang="en-US" sz="6000" b="1" dirty="0">
                <a:solidFill>
                  <a:schemeClr val="bg1"/>
                </a:solidFill>
                <a:latin typeface="Arial" pitchFamily="34" charset="0"/>
                <a:ea typeface="Arial" pitchFamily="34" charset="-122"/>
                <a:cs typeface="Arial" pitchFamily="34" charset="-120"/>
              </a:defRPr>
            </a:lvl1pPr>
          </a:lstStyle>
          <a:p>
            <a:pPr algn="l" indent="0" marL="0">
              <a:lnSpc>
                <a:spcPct val="95000"/>
              </a:lnSpc>
              <a:buNone/>
            </a:pPr>
            <a:endParaRPr lang="en-US" sz="6000" dirty="0"/>
          </a:p>
        </p:txBody>
      </p:sp>
      <p:pic>
        <p:nvPicPr>
          <p:cNvPr id="4" name="Image 0" descr="logo_icon.png">    </p:cNvPr>
          <p:cNvPicPr>
            <a:picLocks noChangeAspect="1"/>
          </p:cNvPicPr>
          <p:nvPr/>
        </p:nvPicPr>
        <p:blipFill>
          <a:blip r:embed="rId1"/>
          <a:stretch>
            <a:fillRect/>
          </a:stretch>
        </p:blipFill>
        <p:spPr>
          <a:xfrm>
            <a:off x="8509000" y="952500"/>
            <a:ext cx="2870200" cy="1778000"/>
          </a:xfrm>
          <a:prstGeom prst="rect">
            <a:avLst/>
          </a:prstGeom>
        </p:spPr>
      </p:pic>
      <p:pic>
        <p:nvPicPr>
          <p:cNvPr id="5" name="Image 1" descr="logo_horizontal.png">    </p:cNvPr>
          <p:cNvPicPr>
            <a:picLocks noChangeAspect="1"/>
          </p:cNvPicPr>
          <p:nvPr/>
        </p:nvPicPr>
        <p:blipFill>
          <a:blip r:embed="rId2"/>
          <a:stretch>
            <a:fillRect/>
          </a:stretch>
        </p:blipFill>
        <p:spPr>
          <a:xfrm>
            <a:off x="812800" y="5905500"/>
            <a:ext cx="2463800" cy="571500"/>
          </a:xfrm>
          <a:prstGeom prst="rect">
            <a:avLst/>
          </a:prstGeom>
        </p:spPr>
      </p:pic>
      <p:sp>
        <p:nvSpPr>
          <p:cNvPr id="6" name="Text 0"/>
          <p:cNvSpPr/>
          <p:nvPr/>
        </p:nvSpPr>
        <p:spPr>
          <a:xfrm>
            <a:off x="6934200" y="6096000"/>
            <a:ext cx="4445000" cy="254000"/>
          </a:xfrm>
          <a:prstGeom prst="rect">
            <a:avLst/>
          </a:prstGeom>
          <a:noFill/>
          <a:ln/>
        </p:spPr>
        <p:txBody>
          <a:bodyPr wrap="square" lIns="0" tIns="0" rIns="0" bIns="0" rtlCol="0" anchor="ctr"/>
          <a:lstStyle/>
          <a:p>
            <a:pPr algn="r" indent="0" marL="0">
              <a:buNone/>
            </a:pPr>
            <a:r>
              <a:rPr lang="en-US" sz="1200" dirty="0">
                <a:solidFill>
                  <a:srgbClr val="7E8BA6"/>
                </a:solidFill>
              </a:rPr>
              <a:t>Endless vision. Infinite progress.</a:t>
            </a: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12800" y="19050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INTRODUCING ARGUS</a:t>
            </a:r>
            <a:endParaRPr lang="en-US" sz="1200" dirty="0"/>
          </a:p>
        </p:txBody>
      </p:sp>
      <p:sp>
        <p:nvSpPr>
          <p:cNvPr id="3" name="Text 0"/>
          <p:cNvSpPr/>
          <p:nvPr>
            <p:ph idx="101" type="title" hasCustomPrompt="1"/>
          </p:nvPr>
        </p:nvSpPr>
        <p:spPr>
          <a:xfrm>
            <a:off x="812800" y="2222500"/>
            <a:ext cx="10566400" cy="1714500"/>
          </a:xfrm>
          <a:prstGeom prst="rect">
            <a:avLst/>
          </a:prstGeom>
          <a:noFill/>
          <a:ln/>
        </p:spPr>
        <p:txBody>
          <a:bodyPr wrap="square" lIns="0" tIns="0" rIns="0" bIns="0" rtlCol="0" anchor="t"/>
          <a:lstStyle/>
          <a:p>
            <a:pPr algn="l" indent="0" marL="0">
              <a:lnSpc>
                <a:spcPct val="95000"/>
              </a:lnSpc>
              <a:buNone/>
            </a:pPr>
            <a:r>
              <a:rPr lang="en-US" sz="6000" b="1" dirty="0">
                <a:solidFill>
                  <a:schemeClr val="bg1"/>
                </a:solidFill>
                <a:latin typeface="Arial" pitchFamily="34" charset="0"/>
                <a:ea typeface="Arial" pitchFamily="34" charset="-122"/>
                <a:cs typeface="Arial" pitchFamily="34" charset="-120"/>
              </a:rPr>
              <a:t>What if you could</a:t>
            </a:r>
            <a:endParaRPr lang="en-US" sz="6000" dirty="0"/>
          </a:p>
          <a:p>
            <a:pPr algn="l" indent="0" marL="0">
              <a:lnSpc>
                <a:spcPct val="95000"/>
              </a:lnSpc>
              <a:buNone/>
            </a:pPr>
            <a:r>
              <a:rPr lang="en-US" sz="6000" b="1" dirty="0">
                <a:solidFill>
                  <a:schemeClr val="accent1"/>
                </a:solidFill>
                <a:latin typeface="Arial" pitchFamily="34" charset="0"/>
                <a:ea typeface="Arial" pitchFamily="34" charset="-122"/>
                <a:cs typeface="Arial" pitchFamily="34" charset="-120"/>
              </a:rPr>
              <a:t>ask</a:t>
            </a:r>
            <a:pPr algn="l" indent="0" marL="0">
              <a:lnSpc>
                <a:spcPct val="95000"/>
              </a:lnSpc>
              <a:buNone/>
            </a:pPr>
            <a:r>
              <a:rPr lang="en-US" sz="6000" b="1" dirty="0">
                <a:solidFill>
                  <a:schemeClr val="bg1"/>
                </a:solidFill>
                <a:latin typeface="Arial" pitchFamily="34" charset="0"/>
                <a:ea typeface="Arial" pitchFamily="34" charset="-122"/>
                <a:cs typeface="Arial" pitchFamily="34" charset="-120"/>
              </a:rPr>
              <a:t> your cameras?</a:t>
            </a:r>
            <a:endParaRPr lang="en-US" sz="6000" dirty="0"/>
          </a:p>
        </p:txBody>
      </p:sp>
      <p:sp>
        <p:nvSpPr>
          <p:cNvPr id="5" name="Text 2"/>
          <p:cNvSpPr txBox="1"/>
          <p:nvPr/>
        </p:nvSpPr>
        <p:spPr>
          <a:xfrm>
            <a:off x="812800" y="4127500"/>
            <a:ext cx="7493000" cy="762000"/>
          </a:xfrm>
          <a:prstGeom prst="rect">
            <a:avLst/>
          </a:prstGeom>
          <a:noFill/>
          <a:ln/>
        </p:spPr>
        <p:txBody>
          <a:bodyPr wrap="square" lIns="0" tIns="0" rIns="0" bIns="0" rtlCol="0" anchor="t"/>
          <a:lstStyle/>
          <a:p>
            <a:pPr indent="0" marL="0">
              <a:buNone/>
            </a:pPr>
            <a:r>
              <a:rPr lang="en-US" sz="1800" dirty="0">
                <a:solidFill>
                  <a:schemeClr val="bg2"/>
                </a:solidFill>
              </a:rPr>
              <a:t>Argus keeps a searchable memory of what your cameras see, so you can ask about it later in plain language and get answers that point to the frames.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THE PROBLEM</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Cameras record everything. Finding one moment still means scrubbing through hours of video.</a:t>
            </a:r>
            <a:endParaRPr lang="en-US" sz="3600" dirty="0"/>
          </a:p>
        </p:txBody>
      </p:sp>
      <p:sp>
        <p:nvSpPr>
          <p:cNvPr id="5" name="problem-card-01"/>
          <p:cNvSpPr/>
          <p:nvPr/>
        </p:nvSpPr>
        <p:spPr>
          <a:xfrm>
            <a:off x="812800" y="3009900"/>
            <a:ext cx="3384550" cy="2413000"/>
          </a:xfrm>
          <a:prstGeom prst="roundRect">
            <a:avLst>
              <a:gd name="adj" fmla="val 5263"/>
            </a:avLst>
          </a:prstGeom>
          <a:solidFill>
            <a:schemeClr val="accent4"/>
          </a:solidFill>
          <a:ln w="9525">
            <a:solidFill>
              <a:schemeClr val="accent5"/>
            </a:solidFill>
            <a:prstDash val="solid"/>
          </a:ln>
        </p:spPr>
      </p:sp>
      <p:sp>
        <p:nvSpPr>
          <p:cNvPr id="6" name="Text 3"/>
          <p:cNvSpPr txBox="1"/>
          <p:nvPr/>
        </p:nvSpPr>
        <p:spPr>
          <a:xfrm>
            <a:off x="1092200" y="32893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01</a:t>
            </a:r>
            <a:endParaRPr lang="en-US" sz="1200" dirty="0"/>
          </a:p>
        </p:txBody>
      </p:sp>
      <p:sp>
        <p:nvSpPr>
          <p:cNvPr id="7" name="Text 4"/>
          <p:cNvSpPr txBox="1"/>
          <p:nvPr/>
        </p:nvSpPr>
        <p:spPr>
          <a:xfrm>
            <a:off x="1092200" y="35941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Recorded, rarely watched</a:t>
            </a:r>
            <a:endParaRPr lang="en-US" sz="2000" dirty="0"/>
          </a:p>
        </p:txBody>
      </p:sp>
      <p:sp>
        <p:nvSpPr>
          <p:cNvPr id="8" name="Text 5"/>
          <p:cNvSpPr txBox="1"/>
          <p:nvPr/>
        </p:nvSpPr>
        <p:spPr>
          <a:xfrm>
            <a:off x="1092200" y="4381500"/>
            <a:ext cx="2825750" cy="1143000"/>
          </a:xfrm>
          <a:prstGeom prst="rect">
            <a:avLst/>
          </a:prstGeom>
          <a:noFill/>
          <a:ln/>
        </p:spPr>
        <p:txBody>
          <a:bodyPr wrap="square" lIns="0" tIns="0" rIns="0" bIns="0" rtlCol="0" anchor="t"/>
          <a:lstStyle/>
          <a:p>
            <a:pPr indent="0" marL="0">
              <a:buNone/>
            </a:pPr>
            <a:r>
              <a:rPr lang="en-US" sz="1400" dirty="0">
                <a:solidFill>
                  <a:schemeClr val="bg2"/>
                </a:solidFill>
              </a:rPr>
              <a:t>Most footage is only opened after something has gone wrong, and then someone has to find it.</a:t>
            </a:r>
            <a:endParaRPr lang="en-US" sz="1400" dirty="0"/>
          </a:p>
        </p:txBody>
      </p:sp>
      <p:sp>
        <p:nvSpPr>
          <p:cNvPr id="9" name="problem-card-02"/>
          <p:cNvSpPr/>
          <p:nvPr/>
        </p:nvSpPr>
        <p:spPr>
          <a:xfrm>
            <a:off x="4400550" y="3009900"/>
            <a:ext cx="3384550" cy="2413000"/>
          </a:xfrm>
          <a:prstGeom prst="roundRect">
            <a:avLst>
              <a:gd name="adj" fmla="val 5263"/>
            </a:avLst>
          </a:prstGeom>
          <a:solidFill>
            <a:schemeClr val="accent4"/>
          </a:solidFill>
          <a:ln w="9525">
            <a:solidFill>
              <a:schemeClr val="accent5"/>
            </a:solidFill>
            <a:prstDash val="solid"/>
          </a:ln>
        </p:spPr>
      </p:sp>
      <p:sp>
        <p:nvSpPr>
          <p:cNvPr id="10" name="Text 7"/>
          <p:cNvSpPr txBox="1"/>
          <p:nvPr/>
        </p:nvSpPr>
        <p:spPr>
          <a:xfrm>
            <a:off x="4679950" y="32893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02</a:t>
            </a:r>
            <a:endParaRPr lang="en-US" sz="1200" dirty="0"/>
          </a:p>
        </p:txBody>
      </p:sp>
      <p:sp>
        <p:nvSpPr>
          <p:cNvPr id="11" name="Text 8"/>
          <p:cNvSpPr txBox="1"/>
          <p:nvPr/>
        </p:nvSpPr>
        <p:spPr>
          <a:xfrm>
            <a:off x="4679950" y="35941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Searched by clock, not by content</a:t>
            </a:r>
            <a:endParaRPr lang="en-US" sz="2000" dirty="0"/>
          </a:p>
        </p:txBody>
      </p:sp>
      <p:sp>
        <p:nvSpPr>
          <p:cNvPr id="12" name="Text 9"/>
          <p:cNvSpPr txBox="1"/>
          <p:nvPr/>
        </p:nvSpPr>
        <p:spPr>
          <a:xfrm>
            <a:off x="4679950" y="4381500"/>
            <a:ext cx="2825750" cy="1143000"/>
          </a:xfrm>
          <a:prstGeom prst="rect">
            <a:avLst/>
          </a:prstGeom>
          <a:noFill/>
          <a:ln/>
        </p:spPr>
        <p:txBody>
          <a:bodyPr wrap="square" lIns="0" tIns="0" rIns="0" bIns="0" rtlCol="0" anchor="t"/>
          <a:lstStyle/>
          <a:p>
            <a:pPr indent="0" marL="0">
              <a:buNone/>
            </a:pPr>
            <a:r>
              <a:rPr lang="en-US" sz="1400" dirty="0">
                <a:solidFill>
                  <a:schemeClr val="bg2"/>
                </a:solidFill>
              </a:rPr>
              <a:t>A recorder lets you jump to a time. It can't tell you when the white van showed up.</a:t>
            </a:r>
            <a:endParaRPr lang="en-US" sz="1400" dirty="0"/>
          </a:p>
        </p:txBody>
      </p:sp>
      <p:sp>
        <p:nvSpPr>
          <p:cNvPr id="13" name="problem-card-03"/>
          <p:cNvSpPr/>
          <p:nvPr/>
        </p:nvSpPr>
        <p:spPr>
          <a:xfrm>
            <a:off x="7988300" y="3009900"/>
            <a:ext cx="3384550" cy="2413000"/>
          </a:xfrm>
          <a:prstGeom prst="roundRect">
            <a:avLst>
              <a:gd name="adj" fmla="val 5263"/>
            </a:avLst>
          </a:prstGeom>
          <a:solidFill>
            <a:schemeClr val="accent4"/>
          </a:solidFill>
          <a:ln w="9525">
            <a:solidFill>
              <a:schemeClr val="accent5"/>
            </a:solidFill>
            <a:prstDash val="solid"/>
          </a:ln>
        </p:spPr>
      </p:sp>
      <p:sp>
        <p:nvSpPr>
          <p:cNvPr id="14" name="Text 11"/>
          <p:cNvSpPr txBox="1"/>
          <p:nvPr/>
        </p:nvSpPr>
        <p:spPr>
          <a:xfrm>
            <a:off x="8267700" y="32893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03</a:t>
            </a:r>
            <a:endParaRPr lang="en-US" sz="1200" dirty="0"/>
          </a:p>
        </p:txBody>
      </p:sp>
      <p:sp>
        <p:nvSpPr>
          <p:cNvPr id="15" name="Text 12"/>
          <p:cNvSpPr txBox="1"/>
          <p:nvPr/>
        </p:nvSpPr>
        <p:spPr>
          <a:xfrm>
            <a:off x="8267700" y="35941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Alerts only cover what you planned for</a:t>
            </a:r>
            <a:endParaRPr lang="en-US" sz="2000" dirty="0"/>
          </a:p>
        </p:txBody>
      </p:sp>
      <p:sp>
        <p:nvSpPr>
          <p:cNvPr id="16" name="Text 13"/>
          <p:cNvSpPr txBox="1"/>
          <p:nvPr/>
        </p:nvSpPr>
        <p:spPr>
          <a:xfrm>
            <a:off x="8267700" y="4381500"/>
            <a:ext cx="2825750" cy="1143000"/>
          </a:xfrm>
          <a:prstGeom prst="rect">
            <a:avLst/>
          </a:prstGeom>
          <a:noFill/>
          <a:ln/>
        </p:spPr>
        <p:txBody>
          <a:bodyPr wrap="square" lIns="0" tIns="0" rIns="0" bIns="0" rtlCol="0" anchor="t"/>
          <a:lstStyle/>
          <a:p>
            <a:pPr indent="0" marL="0">
              <a:buNone/>
            </a:pPr>
            <a:r>
              <a:rPr lang="en-US" sz="1400" dirty="0">
                <a:solidFill>
                  <a:schemeClr val="bg2"/>
                </a:solidFill>
              </a:rPr>
              <a:t>Alerts react to the rules you set in advance. The question you have today was not one of them.</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rgbClr val="D3DFFF"/>
                </a:solidFill>
                <a:latin typeface="Consolas" pitchFamily="34" charset="0"/>
                <a:ea typeface="Consolas" pitchFamily="34" charset="-122"/>
                <a:cs typeface="Consolas" pitchFamily="34" charset="-120"/>
              </a:rPr>
              <a:t>// MEET ARGUS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8000" b="1" dirty="0">
                <a:solidFill>
                  <a:schemeClr val="bg1"/>
                </a:solidFill>
                <a:latin typeface="Arial" pitchFamily="34" charset="0"/>
                <a:ea typeface="Arial" pitchFamily="34" charset="-122"/>
                <a:cs typeface="Arial" pitchFamily="34" charset="-120"/>
              </a:rPr>
              <a:t>Ἄργος</a:t>
            </a:r>
            <a:endParaRPr lang="en-US" sz="8000" dirty="0"/>
          </a:p>
        </p:txBody>
      </p:sp>
      <p:sp>
        <p:nvSpPr>
          <p:cNvPr id="5" name="Text 2"/>
          <p:cNvSpPr txBox="1"/>
          <p:nvPr/>
        </p:nvSpPr>
        <p:spPr>
          <a:xfrm>
            <a:off x="812800" y="2984500"/>
            <a:ext cx="8890000" cy="889000"/>
          </a:xfrm>
          <a:prstGeom prst="rect">
            <a:avLst/>
          </a:prstGeom>
          <a:noFill/>
          <a:ln/>
        </p:spPr>
        <p:txBody>
          <a:bodyPr wrap="square" lIns="0" tIns="0" rIns="0" bIns="0" rtlCol="0" anchor="t"/>
          <a:lstStyle/>
          <a:p>
            <a:pPr indent="0" marL="0">
              <a:buNone/>
            </a:pPr>
            <a:r>
              <a:rPr lang="en-US" sz="2200" dirty="0">
                <a:solidFill>
                  <a:schemeClr val="bg1"/>
                </a:solidFill>
              </a:rPr>
              <a:t>Greek myth’s </a:t>
            </a:r>
            <a:pPr indent="0" marL="0">
              <a:buNone/>
            </a:pPr>
            <a:r>
              <a:rPr lang="en-US" sz="2200" i="1" dirty="0">
                <a:solidFill>
                  <a:schemeClr val="bg1"/>
                </a:solidFill>
              </a:rPr>
              <a:t>hundred-eyed watchman</a:t>
            </a:r>
            <a:pPr indent="0" marL="0">
              <a:buNone/>
            </a:pPr>
            <a:r>
              <a:rPr lang="en-US" sz="2200" dirty="0">
                <a:solidFill>
                  <a:schemeClr val="bg1"/>
                </a:solidFill>
              </a:rPr>
              <a:t>, Argus Panoptes: the </a:t>
            </a:r>
            <a:pPr indent="0" marL="0">
              <a:buNone/>
            </a:pPr>
            <a:r>
              <a:rPr lang="en-US" sz="2200" i="1" dirty="0">
                <a:solidFill>
                  <a:schemeClr val="bg1"/>
                </a:solidFill>
              </a:rPr>
              <a:t>all-seeing</a:t>
            </a:r>
            <a:pPr indent="0" marL="0">
              <a:buNone/>
            </a:pPr>
            <a:r>
              <a:rPr lang="en-US" sz="2200" dirty="0">
                <a:solidFill>
                  <a:schemeClr val="bg1"/>
                </a:solidFill>
              </a:rPr>
              <a:t>.</a:t>
            </a:r>
            <a:endParaRPr lang="en-US" sz="2200" dirty="0"/>
          </a:p>
        </p:txBody>
      </p:sp>
      <p:sp>
        <p:nvSpPr>
          <p:cNvPr id="6" name="Text 3"/>
          <p:cNvSpPr txBox="1"/>
          <p:nvPr/>
        </p:nvSpPr>
        <p:spPr>
          <a:xfrm>
            <a:off x="812800" y="4064000"/>
            <a:ext cx="8255000" cy="1016000"/>
          </a:xfrm>
          <a:prstGeom prst="rect">
            <a:avLst/>
          </a:prstGeom>
          <a:noFill/>
          <a:ln/>
        </p:spPr>
        <p:txBody>
          <a:bodyPr wrap="square" lIns="0" tIns="0" rIns="0" bIns="0" rtlCol="0" anchor="t"/>
          <a:lstStyle/>
          <a:p>
            <a:pPr indent="0" marL="0">
              <a:buNone/>
            </a:pPr>
            <a:r>
              <a:rPr lang="en-US" sz="1600" dirty="0">
                <a:solidFill>
                  <a:srgbClr val="D3DFFF"/>
                </a:solidFill>
              </a:rPr>
              <a:t>Argus turns what your cameras see into a memory you can question: every tracked object, plus regular snapshots of each scene, searchable for as long as you choose to keep them.</a:t>
            </a:r>
            <a:endParaRPr lang="en-US" sz="1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D3DFFF"/>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ALERTS AND MEMORY</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Alerts watch for one thing. Argus remembers all of it.</a:t>
            </a:r>
            <a:endParaRPr lang="en-US" sz="3600" dirty="0"/>
          </a:p>
        </p:txBody>
      </p:sp>
      <p:sp>
        <p:nvSpPr>
          <p:cNvPr id="5" name="alerts-card"/>
          <p:cNvSpPr/>
          <p:nvPr/>
        </p:nvSpPr>
        <p:spPr>
          <a:xfrm>
            <a:off x="812800" y="2501900"/>
            <a:ext cx="5181600" cy="2667000"/>
          </a:xfrm>
          <a:prstGeom prst="roundRect">
            <a:avLst>
              <a:gd name="adj" fmla="val 4762"/>
            </a:avLst>
          </a:prstGeom>
          <a:solidFill>
            <a:schemeClr val="accent4"/>
          </a:solidFill>
          <a:ln w="9525">
            <a:solidFill>
              <a:schemeClr val="accent5"/>
            </a:solidFill>
            <a:prstDash val="solid"/>
          </a:ln>
        </p:spPr>
      </p:sp>
      <p:sp>
        <p:nvSpPr>
          <p:cNvPr id="6" name="Text 3"/>
          <p:cNvSpPr txBox="1"/>
          <p:nvPr/>
        </p:nvSpPr>
        <p:spPr>
          <a:xfrm>
            <a:off x="1117600" y="2806700"/>
            <a:ext cx="4572000" cy="2159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ALERTS</a:t>
            </a:r>
            <a:endParaRPr lang="en-US" sz="1200" dirty="0"/>
          </a:p>
        </p:txBody>
      </p:sp>
      <p:sp>
        <p:nvSpPr>
          <p:cNvPr id="7" name="Text 4"/>
          <p:cNvSpPr txBox="1"/>
          <p:nvPr/>
        </p:nvSpPr>
        <p:spPr>
          <a:xfrm>
            <a:off x="1117600" y="3149600"/>
            <a:ext cx="4572000" cy="381000"/>
          </a:xfrm>
          <a:prstGeom prst="rect">
            <a:avLst/>
          </a:prstGeom>
          <a:noFill/>
          <a:ln/>
        </p:spPr>
        <p:txBody>
          <a:bodyPr wrap="square" lIns="0" tIns="0" rIns="0" bIns="0" rtlCol="0" anchor="t"/>
          <a:lstStyle/>
          <a:p>
            <a:pPr indent="0" marL="0">
              <a:buNone/>
            </a:pPr>
            <a:r>
              <a:rPr lang="en-US" sz="2200" b="1" dirty="0">
                <a:solidFill>
                  <a:schemeClr val="bg1"/>
                </a:solidFill>
              </a:rPr>
              <a:t>Is it happening right now?</a:t>
            </a:r>
            <a:endParaRPr lang="en-US" sz="2200" dirty="0"/>
          </a:p>
        </p:txBody>
      </p:sp>
      <p:sp>
        <p:nvSpPr>
          <p:cNvPr id="8" name="Text 5"/>
          <p:cNvSpPr txBox="1"/>
          <p:nvPr/>
        </p:nvSpPr>
        <p:spPr>
          <a:xfrm>
            <a:off x="1117600" y="3683000"/>
            <a:ext cx="4572000" cy="133350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chemeClr val="bg2"/>
                </a:solidFill>
              </a:rPr>
              <a:t>Watch for a set event, like a zone being entered</a:t>
            </a:r>
            <a:endParaRPr lang="en-US" sz="1500" dirty="0"/>
          </a:p>
          <a:p>
            <a:pPr marL="228600" indent="-228600">
              <a:spcAft>
                <a:spcPts val="600"/>
              </a:spcAft>
              <a:buSzPct val="100000"/>
              <a:buChar char="•"/>
            </a:pPr>
            <a:r>
              <a:rPr lang="en-US" sz="1500" dirty="0">
                <a:solidFill>
                  <a:schemeClr val="bg2"/>
                </a:solidFill>
              </a:rPr>
              <a:t>React in seconds, by webhook or email</a:t>
            </a:r>
            <a:endParaRPr lang="en-US" sz="1500" dirty="0"/>
          </a:p>
          <a:p>
            <a:pPr marL="228600" indent="-228600">
              <a:spcAft>
                <a:spcPts val="600"/>
              </a:spcAft>
              <a:buSzPct val="100000"/>
              <a:buChar char="•"/>
            </a:pPr>
            <a:r>
              <a:rPr lang="en-US" sz="1500" dirty="0">
                <a:solidFill>
                  <a:schemeClr val="bg2"/>
                </a:solidFill>
              </a:rPr>
              <a:t>Rules decided in advance</a:t>
            </a:r>
            <a:endParaRPr lang="en-US" sz="1500" dirty="0"/>
          </a:p>
        </p:txBody>
      </p:sp>
      <p:sp>
        <p:nvSpPr>
          <p:cNvPr id="9" name="memory-card"/>
          <p:cNvSpPr/>
          <p:nvPr/>
        </p:nvSpPr>
        <p:spPr>
          <a:xfrm>
            <a:off x="6197600" y="2501900"/>
            <a:ext cx="5181600" cy="2667000"/>
          </a:xfrm>
          <a:prstGeom prst="roundRect">
            <a:avLst>
              <a:gd name="adj" fmla="val 4762"/>
            </a:avLst>
          </a:prstGeom>
          <a:solidFill>
            <a:schemeClr val="accent3"/>
          </a:solidFill>
          <a:ln w="19050">
            <a:solidFill>
              <a:schemeClr val="accent1"/>
            </a:solidFill>
            <a:prstDash val="solid"/>
          </a:ln>
        </p:spPr>
      </p:sp>
      <p:sp>
        <p:nvSpPr>
          <p:cNvPr id="10" name="Text 7"/>
          <p:cNvSpPr txBox="1"/>
          <p:nvPr/>
        </p:nvSpPr>
        <p:spPr>
          <a:xfrm>
            <a:off x="6502400" y="2806700"/>
            <a:ext cx="457200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MEMORY</a:t>
            </a:r>
            <a:endParaRPr lang="en-US" sz="1200" dirty="0"/>
          </a:p>
        </p:txBody>
      </p:sp>
      <p:sp>
        <p:nvSpPr>
          <p:cNvPr id="11" name="Text 8"/>
          <p:cNvSpPr txBox="1"/>
          <p:nvPr/>
        </p:nvSpPr>
        <p:spPr>
          <a:xfrm>
            <a:off x="6502400" y="3149600"/>
            <a:ext cx="4572000" cy="381000"/>
          </a:xfrm>
          <a:prstGeom prst="rect">
            <a:avLst/>
          </a:prstGeom>
          <a:noFill/>
          <a:ln/>
        </p:spPr>
        <p:txBody>
          <a:bodyPr wrap="square" lIns="0" tIns="0" rIns="0" bIns="0" rtlCol="0" anchor="t"/>
          <a:lstStyle/>
          <a:p>
            <a:pPr indent="0" marL="0">
              <a:buNone/>
            </a:pPr>
            <a:r>
              <a:rPr lang="en-US" sz="2200" b="1" dirty="0">
                <a:solidFill>
                  <a:schemeClr val="bg1"/>
                </a:solidFill>
              </a:rPr>
              <a:t>What happened?</a:t>
            </a:r>
            <a:endParaRPr lang="en-US" sz="2200" dirty="0"/>
          </a:p>
        </p:txBody>
      </p:sp>
      <p:sp>
        <p:nvSpPr>
          <p:cNvPr id="12" name="Text 9"/>
          <p:cNvSpPr txBox="1"/>
          <p:nvPr/>
        </p:nvSpPr>
        <p:spPr>
          <a:xfrm>
            <a:off x="6502400" y="3683000"/>
            <a:ext cx="4572000" cy="133350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C7D3EA"/>
                </a:solidFill>
              </a:rPr>
              <a:t>Store every object and scene</a:t>
            </a:r>
            <a:endParaRPr lang="en-US" sz="1500" dirty="0"/>
          </a:p>
          <a:p>
            <a:pPr marL="228600" indent="-228600">
              <a:spcAft>
                <a:spcPts val="600"/>
              </a:spcAft>
              <a:buSzPct val="100000"/>
              <a:buChar char="•"/>
            </a:pPr>
            <a:r>
              <a:rPr lang="en-US" sz="1500" dirty="0">
                <a:solidFill>
                  <a:srgbClr val="C7D3EA"/>
                </a:solidFill>
              </a:rPr>
              <a:t>Ask any question, any time later</a:t>
            </a:r>
            <a:endParaRPr lang="en-US" sz="1500" dirty="0"/>
          </a:p>
          <a:p>
            <a:pPr marL="228600" indent="-228600">
              <a:spcAft>
                <a:spcPts val="600"/>
              </a:spcAft>
              <a:buSzPct val="100000"/>
              <a:buChar char="•"/>
            </a:pPr>
            <a:r>
              <a:rPr lang="en-US" sz="1500" dirty="0">
                <a:solidFill>
                  <a:srgbClr val="C7D3EA"/>
                </a:solidFill>
              </a:rPr>
              <a:t>No rules needed up front</a:t>
            </a:r>
            <a:endParaRPr lang="en-US" sz="1500" dirty="0"/>
          </a:p>
        </p:txBody>
      </p:sp>
      <p:sp>
        <p:nvSpPr>
          <p:cNvPr id="13" name="Text 10"/>
          <p:cNvSpPr txBox="1"/>
          <p:nvPr/>
        </p:nvSpPr>
        <p:spPr>
          <a:xfrm>
            <a:off x="812800" y="5397500"/>
            <a:ext cx="10566400" cy="317500"/>
          </a:xfrm>
          <a:prstGeom prst="rect">
            <a:avLst/>
          </a:prstGeom>
          <a:noFill/>
          <a:ln/>
        </p:spPr>
        <p:txBody>
          <a:bodyPr wrap="square" lIns="0" tIns="0" rIns="0" bIns="0" rtlCol="0" anchor="t"/>
          <a:lstStyle/>
          <a:p>
            <a:pPr indent="0" marL="0">
              <a:buNone/>
            </a:pPr>
            <a:r>
              <a:rPr lang="en-US" sz="1400" dirty="0">
                <a:solidFill>
                  <a:schemeClr val="bg2"/>
                </a:solidFill>
              </a:rPr>
              <a:t>Argus does both, on the same cameras: alerts for the rules you set, memory for everything else.</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WHAT IT FEELS LIKE</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Ask in plain language.</a:t>
            </a:r>
            <a:endParaRPr lang="en-US" sz="3600" dirty="0"/>
          </a:p>
        </p:txBody>
      </p:sp>
      <p:sp>
        <p:nvSpPr>
          <p:cNvPr id="5" name="Text 2"/>
          <p:cNvSpPr txBox="1"/>
          <p:nvPr/>
        </p:nvSpPr>
        <p:spPr>
          <a:xfrm>
            <a:off x="812800" y="2095500"/>
            <a:ext cx="3556000" cy="304800"/>
          </a:xfrm>
          <a:prstGeom prst="rect">
            <a:avLst/>
          </a:prstGeom>
          <a:noFill/>
          <a:ln/>
        </p:spPr>
        <p:txBody>
          <a:bodyPr wrap="square" lIns="0" tIns="0" rIns="0" bIns="0" rtlCol="0" anchor="t"/>
          <a:lstStyle/>
          <a:p>
            <a:pPr indent="0" marL="0">
              <a:buNone/>
            </a:pPr>
            <a:r>
              <a:rPr lang="en-US" sz="1700" b="1" dirty="0">
                <a:solidFill>
                  <a:schemeClr val="bg1"/>
                </a:solidFill>
              </a:rPr>
              <a:t>What, when, which camera</a:t>
            </a:r>
            <a:endParaRPr lang="en-US" sz="1700" dirty="0"/>
          </a:p>
        </p:txBody>
      </p:sp>
      <p:sp>
        <p:nvSpPr>
          <p:cNvPr id="6" name="Text 3"/>
          <p:cNvSpPr txBox="1"/>
          <p:nvPr/>
        </p:nvSpPr>
        <p:spPr>
          <a:xfrm>
            <a:off x="812800" y="2438400"/>
            <a:ext cx="3556000" cy="635000"/>
          </a:xfrm>
          <a:prstGeom prst="rect">
            <a:avLst/>
          </a:prstGeom>
          <a:noFill/>
          <a:ln/>
        </p:spPr>
        <p:txBody>
          <a:bodyPr wrap="square" lIns="0" tIns="0" rIns="0" bIns="0" rtlCol="0" anchor="t"/>
          <a:lstStyle/>
          <a:p>
            <a:pPr indent="0" marL="0">
              <a:buNone/>
            </a:pPr>
            <a:r>
              <a:rPr lang="en-US" sz="1300" dirty="0">
                <a:solidFill>
                  <a:schemeClr val="bg2"/>
                </a:solidFill>
              </a:rPr>
              <a:t>Your question is split into what to look for, the time range and the camera.</a:t>
            </a:r>
            <a:endParaRPr lang="en-US" sz="1300" dirty="0"/>
          </a:p>
        </p:txBody>
      </p:sp>
      <p:sp>
        <p:nvSpPr>
          <p:cNvPr id="7" name="Text 4"/>
          <p:cNvSpPr txBox="1"/>
          <p:nvPr/>
        </p:nvSpPr>
        <p:spPr>
          <a:xfrm>
            <a:off x="812800" y="3206750"/>
            <a:ext cx="3556000" cy="304800"/>
          </a:xfrm>
          <a:prstGeom prst="rect">
            <a:avLst/>
          </a:prstGeom>
          <a:noFill/>
          <a:ln/>
        </p:spPr>
        <p:txBody>
          <a:bodyPr wrap="square" lIns="0" tIns="0" rIns="0" bIns="0" rtlCol="0" anchor="t"/>
          <a:lstStyle/>
          <a:p>
            <a:pPr indent="0" marL="0">
              <a:buNone/>
            </a:pPr>
            <a:r>
              <a:rPr lang="en-US" sz="1700" b="1" dirty="0">
                <a:solidFill>
                  <a:schemeClr val="bg1"/>
                </a:solidFill>
              </a:rPr>
              <a:t>An answer, not a playlist</a:t>
            </a:r>
            <a:endParaRPr lang="en-US" sz="1700" dirty="0"/>
          </a:p>
        </p:txBody>
      </p:sp>
      <p:sp>
        <p:nvSpPr>
          <p:cNvPr id="8" name="Text 5"/>
          <p:cNvSpPr txBox="1"/>
          <p:nvPr/>
        </p:nvSpPr>
        <p:spPr>
          <a:xfrm>
            <a:off x="812800" y="3549650"/>
            <a:ext cx="3556000" cy="635000"/>
          </a:xfrm>
          <a:prstGeom prst="rect">
            <a:avLst/>
          </a:prstGeom>
          <a:noFill/>
          <a:ln/>
        </p:spPr>
        <p:txBody>
          <a:bodyPr wrap="square" lIns="0" tIns="0" rIns="0" bIns="0" rtlCol="0" anchor="t"/>
          <a:lstStyle/>
          <a:p>
            <a:pPr indent="0" marL="0">
              <a:buNone/>
            </a:pPr>
            <a:r>
              <a:rPr lang="en-US" sz="1300" dirty="0">
                <a:solidFill>
                  <a:schemeClr val="bg2"/>
                </a:solidFill>
              </a:rPr>
              <a:t>Argus replies in sentences: what it found, when, and where.</a:t>
            </a:r>
            <a:endParaRPr lang="en-US" sz="1300" dirty="0"/>
          </a:p>
        </p:txBody>
      </p:sp>
      <p:sp>
        <p:nvSpPr>
          <p:cNvPr id="9" name="Text 6"/>
          <p:cNvSpPr txBox="1"/>
          <p:nvPr/>
        </p:nvSpPr>
        <p:spPr>
          <a:xfrm>
            <a:off x="812800" y="4318000"/>
            <a:ext cx="3556000" cy="304800"/>
          </a:xfrm>
          <a:prstGeom prst="rect">
            <a:avLst/>
          </a:prstGeom>
          <a:noFill/>
          <a:ln/>
        </p:spPr>
        <p:txBody>
          <a:bodyPr wrap="square" lIns="0" tIns="0" rIns="0" bIns="0" rtlCol="0" anchor="t"/>
          <a:lstStyle/>
          <a:p>
            <a:pPr indent="0" marL="0">
              <a:buNone/>
            </a:pPr>
            <a:r>
              <a:rPr lang="en-US" sz="1700" b="1" dirty="0">
                <a:solidFill>
                  <a:schemeClr val="bg1"/>
                </a:solidFill>
              </a:rPr>
              <a:t>Evidence attached</a:t>
            </a:r>
            <a:endParaRPr lang="en-US" sz="1700" dirty="0"/>
          </a:p>
        </p:txBody>
      </p:sp>
      <p:sp>
        <p:nvSpPr>
          <p:cNvPr id="10" name="Text 7"/>
          <p:cNvSpPr txBox="1"/>
          <p:nvPr/>
        </p:nvSpPr>
        <p:spPr>
          <a:xfrm>
            <a:off x="812800" y="4660900"/>
            <a:ext cx="3556000" cy="635000"/>
          </a:xfrm>
          <a:prstGeom prst="rect">
            <a:avLst/>
          </a:prstGeom>
          <a:noFill/>
          <a:ln/>
        </p:spPr>
        <p:txBody>
          <a:bodyPr wrap="square" lIns="0" tIns="0" rIns="0" bIns="0" rtlCol="0" anchor="t"/>
          <a:lstStyle/>
          <a:p>
            <a:pPr indent="0" marL="0">
              <a:buNone/>
            </a:pPr>
            <a:r>
              <a:rPr lang="en-US" sz="1300" dirty="0">
                <a:solidFill>
                  <a:schemeClr val="bg2"/>
                </a:solidFill>
              </a:rPr>
              <a:t>Every answer lists the frames it checked, so you can see for yourself.</a:t>
            </a:r>
            <a:endParaRPr lang="en-US" sz="1300" dirty="0"/>
          </a:p>
        </p:txBody>
      </p:sp>
      <p:sp>
        <p:nvSpPr>
          <p:cNvPr id="11" name="question-bubble"/>
          <p:cNvSpPr/>
          <p:nvPr/>
        </p:nvSpPr>
        <p:spPr>
          <a:xfrm>
            <a:off x="6172200" y="2095500"/>
            <a:ext cx="5207000" cy="825500"/>
          </a:xfrm>
          <a:prstGeom prst="roundRect">
            <a:avLst>
              <a:gd name="adj" fmla="val 21538"/>
            </a:avLst>
          </a:prstGeom>
          <a:solidFill>
            <a:schemeClr val="accent6"/>
          </a:solidFill>
          <a:ln w="12700">
            <a:solidFill>
              <a:schemeClr val="accent6"/>
            </a:solidFill>
            <a:prstDash val="solid"/>
          </a:ln>
        </p:spPr>
      </p:sp>
      <p:sp>
        <p:nvSpPr>
          <p:cNvPr id="12" name="Text 9"/>
          <p:cNvSpPr txBox="1"/>
          <p:nvPr/>
        </p:nvSpPr>
        <p:spPr>
          <a:xfrm>
            <a:off x="6400800" y="2273300"/>
            <a:ext cx="4762500" cy="571500"/>
          </a:xfrm>
          <a:prstGeom prst="rect">
            <a:avLst/>
          </a:prstGeom>
          <a:noFill/>
          <a:ln/>
        </p:spPr>
        <p:txBody>
          <a:bodyPr wrap="square" lIns="0" tIns="0" rIns="0" bIns="0" rtlCol="0" anchor="ctr"/>
          <a:lstStyle/>
          <a:p>
            <a:pPr indent="0" marL="0">
              <a:buNone/>
            </a:pPr>
            <a:r>
              <a:rPr lang="en-US" sz="1600" dirty="0">
                <a:solidFill>
                  <a:srgbClr val="F2F6FF"/>
                </a:solidFill>
              </a:rPr>
              <a:t>Was there a white van at the gate yesterday evening?</a:t>
            </a:r>
            <a:endParaRPr lang="en-US" sz="1600" dirty="0"/>
          </a:p>
        </p:txBody>
      </p:sp>
      <p:sp>
        <p:nvSpPr>
          <p:cNvPr id="13" name="answer-panel"/>
          <p:cNvSpPr/>
          <p:nvPr/>
        </p:nvSpPr>
        <p:spPr>
          <a:xfrm>
            <a:off x="4826000" y="3079750"/>
            <a:ext cx="6553200" cy="2476500"/>
          </a:xfrm>
          <a:prstGeom prst="roundRect">
            <a:avLst>
              <a:gd name="adj" fmla="val 5128"/>
            </a:avLst>
          </a:prstGeom>
          <a:solidFill>
            <a:schemeClr val="accent4"/>
          </a:solidFill>
          <a:ln w="9525">
            <a:solidFill>
              <a:schemeClr val="accent5"/>
            </a:solidFill>
            <a:prstDash val="solid"/>
          </a:ln>
        </p:spPr>
      </p:sp>
      <p:sp>
        <p:nvSpPr>
          <p:cNvPr id="14" name="Text 11"/>
          <p:cNvSpPr txBox="1"/>
          <p:nvPr/>
        </p:nvSpPr>
        <p:spPr>
          <a:xfrm>
            <a:off x="5054600" y="3308350"/>
            <a:ext cx="6096000" cy="825500"/>
          </a:xfrm>
          <a:prstGeom prst="rect">
            <a:avLst/>
          </a:prstGeom>
          <a:noFill/>
          <a:ln/>
        </p:spPr>
        <p:txBody>
          <a:bodyPr wrap="square" lIns="0" tIns="0" rIns="0" bIns="0" rtlCol="0" anchor="t"/>
          <a:lstStyle/>
          <a:p>
            <a:pPr indent="0" marL="0">
              <a:buNone/>
            </a:pPr>
            <a:r>
              <a:rPr lang="en-US" sz="1500" dirty="0">
                <a:solidFill>
                  <a:schemeClr val="bg1"/>
                </a:solidFill>
              </a:rPr>
              <a:t>Yes, twice: a white van stopped at the gate camera around 18:42 for about 3 minutes, and again near 20:15. These are the frames I checked:</a:t>
            </a:r>
            <a:endParaRPr lang="en-US" sz="1500" dirty="0"/>
          </a:p>
        </p:txBody>
      </p:sp>
      <p:sp>
        <p:nvSpPr>
          <p:cNvPr id="15" name="thumb-0"/>
          <p:cNvSpPr/>
          <p:nvPr/>
        </p:nvSpPr>
        <p:spPr>
          <a:xfrm>
            <a:off x="5054600" y="4286250"/>
            <a:ext cx="1460500" cy="1016000"/>
          </a:xfrm>
          <a:prstGeom prst="roundRect">
            <a:avLst>
              <a:gd name="adj" fmla="val 7500"/>
            </a:avLst>
          </a:prstGeom>
          <a:solidFill>
            <a:srgbClr val="16224A"/>
          </a:solidFill>
          <a:ln w="9525">
            <a:solidFill>
              <a:srgbClr val="2C3D6B"/>
            </a:solidFill>
            <a:prstDash val="solid"/>
          </a:ln>
        </p:spPr>
      </p:sp>
      <p:sp>
        <p:nvSpPr>
          <p:cNvPr id="16" name="thumb-box-0"/>
          <p:cNvSpPr/>
          <p:nvPr/>
        </p:nvSpPr>
        <p:spPr>
          <a:xfrm>
            <a:off x="5372100" y="4400550"/>
            <a:ext cx="825500" cy="444500"/>
          </a:xfrm>
          <a:prstGeom prst="roundRect">
            <a:avLst>
              <a:gd name="adj" fmla="val 8571"/>
            </a:avLst>
          </a:prstGeom>
          <a:solidFill>
            <a:srgbClr val="16224A"/>
          </a:solidFill>
          <a:ln w="25400">
            <a:solidFill>
              <a:schemeClr val="accent2"/>
            </a:solidFill>
            <a:prstDash val="solid"/>
          </a:ln>
        </p:spPr>
      </p:sp>
      <p:sp>
        <p:nvSpPr>
          <p:cNvPr id="17" name="Text 14"/>
          <p:cNvSpPr txBox="1"/>
          <p:nvPr/>
        </p:nvSpPr>
        <p:spPr>
          <a:xfrm>
            <a:off x="5156200" y="4946650"/>
            <a:ext cx="1270000" cy="254000"/>
          </a:xfrm>
          <a:prstGeom prst="rect">
            <a:avLst/>
          </a:prstGeom>
          <a:noFill/>
          <a:ln/>
        </p:spPr>
        <p:txBody>
          <a:bodyPr wrap="square" lIns="0" tIns="0" rIns="0" bIns="0" rtlCol="0" anchor="t"/>
          <a:lstStyle/>
          <a:p>
            <a:pPr indent="0" marL="0">
              <a:buNone/>
            </a:pPr>
            <a:r>
              <a:rPr lang="en-US" sz="1200" spc="100" kern="0" dirty="0">
                <a:solidFill>
                  <a:schemeClr val="bg2"/>
                </a:solidFill>
                <a:latin typeface="Consolas" pitchFamily="34" charset="0"/>
                <a:ea typeface="Consolas" pitchFamily="34" charset="-122"/>
                <a:cs typeface="Consolas" pitchFamily="34" charset="-120"/>
              </a:rPr>
              <a:t>gate · 18:42</a:t>
            </a:r>
            <a:endParaRPr lang="en-US" sz="1200" dirty="0"/>
          </a:p>
        </p:txBody>
      </p:sp>
      <p:sp>
        <p:nvSpPr>
          <p:cNvPr id="18" name="thumb-1"/>
          <p:cNvSpPr/>
          <p:nvPr/>
        </p:nvSpPr>
        <p:spPr>
          <a:xfrm>
            <a:off x="6642100" y="4286250"/>
            <a:ext cx="1460500" cy="1016000"/>
          </a:xfrm>
          <a:prstGeom prst="roundRect">
            <a:avLst>
              <a:gd name="adj" fmla="val 7500"/>
            </a:avLst>
          </a:prstGeom>
          <a:solidFill>
            <a:srgbClr val="16224A"/>
          </a:solidFill>
          <a:ln w="9525">
            <a:solidFill>
              <a:srgbClr val="2C3D6B"/>
            </a:solidFill>
            <a:prstDash val="solid"/>
          </a:ln>
        </p:spPr>
      </p:sp>
      <p:sp>
        <p:nvSpPr>
          <p:cNvPr id="19" name="thumb-box-1"/>
          <p:cNvSpPr/>
          <p:nvPr/>
        </p:nvSpPr>
        <p:spPr>
          <a:xfrm>
            <a:off x="6959600" y="4400550"/>
            <a:ext cx="825500" cy="444500"/>
          </a:xfrm>
          <a:prstGeom prst="roundRect">
            <a:avLst>
              <a:gd name="adj" fmla="val 8571"/>
            </a:avLst>
          </a:prstGeom>
          <a:solidFill>
            <a:srgbClr val="16224A"/>
          </a:solidFill>
          <a:ln w="25400">
            <a:solidFill>
              <a:schemeClr val="accent2"/>
            </a:solidFill>
            <a:prstDash val="solid"/>
          </a:ln>
        </p:spPr>
      </p:sp>
      <p:sp>
        <p:nvSpPr>
          <p:cNvPr id="20" name="Text 17"/>
          <p:cNvSpPr txBox="1"/>
          <p:nvPr/>
        </p:nvSpPr>
        <p:spPr>
          <a:xfrm>
            <a:off x="6743700" y="4946650"/>
            <a:ext cx="1270000" cy="254000"/>
          </a:xfrm>
          <a:prstGeom prst="rect">
            <a:avLst/>
          </a:prstGeom>
          <a:noFill/>
          <a:ln/>
        </p:spPr>
        <p:txBody>
          <a:bodyPr wrap="square" lIns="0" tIns="0" rIns="0" bIns="0" rtlCol="0" anchor="t"/>
          <a:lstStyle/>
          <a:p>
            <a:pPr indent="0" marL="0">
              <a:buNone/>
            </a:pPr>
            <a:r>
              <a:rPr lang="en-US" sz="1200" spc="100" kern="0" dirty="0">
                <a:solidFill>
                  <a:schemeClr val="bg2"/>
                </a:solidFill>
                <a:latin typeface="Consolas" pitchFamily="34" charset="0"/>
                <a:ea typeface="Consolas" pitchFamily="34" charset="-122"/>
                <a:cs typeface="Consolas" pitchFamily="34" charset="-120"/>
              </a:rPr>
              <a:t>gate · 18:44</a:t>
            </a:r>
            <a:endParaRPr lang="en-US" sz="1200" dirty="0"/>
          </a:p>
        </p:txBody>
      </p:sp>
      <p:sp>
        <p:nvSpPr>
          <p:cNvPr id="21" name="thumb-2"/>
          <p:cNvSpPr/>
          <p:nvPr/>
        </p:nvSpPr>
        <p:spPr>
          <a:xfrm>
            <a:off x="8229600" y="4286250"/>
            <a:ext cx="1460500" cy="1016000"/>
          </a:xfrm>
          <a:prstGeom prst="roundRect">
            <a:avLst>
              <a:gd name="adj" fmla="val 7500"/>
            </a:avLst>
          </a:prstGeom>
          <a:solidFill>
            <a:srgbClr val="16224A"/>
          </a:solidFill>
          <a:ln w="9525">
            <a:solidFill>
              <a:srgbClr val="2C3D6B"/>
            </a:solidFill>
            <a:prstDash val="solid"/>
          </a:ln>
        </p:spPr>
      </p:sp>
      <p:sp>
        <p:nvSpPr>
          <p:cNvPr id="22" name="thumb-box-2"/>
          <p:cNvSpPr/>
          <p:nvPr/>
        </p:nvSpPr>
        <p:spPr>
          <a:xfrm>
            <a:off x="8547100" y="4400550"/>
            <a:ext cx="825500" cy="444500"/>
          </a:xfrm>
          <a:prstGeom prst="roundRect">
            <a:avLst>
              <a:gd name="adj" fmla="val 8571"/>
            </a:avLst>
          </a:prstGeom>
          <a:solidFill>
            <a:srgbClr val="16224A"/>
          </a:solidFill>
          <a:ln w="25400">
            <a:solidFill>
              <a:schemeClr val="accent2"/>
            </a:solidFill>
            <a:prstDash val="solid"/>
          </a:ln>
        </p:spPr>
      </p:sp>
      <p:sp>
        <p:nvSpPr>
          <p:cNvPr id="23" name="Text 20"/>
          <p:cNvSpPr txBox="1"/>
          <p:nvPr/>
        </p:nvSpPr>
        <p:spPr>
          <a:xfrm>
            <a:off x="8331200" y="4946650"/>
            <a:ext cx="1270000" cy="254000"/>
          </a:xfrm>
          <a:prstGeom prst="rect">
            <a:avLst/>
          </a:prstGeom>
          <a:noFill/>
          <a:ln/>
        </p:spPr>
        <p:txBody>
          <a:bodyPr wrap="square" lIns="0" tIns="0" rIns="0" bIns="0" rtlCol="0" anchor="t"/>
          <a:lstStyle/>
          <a:p>
            <a:pPr indent="0" marL="0">
              <a:buNone/>
            </a:pPr>
            <a:r>
              <a:rPr lang="en-US" sz="1200" spc="100" kern="0" dirty="0">
                <a:solidFill>
                  <a:schemeClr val="bg2"/>
                </a:solidFill>
                <a:latin typeface="Consolas" pitchFamily="34" charset="0"/>
                <a:ea typeface="Consolas" pitchFamily="34" charset="-122"/>
                <a:cs typeface="Consolas" pitchFamily="34" charset="-120"/>
              </a:rPr>
              <a:t>gate · 20:15</a:t>
            </a:r>
            <a:endParaRPr lang="en-US" sz="1200" dirty="0"/>
          </a:p>
        </p:txBody>
      </p:sp>
      <p:sp>
        <p:nvSpPr>
          <p:cNvPr id="24" name="Text 21"/>
          <p:cNvSpPr txBox="1"/>
          <p:nvPr/>
        </p:nvSpPr>
        <p:spPr>
          <a:xfrm>
            <a:off x="4826000" y="5664200"/>
            <a:ext cx="6553200" cy="2540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Illustrative mock-up</a:t>
            </a:r>
            <a:endParaRPr lang="en-US" sz="12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HOW IT WORKS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Record, ask, answer.</a:t>
            </a:r>
            <a:endParaRPr lang="en-US" sz="3600" dirty="0"/>
          </a:p>
        </p:txBody>
      </p:sp>
      <p:sp>
        <p:nvSpPr>
          <p:cNvPr id="5" name="step-01"/>
          <p:cNvSpPr/>
          <p:nvPr/>
        </p:nvSpPr>
        <p:spPr>
          <a:xfrm>
            <a:off x="812800" y="2095500"/>
            <a:ext cx="3149600" cy="3619500"/>
          </a:xfrm>
          <a:prstGeom prst="roundRect">
            <a:avLst>
              <a:gd name="adj" fmla="val 4032"/>
            </a:avLst>
          </a:prstGeom>
          <a:solidFill>
            <a:schemeClr val="accent4"/>
          </a:solidFill>
          <a:ln w="9525">
            <a:solidFill>
              <a:schemeClr val="accent5"/>
            </a:solidFill>
            <a:prstDash val="solid"/>
          </a:ln>
        </p:spPr>
      </p:sp>
      <p:sp>
        <p:nvSpPr>
          <p:cNvPr id="6" name="Text 3"/>
          <p:cNvSpPr txBox="1"/>
          <p:nvPr/>
        </p:nvSpPr>
        <p:spPr>
          <a:xfrm>
            <a:off x="1092200" y="2374900"/>
            <a:ext cx="2540000" cy="381000"/>
          </a:xfrm>
          <a:prstGeom prst="rect">
            <a:avLst/>
          </a:prstGeom>
          <a:noFill/>
          <a:ln/>
        </p:spPr>
        <p:txBody>
          <a:bodyPr wrap="square" lIns="0" tIns="0" rIns="0" bIns="0" rtlCol="0" anchor="t"/>
          <a:lstStyle/>
          <a:p>
            <a:pPr indent="0" marL="0">
              <a:buNone/>
            </a:pPr>
            <a:r>
              <a:rPr lang="en-US" sz="2200" spc="100" kern="0" dirty="0">
                <a:solidFill>
                  <a:schemeClr val="accent2"/>
                </a:solidFill>
                <a:latin typeface="Consolas" pitchFamily="34" charset="0"/>
                <a:ea typeface="Consolas" pitchFamily="34" charset="-122"/>
                <a:cs typeface="Consolas" pitchFamily="34" charset="-120"/>
              </a:rPr>
              <a:t>01</a:t>
            </a:r>
            <a:endParaRPr lang="en-US" sz="2200" dirty="0"/>
          </a:p>
        </p:txBody>
      </p:sp>
      <p:sp>
        <p:nvSpPr>
          <p:cNvPr id="7" name="Text 4"/>
          <p:cNvSpPr txBox="1"/>
          <p:nvPr/>
        </p:nvSpPr>
        <p:spPr>
          <a:xfrm>
            <a:off x="1092200" y="2819400"/>
            <a:ext cx="2540000" cy="381000"/>
          </a:xfrm>
          <a:prstGeom prst="rect">
            <a:avLst/>
          </a:prstGeom>
          <a:noFill/>
          <a:ln/>
        </p:spPr>
        <p:txBody>
          <a:bodyPr wrap="square" lIns="0" tIns="0" rIns="0" bIns="0" rtlCol="0" anchor="t"/>
          <a:lstStyle/>
          <a:p>
            <a:pPr indent="0" marL="0">
              <a:buNone/>
            </a:pPr>
            <a:r>
              <a:rPr lang="en-US" sz="2200" b="1" dirty="0">
                <a:solidFill>
                  <a:schemeClr val="bg1"/>
                </a:solidFill>
              </a:rPr>
              <a:t>Record</a:t>
            </a:r>
            <a:endParaRPr lang="en-US" sz="2200" dirty="0"/>
          </a:p>
        </p:txBody>
      </p:sp>
      <p:sp>
        <p:nvSpPr>
          <p:cNvPr id="8" name="Text 5"/>
          <p:cNvSpPr txBox="1"/>
          <p:nvPr/>
        </p:nvSpPr>
        <p:spPr>
          <a:xfrm>
            <a:off x="1092200" y="3327400"/>
            <a:ext cx="2603500" cy="2286000"/>
          </a:xfrm>
          <a:prstGeom prst="rect">
            <a:avLst/>
          </a:prstGeom>
          <a:noFill/>
          <a:ln/>
        </p:spPr>
        <p:txBody>
          <a:bodyPr wrap="square" lIns="0" tIns="0" rIns="0" bIns="0" rtlCol="0" anchor="t"/>
          <a:lstStyle/>
          <a:p>
            <a:pPr indent="0" marL="0">
              <a:buNone/>
            </a:pPr>
            <a:r>
              <a:rPr lang="en-US" sz="1400" dirty="0">
                <a:solidFill>
                  <a:schemeClr val="bg2"/>
                </a:solidFill>
              </a:rPr>
              <a:t>Every object is detected, tracked and stored as searchable memory, across 80 everyday object types. Every few seconds the whole scene is stored too, so things without a label stay findable.</a:t>
            </a:r>
            <a:endParaRPr lang="en-US" sz="1400" dirty="0"/>
          </a:p>
        </p:txBody>
      </p:sp>
      <p:sp>
        <p:nvSpPr>
          <p:cNvPr id="9" name="arrow-01"/>
          <p:cNvSpPr/>
          <p:nvPr/>
        </p:nvSpPr>
        <p:spPr>
          <a:xfrm>
            <a:off x="4064000" y="3905250"/>
            <a:ext cx="508000" cy="0"/>
          </a:xfrm>
          <a:prstGeom prst="line">
            <a:avLst/>
          </a:prstGeom>
          <a:noFill/>
          <a:ln w="38100">
            <a:solidFill>
              <a:schemeClr val="accent1"/>
            </a:solidFill>
            <a:prstDash val="solid"/>
            <a:tailEnd type="triangle"/>
          </a:ln>
        </p:spPr>
      </p:sp>
      <p:sp>
        <p:nvSpPr>
          <p:cNvPr id="10" name="step-02"/>
          <p:cNvSpPr/>
          <p:nvPr/>
        </p:nvSpPr>
        <p:spPr>
          <a:xfrm>
            <a:off x="4673600" y="2095500"/>
            <a:ext cx="3149600" cy="3619500"/>
          </a:xfrm>
          <a:prstGeom prst="roundRect">
            <a:avLst>
              <a:gd name="adj" fmla="val 4032"/>
            </a:avLst>
          </a:prstGeom>
          <a:solidFill>
            <a:schemeClr val="accent4"/>
          </a:solidFill>
          <a:ln w="9525">
            <a:solidFill>
              <a:schemeClr val="accent5"/>
            </a:solidFill>
            <a:prstDash val="solid"/>
          </a:ln>
        </p:spPr>
      </p:sp>
      <p:sp>
        <p:nvSpPr>
          <p:cNvPr id="11" name="Text 8"/>
          <p:cNvSpPr txBox="1"/>
          <p:nvPr/>
        </p:nvSpPr>
        <p:spPr>
          <a:xfrm>
            <a:off x="4953000" y="2374900"/>
            <a:ext cx="2540000" cy="381000"/>
          </a:xfrm>
          <a:prstGeom prst="rect">
            <a:avLst/>
          </a:prstGeom>
          <a:noFill/>
          <a:ln/>
        </p:spPr>
        <p:txBody>
          <a:bodyPr wrap="square" lIns="0" tIns="0" rIns="0" bIns="0" rtlCol="0" anchor="t"/>
          <a:lstStyle/>
          <a:p>
            <a:pPr indent="0" marL="0">
              <a:buNone/>
            </a:pPr>
            <a:r>
              <a:rPr lang="en-US" sz="2200" spc="100" kern="0" dirty="0">
                <a:solidFill>
                  <a:schemeClr val="accent2"/>
                </a:solidFill>
                <a:latin typeface="Consolas" pitchFamily="34" charset="0"/>
                <a:ea typeface="Consolas" pitchFamily="34" charset="-122"/>
                <a:cs typeface="Consolas" pitchFamily="34" charset="-120"/>
              </a:rPr>
              <a:t>02</a:t>
            </a:r>
            <a:endParaRPr lang="en-US" sz="2200" dirty="0"/>
          </a:p>
        </p:txBody>
      </p:sp>
      <p:sp>
        <p:nvSpPr>
          <p:cNvPr id="12" name="Text 9"/>
          <p:cNvSpPr txBox="1"/>
          <p:nvPr/>
        </p:nvSpPr>
        <p:spPr>
          <a:xfrm>
            <a:off x="4953000" y="2819400"/>
            <a:ext cx="2540000" cy="381000"/>
          </a:xfrm>
          <a:prstGeom prst="rect">
            <a:avLst/>
          </a:prstGeom>
          <a:noFill/>
          <a:ln/>
        </p:spPr>
        <p:txBody>
          <a:bodyPr wrap="square" lIns="0" tIns="0" rIns="0" bIns="0" rtlCol="0" anchor="t"/>
          <a:lstStyle/>
          <a:p>
            <a:pPr indent="0" marL="0">
              <a:buNone/>
            </a:pPr>
            <a:r>
              <a:rPr lang="en-US" sz="2200" b="1" dirty="0">
                <a:solidFill>
                  <a:schemeClr val="bg1"/>
                </a:solidFill>
              </a:rPr>
              <a:t>Ask</a:t>
            </a:r>
            <a:endParaRPr lang="en-US" sz="2200" dirty="0"/>
          </a:p>
        </p:txBody>
      </p:sp>
      <p:sp>
        <p:nvSpPr>
          <p:cNvPr id="13" name="Text 10"/>
          <p:cNvSpPr txBox="1"/>
          <p:nvPr/>
        </p:nvSpPr>
        <p:spPr>
          <a:xfrm>
            <a:off x="4953000" y="3327400"/>
            <a:ext cx="2603500" cy="2286000"/>
          </a:xfrm>
          <a:prstGeom prst="rect">
            <a:avLst/>
          </a:prstGeom>
          <a:noFill/>
          <a:ln/>
        </p:spPr>
        <p:txBody>
          <a:bodyPr wrap="square" lIns="0" tIns="0" rIns="0" bIns="0" rtlCol="0" anchor="t"/>
          <a:lstStyle/>
          <a:p>
            <a:pPr indent="0" marL="0">
              <a:buNone/>
            </a:pPr>
            <a:r>
              <a:rPr lang="en-US" sz="1400" dirty="0">
                <a:solidFill>
                  <a:schemeClr val="bg2"/>
                </a:solidFill>
              </a:rPr>
              <a:t>Your question is split into what, when and which camera. The "what" is matched against everything stored, and sightings of the same object merge into one visit.</a:t>
            </a:r>
            <a:endParaRPr lang="en-US" sz="1400" dirty="0"/>
          </a:p>
        </p:txBody>
      </p:sp>
      <p:sp>
        <p:nvSpPr>
          <p:cNvPr id="14" name="arrow-02"/>
          <p:cNvSpPr/>
          <p:nvPr/>
        </p:nvSpPr>
        <p:spPr>
          <a:xfrm>
            <a:off x="7924800" y="3905250"/>
            <a:ext cx="508000" cy="0"/>
          </a:xfrm>
          <a:prstGeom prst="line">
            <a:avLst/>
          </a:prstGeom>
          <a:noFill/>
          <a:ln w="38100">
            <a:solidFill>
              <a:schemeClr val="accent1"/>
            </a:solidFill>
            <a:prstDash val="solid"/>
            <a:tailEnd type="triangle"/>
          </a:ln>
        </p:spPr>
      </p:sp>
      <p:sp>
        <p:nvSpPr>
          <p:cNvPr id="15" name="step-03"/>
          <p:cNvSpPr/>
          <p:nvPr/>
        </p:nvSpPr>
        <p:spPr>
          <a:xfrm>
            <a:off x="8534400" y="2095500"/>
            <a:ext cx="3149600" cy="3619500"/>
          </a:xfrm>
          <a:prstGeom prst="roundRect">
            <a:avLst>
              <a:gd name="adj" fmla="val 4032"/>
            </a:avLst>
          </a:prstGeom>
          <a:solidFill>
            <a:schemeClr val="accent3"/>
          </a:solidFill>
          <a:ln w="19050">
            <a:solidFill>
              <a:schemeClr val="accent1"/>
            </a:solidFill>
            <a:prstDash val="solid"/>
          </a:ln>
        </p:spPr>
      </p:sp>
      <p:sp>
        <p:nvSpPr>
          <p:cNvPr id="16" name="Text 13"/>
          <p:cNvSpPr txBox="1"/>
          <p:nvPr/>
        </p:nvSpPr>
        <p:spPr>
          <a:xfrm>
            <a:off x="8813800" y="2374900"/>
            <a:ext cx="2540000" cy="381000"/>
          </a:xfrm>
          <a:prstGeom prst="rect">
            <a:avLst/>
          </a:prstGeom>
          <a:noFill/>
          <a:ln/>
        </p:spPr>
        <p:txBody>
          <a:bodyPr wrap="square" lIns="0" tIns="0" rIns="0" bIns="0" rtlCol="0" anchor="t"/>
          <a:lstStyle/>
          <a:p>
            <a:pPr indent="0" marL="0">
              <a:buNone/>
            </a:pPr>
            <a:r>
              <a:rPr lang="en-US" sz="2200" spc="100" kern="0" dirty="0">
                <a:solidFill>
                  <a:schemeClr val="accent2"/>
                </a:solidFill>
                <a:latin typeface="Consolas" pitchFamily="34" charset="0"/>
                <a:ea typeface="Consolas" pitchFamily="34" charset="-122"/>
                <a:cs typeface="Consolas" pitchFamily="34" charset="-120"/>
              </a:rPr>
              <a:t>03</a:t>
            </a:r>
            <a:endParaRPr lang="en-US" sz="2200" dirty="0"/>
          </a:p>
        </p:txBody>
      </p:sp>
      <p:sp>
        <p:nvSpPr>
          <p:cNvPr id="17" name="Text 14"/>
          <p:cNvSpPr txBox="1"/>
          <p:nvPr/>
        </p:nvSpPr>
        <p:spPr>
          <a:xfrm>
            <a:off x="8813800" y="2819400"/>
            <a:ext cx="2540000" cy="381000"/>
          </a:xfrm>
          <a:prstGeom prst="rect">
            <a:avLst/>
          </a:prstGeom>
          <a:noFill/>
          <a:ln/>
        </p:spPr>
        <p:txBody>
          <a:bodyPr wrap="square" lIns="0" tIns="0" rIns="0" bIns="0" rtlCol="0" anchor="t"/>
          <a:lstStyle/>
          <a:p>
            <a:pPr indent="0" marL="0">
              <a:buNone/>
            </a:pPr>
            <a:r>
              <a:rPr lang="en-US" sz="2200" b="1" dirty="0">
                <a:solidFill>
                  <a:schemeClr val="bg1"/>
                </a:solidFill>
              </a:rPr>
              <a:t>Answer</a:t>
            </a:r>
            <a:endParaRPr lang="en-US" sz="2200" dirty="0"/>
          </a:p>
        </p:txBody>
      </p:sp>
      <p:sp>
        <p:nvSpPr>
          <p:cNvPr id="18" name="Text 15"/>
          <p:cNvSpPr txBox="1"/>
          <p:nvPr/>
        </p:nvSpPr>
        <p:spPr>
          <a:xfrm>
            <a:off x="8813800" y="3327400"/>
            <a:ext cx="2603500" cy="2286000"/>
          </a:xfrm>
          <a:prstGeom prst="rect">
            <a:avLst/>
          </a:prstGeom>
          <a:noFill/>
          <a:ln/>
        </p:spPr>
        <p:txBody>
          <a:bodyPr wrap="square" lIns="0" tIns="0" rIns="0" bIns="0" rtlCol="0" anchor="t"/>
          <a:lstStyle/>
          <a:p>
            <a:pPr indent="0" marL="0">
              <a:buNone/>
            </a:pPr>
            <a:r>
              <a:rPr lang="en-US" sz="1400" dirty="0">
                <a:solidFill>
                  <a:srgbClr val="C7D3EA"/>
                </a:solidFill>
              </a:rPr>
              <a:t>A language model runs the lookups the question needs (up to six rounds), then answers in sentences and lists the frames it checked.</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WHAT YOU CAN ASK</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Questions you would ask a colleague.</a:t>
            </a:r>
            <a:endParaRPr lang="en-US" sz="3600" dirty="0"/>
          </a:p>
        </p:txBody>
      </p:sp>
      <p:graphicFrame>
        <p:nvGraphicFramePr>
          <p:cNvPr id="8" name="questions-table"/>
          <p:cNvGraphicFramePr>
            <a:graphicFrameLocks noGrp="1"/>
          </p:cNvGraphicFramePr>
          <p:nvPr>
            <p:extLst>
              <p:ext uri="{D42A27DB-BD31-4B8C-83A1-F6EECF244321}">
                <p14:modId xmlns:p14="http://schemas.microsoft.com/office/powerpoint/2010/main" val="1579011935"/>
              </p:ext>
            </p:extLst>
          </p:nvPr>
        </p:nvGraphicFramePr>
        <p:xfrm>
          <a:off x="812800" y="2095500"/>
          <a:ext cx="10566400" cy="914400"/>
        </p:xfrm>
        <a:graphic>
          <a:graphicData uri="http://schemas.openxmlformats.org/drawingml/2006/table">
            <a:tbl>
              <a:tblPr/>
              <a:tblGrid>
                <a:gridCol w="3803904"/>
                <a:gridCol w="4860544"/>
                <a:gridCol w="1901952"/>
              </a:tblGrid>
              <a:tr h="635000">
                <a:tc>
                  <a:txBody>
                    <a:bodyPr/>
                    <a:lstStyle/>
                    <a:p>
                      <a:pPr indent="0" marL="0">
                        <a:buNone/>
                      </a:pPr>
                      <a:r>
                        <a:rPr lang="en-US" sz="1400" b="1" dirty="0">
                          <a:solidFill>
                            <a:schemeClr val="accent2"/>
                          </a:solidFill>
                          <a:latin typeface="Arial" pitchFamily="34" charset="0"/>
                          <a:ea typeface="Arial" pitchFamily="34" charset="-122"/>
                          <a:cs typeface="Arial" pitchFamily="34" charset="-120"/>
                        </a:rPr>
                        <a:t>You ask</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accent2"/>
                          </a:solidFill>
                          <a:latin typeface="Arial" pitchFamily="34" charset="0"/>
                          <a:ea typeface="Arial" pitchFamily="34" charset="-122"/>
                          <a:cs typeface="Arial" pitchFamily="34" charset="-120"/>
                        </a:rPr>
                        <a:t>Argus looks up</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accent2"/>
                          </a:solidFill>
                          <a:latin typeface="Arial" pitchFamily="34" charset="0"/>
                          <a:ea typeface="Arial" pitchFamily="34" charset="-122"/>
                          <a:cs typeface="Arial" pitchFamily="34" charset="-120"/>
                        </a:rPr>
                        <a:t>Answer</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accent4"/>
                    </a:solidFill>
                  </a:tcPr>
                </a:tc>
              </a:tr>
              <a:tr h="635000">
                <a:tc>
                  <a:txBody>
                    <a:bodyPr/>
                    <a:lstStyle/>
                    <a:p>
                      <a:pPr indent="0" marL="0">
                        <a:buNone/>
                      </a:pPr>
                      <a:r>
                        <a:rPr lang="en-US" sz="1400" dirty="0">
                          <a:solidFill>
                            <a:schemeClr val="bg1"/>
                          </a:solidFill>
                          <a:latin typeface="Arial" pitchFamily="34" charset="0"/>
                          <a:ea typeface="Arial" pitchFamily="34" charset="-122"/>
                          <a:cs typeface="Arial" pitchFamily="34" charset="-120"/>
                        </a:rPr>
                        <a:t>What happened yesterday from 6pm to 9pm?</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Everything tracked in that window, in time order, with counts</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Exact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r>
              <a:tr h="635000">
                <a:tc>
                  <a:txBody>
                    <a:bodyPr/>
                    <a:lstStyle/>
                    <a:p>
                      <a:pPr indent="0" marL="0">
                        <a:buNone/>
                      </a:pPr>
                      <a:r>
                        <a:rPr lang="en-US" sz="1400" dirty="0">
                          <a:solidFill>
                            <a:schemeClr val="bg1"/>
                          </a:solidFill>
                          <a:latin typeface="Arial" pitchFamily="34" charset="0"/>
                          <a:ea typeface="Arial" pitchFamily="34" charset="-122"/>
                          <a:cs typeface="Arial" pitchFamily="34" charset="-120"/>
                        </a:rPr>
                        <a:t>How many cars came in today?</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Cars tracked today: one tracked car is one visit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Exact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r>
              <a:tr h="635000">
                <a:tc>
                  <a:txBody>
                    <a:bodyPr/>
                    <a:lstStyle/>
                    <a:p>
                      <a:pPr indent="0" marL="0">
                        <a:buNone/>
                      </a:pPr>
                      <a:r>
                        <a:rPr lang="en-US" sz="1400" dirty="0">
                          <a:solidFill>
                            <a:schemeClr val="bg1"/>
                          </a:solidFill>
                          <a:latin typeface="Arial" pitchFamily="34" charset="0"/>
                          <a:ea typeface="Arial" pitchFamily="34" charset="-122"/>
                          <a:cs typeface="Arial" pitchFamily="34" charset="-120"/>
                        </a:rPr>
                        <a:t>Anyone with a dog this morning?</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People seen on the same camera, at the same time, as a dog</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Exact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1"/>
                    </a:solidFill>
                  </a:tcPr>
                </a:tc>
              </a:tr>
              <a:tr h="635000">
                <a:tc>
                  <a:txBody>
                    <a:bodyPr/>
                    <a:lstStyle/>
                    <a:p>
                      <a:pPr indent="0" marL="0">
                        <a:buNone/>
                      </a:pPr>
                      <a:r>
                        <a:rPr lang="en-US" sz="1400" dirty="0">
                          <a:solidFill>
                            <a:schemeClr val="bg1"/>
                          </a:solidFill>
                          <a:latin typeface="Arial" pitchFamily="34" charset="0"/>
                          <a:ea typeface="Arial" pitchFamily="34" charset="-122"/>
                          <a:cs typeface="Arial" pitchFamily="34" charset="-120"/>
                        </a:rPr>
                        <a:t>A man in a red jacket near a car?</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Visual search for "man in a red jacket", kept where a car was present</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Arial" pitchFamily="34" charset="0"/>
                          <a:ea typeface="Arial" pitchFamily="34" charset="-122"/>
                          <a:cs typeface="Arial" pitchFamily="34" charset="-120"/>
                        </a:rPr>
                        <a:t>Ranked matches</a:t>
                      </a:r>
                      <a:endParaRPr lang="en-US" sz="1400" dirty="0">
                        <a:latin typeface="Arial" charset="0"/>
                        <a:ea typeface="Arial" charset="0"/>
                        <a:cs typeface="Arial" charset="0"/>
                      </a:endParaRPr>
                    </a:p>
                  </a:txBody>
                  <a:tcPr marL="137160" marR="137160" marT="91440" marB="91440" anchor="ctr">
                    <a:lnL w="9525" cap="flat" cmpd="sng" algn="ctr">
                      <a:solidFill>
                        <a:srgbClr val="22304F"/>
                      </a:solidFill>
                      <a:prstDash val="solid"/>
                      <a:round/>
                      <a:headEnd type="none" w="med" len="med"/>
                      <a:tailEnd type="none" w="med" len="med"/>
                    </a:lnL>
                    <a:lnR w="9525" cap="flat" cmpd="sng" algn="ctr">
                      <a:solidFill>
                        <a:srgbClr val="22304F"/>
                      </a:solidFill>
                      <a:prstDash val="solid"/>
                      <a:round/>
                      <a:headEnd type="none" w="med" len="med"/>
                      <a:tailEnd type="none" w="med" len="med"/>
                    </a:lnR>
                    <a:lnT w="9525" cap="flat" cmpd="sng" algn="ctr">
                      <a:solidFill>
                        <a:srgbClr val="22304F"/>
                      </a:solidFill>
                      <a:prstDash val="solid"/>
                      <a:round/>
                      <a:headEnd type="none" w="med" len="med"/>
                      <a:tailEnd type="none" w="med" len="med"/>
                    </a:lnT>
                    <a:lnB w="9525" cap="flat" cmpd="sng" algn="ctr">
                      <a:solidFill>
                        <a:srgbClr val="22304F"/>
                      </a:solidFill>
                      <a:prstDash val="solid"/>
                      <a:round/>
                      <a:headEnd type="none" w="med" len="med"/>
                      <a:tailEnd type="none" w="med" len="med"/>
                    </a:lnB>
                    <a:solidFill>
                      <a:schemeClr val="tx2"/>
                    </a:solidFill>
                  </a:tcPr>
                </a:tc>
              </a:tr>
            </a:tbl>
          </a:graphicData>
        </a:graphic>
      </p:graphicFrame>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ANSWERS YOU CAN TRUST</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Counted when it can be. Described when it can't.</a:t>
            </a:r>
            <a:endParaRPr lang="en-US" sz="3600" dirty="0"/>
          </a:p>
        </p:txBody>
      </p:sp>
      <p:sp>
        <p:nvSpPr>
          <p:cNvPr id="5" name="Counted: exact"/>
          <p:cNvSpPr/>
          <p:nvPr/>
        </p:nvSpPr>
        <p:spPr>
          <a:xfrm>
            <a:off x="812800" y="2501900"/>
            <a:ext cx="5181600" cy="2540000"/>
          </a:xfrm>
          <a:prstGeom prst="roundRect">
            <a:avLst>
              <a:gd name="adj" fmla="val 5000"/>
            </a:avLst>
          </a:prstGeom>
          <a:solidFill>
            <a:schemeClr val="accent4"/>
          </a:solidFill>
          <a:ln w="9525">
            <a:solidFill>
              <a:schemeClr val="accent5"/>
            </a:solidFill>
            <a:prstDash val="solid"/>
          </a:ln>
        </p:spPr>
      </p:sp>
      <p:sp>
        <p:nvSpPr>
          <p:cNvPr id="6" name="Counted: exact icon"/>
          <p:cNvSpPr/>
          <p:nvPr/>
        </p:nvSpPr>
        <p:spPr>
          <a:xfrm>
            <a:off x="1117600" y="2806700"/>
            <a:ext cx="406400" cy="406400"/>
          </a:xfrm>
          <a:prstGeom prst="ellipse">
            <a:avLst/>
          </a:prstGeom>
          <a:solidFill>
            <a:schemeClr val="accent3"/>
          </a:solidFill>
          <a:ln w="19050">
            <a:solidFill>
              <a:schemeClr val="accent2"/>
            </a:solidFill>
            <a:prstDash val="solid"/>
          </a:ln>
        </p:spPr>
      </p:sp>
      <p:sp>
        <p:nvSpPr>
          <p:cNvPr id="7" name="Text 4"/>
          <p:cNvSpPr txBox="1"/>
          <p:nvPr/>
        </p:nvSpPr>
        <p:spPr>
          <a:xfrm>
            <a:off x="1117600" y="2806700"/>
            <a:ext cx="406400" cy="406400"/>
          </a:xfrm>
          <a:prstGeom prst="rect">
            <a:avLst/>
          </a:prstGeom>
          <a:noFill/>
          <a:ln/>
        </p:spPr>
        <p:txBody>
          <a:bodyPr wrap="square" lIns="0" tIns="0" rIns="0" bIns="0" rtlCol="0" anchor="ctr"/>
          <a:lstStyle/>
          <a:p>
            <a:pPr algn="ctr" indent="0" marL="0">
              <a:buNone/>
            </a:pPr>
            <a:r>
              <a:rPr lang="en-US" sz="1800" b="1" dirty="0">
                <a:solidFill>
                  <a:schemeClr val="accent2"/>
                </a:solidFill>
                <a:latin typeface="Consolas" pitchFamily="34" charset="0"/>
                <a:ea typeface="Consolas" pitchFamily="34" charset="-122"/>
                <a:cs typeface="Consolas" pitchFamily="34" charset="-120"/>
              </a:rPr>
              <a:t>#</a:t>
            </a:r>
            <a:endParaRPr lang="en-US" sz="1800" dirty="0"/>
          </a:p>
        </p:txBody>
      </p:sp>
      <p:sp>
        <p:nvSpPr>
          <p:cNvPr id="8" name="Text 5"/>
          <p:cNvSpPr txBox="1"/>
          <p:nvPr/>
        </p:nvSpPr>
        <p:spPr>
          <a:xfrm>
            <a:off x="1676400" y="2844800"/>
            <a:ext cx="4064000" cy="381000"/>
          </a:xfrm>
          <a:prstGeom prst="rect">
            <a:avLst/>
          </a:prstGeom>
          <a:noFill/>
          <a:ln/>
        </p:spPr>
        <p:txBody>
          <a:bodyPr wrap="square" lIns="0" tIns="0" rIns="0" bIns="0" rtlCol="0" anchor="t"/>
          <a:lstStyle/>
          <a:p>
            <a:pPr indent="0" marL="0">
              <a:buNone/>
            </a:pPr>
            <a:r>
              <a:rPr lang="en-US" sz="2200" b="1" dirty="0">
                <a:solidFill>
                  <a:schemeClr val="bg1"/>
                </a:solidFill>
              </a:rPr>
              <a:t>Counted: exact</a:t>
            </a:r>
            <a:endParaRPr lang="en-US" sz="2200" dirty="0"/>
          </a:p>
        </p:txBody>
      </p:sp>
      <p:sp>
        <p:nvSpPr>
          <p:cNvPr id="9" name="Text 6"/>
          <p:cNvSpPr txBox="1"/>
          <p:nvPr/>
        </p:nvSpPr>
        <p:spPr>
          <a:xfrm>
            <a:off x="1117600" y="3467100"/>
            <a:ext cx="4572000" cy="1460500"/>
          </a:xfrm>
          <a:prstGeom prst="rect">
            <a:avLst/>
          </a:prstGeom>
          <a:noFill/>
          <a:ln/>
        </p:spPr>
        <p:txBody>
          <a:bodyPr wrap="square" lIns="0" tIns="0" rIns="0" bIns="0" rtlCol="0" anchor="t"/>
          <a:lstStyle/>
          <a:p>
            <a:pPr indent="0" marL="0">
              <a:buNone/>
            </a:pPr>
            <a:r>
              <a:rPr lang="en-US" sz="1500" dirty="0">
                <a:solidFill>
                  <a:schemeClr val="bg2"/>
                </a:solidFill>
              </a:rPr>
              <a:t>What, when and how many come straight from the detector and tracker. Counts are visits: each arrival is counted.</a:t>
            </a:r>
            <a:endParaRPr lang="en-US" sz="1500" dirty="0"/>
          </a:p>
        </p:txBody>
      </p:sp>
      <p:sp>
        <p:nvSpPr>
          <p:cNvPr id="10" name="Described: ranked"/>
          <p:cNvSpPr/>
          <p:nvPr/>
        </p:nvSpPr>
        <p:spPr>
          <a:xfrm>
            <a:off x="6197600" y="2501900"/>
            <a:ext cx="5181600" cy="2540000"/>
          </a:xfrm>
          <a:prstGeom prst="roundRect">
            <a:avLst>
              <a:gd name="adj" fmla="val 5000"/>
            </a:avLst>
          </a:prstGeom>
          <a:solidFill>
            <a:schemeClr val="accent4"/>
          </a:solidFill>
          <a:ln w="9525">
            <a:solidFill>
              <a:schemeClr val="accent5"/>
            </a:solidFill>
            <a:prstDash val="solid"/>
          </a:ln>
        </p:spPr>
      </p:sp>
      <p:sp>
        <p:nvSpPr>
          <p:cNvPr id="11" name="Described: ranked icon"/>
          <p:cNvSpPr/>
          <p:nvPr/>
        </p:nvSpPr>
        <p:spPr>
          <a:xfrm>
            <a:off x="6502400" y="2806700"/>
            <a:ext cx="406400" cy="406400"/>
          </a:xfrm>
          <a:prstGeom prst="ellipse">
            <a:avLst/>
          </a:prstGeom>
          <a:solidFill>
            <a:schemeClr val="accent3"/>
          </a:solidFill>
          <a:ln w="19050">
            <a:solidFill>
              <a:schemeClr val="accent2"/>
            </a:solidFill>
            <a:prstDash val="solid"/>
          </a:ln>
        </p:spPr>
      </p:sp>
      <p:sp>
        <p:nvSpPr>
          <p:cNvPr id="12" name="Text 9"/>
          <p:cNvSpPr txBox="1"/>
          <p:nvPr/>
        </p:nvSpPr>
        <p:spPr>
          <a:xfrm>
            <a:off x="6502400" y="2806700"/>
            <a:ext cx="406400" cy="406400"/>
          </a:xfrm>
          <a:prstGeom prst="rect">
            <a:avLst/>
          </a:prstGeom>
          <a:noFill/>
          <a:ln/>
        </p:spPr>
        <p:txBody>
          <a:bodyPr wrap="square" lIns="0" tIns="0" rIns="0" bIns="0" rtlCol="0" anchor="ctr"/>
          <a:lstStyle/>
          <a:p>
            <a:pPr algn="ctr" indent="0" marL="0">
              <a:buNone/>
            </a:pPr>
            <a:r>
              <a:rPr lang="en-US" sz="1800" b="1" dirty="0">
                <a:solidFill>
                  <a:schemeClr val="accent2"/>
                </a:solidFill>
                <a:latin typeface="Consolas" pitchFamily="34" charset="0"/>
                <a:ea typeface="Consolas" pitchFamily="34" charset="-122"/>
                <a:cs typeface="Consolas" pitchFamily="34" charset="-120"/>
              </a:rPr>
              <a:t>≈</a:t>
            </a:r>
            <a:endParaRPr lang="en-US" sz="1800" dirty="0"/>
          </a:p>
        </p:txBody>
      </p:sp>
      <p:sp>
        <p:nvSpPr>
          <p:cNvPr id="13" name="Text 10"/>
          <p:cNvSpPr txBox="1"/>
          <p:nvPr/>
        </p:nvSpPr>
        <p:spPr>
          <a:xfrm>
            <a:off x="7061200" y="2844800"/>
            <a:ext cx="4064000" cy="381000"/>
          </a:xfrm>
          <a:prstGeom prst="rect">
            <a:avLst/>
          </a:prstGeom>
          <a:noFill/>
          <a:ln/>
        </p:spPr>
        <p:txBody>
          <a:bodyPr wrap="square" lIns="0" tIns="0" rIns="0" bIns="0" rtlCol="0" anchor="t"/>
          <a:lstStyle/>
          <a:p>
            <a:pPr indent="0" marL="0">
              <a:buNone/>
            </a:pPr>
            <a:r>
              <a:rPr lang="en-US" sz="2200" b="1" dirty="0">
                <a:solidFill>
                  <a:schemeClr val="bg1"/>
                </a:solidFill>
              </a:rPr>
              <a:t>Described: ranked</a:t>
            </a:r>
            <a:endParaRPr lang="en-US" sz="2200" dirty="0"/>
          </a:p>
        </p:txBody>
      </p:sp>
      <p:sp>
        <p:nvSpPr>
          <p:cNvPr id="14" name="Text 11"/>
          <p:cNvSpPr txBox="1"/>
          <p:nvPr/>
        </p:nvSpPr>
        <p:spPr>
          <a:xfrm>
            <a:off x="6502400" y="3467100"/>
            <a:ext cx="4572000" cy="1460500"/>
          </a:xfrm>
          <a:prstGeom prst="rect">
            <a:avLst/>
          </a:prstGeom>
          <a:noFill/>
          <a:ln/>
        </p:spPr>
        <p:txBody>
          <a:bodyPr wrap="square" lIns="0" tIns="0" rIns="0" bIns="0" rtlCol="0" anchor="t"/>
          <a:lstStyle/>
          <a:p>
            <a:pPr indent="0" marL="0">
              <a:buNone/>
            </a:pPr>
            <a:r>
              <a:rPr lang="en-US" sz="1500" dirty="0">
                <a:solidFill>
                  <a:schemeClr val="bg2"/>
                </a:solidFill>
              </a:rPr>
              <a:t>Descriptions like 'white van' or 'red jacket' are matched against what the cameras saw. Argus shows the closest matches with their frames, so you can confirm at a glance.</a:t>
            </a:r>
            <a:endParaRPr lang="en-US" sz="1500" dirty="0"/>
          </a:p>
        </p:txBody>
      </p:sp>
      <p:sp>
        <p:nvSpPr>
          <p:cNvPr id="15" name="Text 12"/>
          <p:cNvSpPr txBox="1"/>
          <p:nvPr/>
        </p:nvSpPr>
        <p:spPr>
          <a:xfrm>
            <a:off x="812800" y="5321300"/>
            <a:ext cx="10566400" cy="317500"/>
          </a:xfrm>
          <a:prstGeom prst="rect">
            <a:avLst/>
          </a:prstGeom>
          <a:noFill/>
          <a:ln/>
        </p:spPr>
        <p:txBody>
          <a:bodyPr wrap="square" lIns="0" tIns="0" rIns="0" bIns="0" rtlCol="0" anchor="t"/>
          <a:lstStyle/>
          <a:p>
            <a:pPr indent="0" marL="0">
              <a:buNone/>
            </a:pPr>
            <a:r>
              <a:rPr lang="en-US" sz="1600" dirty="0">
                <a:solidFill>
                  <a:schemeClr val="bg1"/>
                </a:solidFill>
              </a:rPr>
              <a:t>Either way, every answer lists the frames it looked at, so a person can check it in seconds.</a:t>
            </a:r>
            <a:endParaRPr lang="en-US" sz="16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ALERTS WHEN IT MATTERS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Tell me when it happens.</a:t>
            </a:r>
            <a:endParaRPr lang="en-US" sz="3600" dirty="0"/>
          </a:p>
        </p:txBody>
      </p:sp>
      <p:sp>
        <p:nvSpPr>
          <p:cNvPr id="5" name="alert-card-01"/>
          <p:cNvSpPr/>
          <p:nvPr/>
        </p:nvSpPr>
        <p:spPr>
          <a:xfrm>
            <a:off x="812800" y="2095500"/>
            <a:ext cx="3384550" cy="2794000"/>
          </a:xfrm>
          <a:prstGeom prst="roundRect">
            <a:avLst>
              <a:gd name="adj" fmla="val 4545"/>
            </a:avLst>
          </a:prstGeom>
          <a:solidFill>
            <a:schemeClr val="accent4"/>
          </a:solidFill>
          <a:ln w="9525">
            <a:solidFill>
              <a:schemeClr val="accent5"/>
            </a:solidFill>
            <a:prstDash val="solid"/>
          </a:ln>
        </p:spPr>
      </p:sp>
      <p:sp>
        <p:nvSpPr>
          <p:cNvPr id="6" name="Text 3"/>
          <p:cNvSpPr txBox="1"/>
          <p:nvPr/>
        </p:nvSpPr>
        <p:spPr>
          <a:xfrm>
            <a:off x="1092200" y="23749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01</a:t>
            </a:r>
            <a:endParaRPr lang="en-US" sz="1200" dirty="0"/>
          </a:p>
        </p:txBody>
      </p:sp>
      <p:sp>
        <p:nvSpPr>
          <p:cNvPr id="7" name="Text 4"/>
          <p:cNvSpPr txBox="1"/>
          <p:nvPr/>
        </p:nvSpPr>
        <p:spPr>
          <a:xfrm>
            <a:off x="1092200" y="26797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Areas and lines</a:t>
            </a:r>
            <a:endParaRPr lang="en-US" sz="2000" dirty="0"/>
          </a:p>
        </p:txBody>
      </p:sp>
      <p:sp>
        <p:nvSpPr>
          <p:cNvPr id="8" name="Text 5"/>
          <p:cNvSpPr txBox="1"/>
          <p:nvPr/>
        </p:nvSpPr>
        <p:spPr>
          <a:xfrm>
            <a:off x="1092200" y="3467100"/>
            <a:ext cx="2825750" cy="1333500"/>
          </a:xfrm>
          <a:prstGeom prst="rect">
            <a:avLst/>
          </a:prstGeom>
          <a:noFill/>
          <a:ln/>
        </p:spPr>
        <p:txBody>
          <a:bodyPr wrap="square" lIns="0" tIns="0" rIns="0" bIns="0" rtlCol="0" anchor="t"/>
          <a:lstStyle/>
          <a:p>
            <a:pPr indent="0" marL="0">
              <a:buNone/>
            </a:pPr>
            <a:r>
              <a:rPr lang="en-US" sz="1400" dirty="0">
                <a:solidFill>
                  <a:schemeClr val="bg2"/>
                </a:solidFill>
              </a:rPr>
              <a:t>Draw areas and lines on each camera. An alert fires when something enters, leaves, stays too long or crosses a line.</a:t>
            </a:r>
            <a:endParaRPr lang="en-US" sz="1400" dirty="0"/>
          </a:p>
        </p:txBody>
      </p:sp>
      <p:sp>
        <p:nvSpPr>
          <p:cNvPr id="9" name="alert-card-02"/>
          <p:cNvSpPr/>
          <p:nvPr/>
        </p:nvSpPr>
        <p:spPr>
          <a:xfrm>
            <a:off x="4400550" y="2095500"/>
            <a:ext cx="3384550" cy="2794000"/>
          </a:xfrm>
          <a:prstGeom prst="roundRect">
            <a:avLst>
              <a:gd name="adj" fmla="val 4545"/>
            </a:avLst>
          </a:prstGeom>
          <a:solidFill>
            <a:schemeClr val="accent4"/>
          </a:solidFill>
          <a:ln w="9525">
            <a:solidFill>
              <a:schemeClr val="accent5"/>
            </a:solidFill>
            <a:prstDash val="solid"/>
          </a:ln>
        </p:spPr>
      </p:sp>
      <p:sp>
        <p:nvSpPr>
          <p:cNvPr id="10" name="Text 7"/>
          <p:cNvSpPr txBox="1"/>
          <p:nvPr/>
        </p:nvSpPr>
        <p:spPr>
          <a:xfrm>
            <a:off x="4679950" y="23749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02</a:t>
            </a:r>
            <a:endParaRPr lang="en-US" sz="1200" dirty="0"/>
          </a:p>
        </p:txBody>
      </p:sp>
      <p:sp>
        <p:nvSpPr>
          <p:cNvPr id="11" name="Text 8"/>
          <p:cNvSpPr txBox="1"/>
          <p:nvPr/>
        </p:nvSpPr>
        <p:spPr>
          <a:xfrm>
            <a:off x="4679950" y="26797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Your objects, your rules</a:t>
            </a:r>
            <a:endParaRPr lang="en-US" sz="2000" dirty="0"/>
          </a:p>
        </p:txBody>
      </p:sp>
      <p:sp>
        <p:nvSpPr>
          <p:cNvPr id="12" name="Text 9"/>
          <p:cNvSpPr txBox="1"/>
          <p:nvPr/>
        </p:nvSpPr>
        <p:spPr>
          <a:xfrm>
            <a:off x="4679950" y="3467100"/>
            <a:ext cx="2825750" cy="1333500"/>
          </a:xfrm>
          <a:prstGeom prst="rect">
            <a:avLst/>
          </a:prstGeom>
          <a:noFill/>
          <a:ln/>
        </p:spPr>
        <p:txBody>
          <a:bodyPr wrap="square" lIns="0" tIns="0" rIns="0" bIns="0" rtlCol="0" anchor="t"/>
          <a:lstStyle/>
          <a:p>
            <a:pPr indent="0" marL="0">
              <a:buNone/>
            </a:pPr>
            <a:r>
              <a:rPr lang="en-US" sz="1400" dirty="0">
                <a:solidFill>
                  <a:schemeClr val="bg2"/>
                </a:solidFill>
              </a:rPr>
              <a:t>Each rule picks what it watches: only people in the yard, only trucks at the gate. Every site gets its own rules.</a:t>
            </a:r>
            <a:endParaRPr lang="en-US" sz="1400" dirty="0"/>
          </a:p>
        </p:txBody>
      </p:sp>
      <p:sp>
        <p:nvSpPr>
          <p:cNvPr id="13" name="alert-card-03"/>
          <p:cNvSpPr/>
          <p:nvPr/>
        </p:nvSpPr>
        <p:spPr>
          <a:xfrm>
            <a:off x="7988300" y="2095500"/>
            <a:ext cx="3384550" cy="2794000"/>
          </a:xfrm>
          <a:prstGeom prst="roundRect">
            <a:avLst>
              <a:gd name="adj" fmla="val 4545"/>
            </a:avLst>
          </a:prstGeom>
          <a:solidFill>
            <a:schemeClr val="accent3"/>
          </a:solidFill>
          <a:ln w="19050">
            <a:solidFill>
              <a:schemeClr val="accent1"/>
            </a:solidFill>
            <a:prstDash val="solid"/>
          </a:ln>
        </p:spPr>
      </p:sp>
      <p:sp>
        <p:nvSpPr>
          <p:cNvPr id="14" name="Text 11"/>
          <p:cNvSpPr txBox="1"/>
          <p:nvPr/>
        </p:nvSpPr>
        <p:spPr>
          <a:xfrm>
            <a:off x="8267700" y="2374900"/>
            <a:ext cx="2825750" cy="2159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03</a:t>
            </a:r>
            <a:endParaRPr lang="en-US" sz="1200" dirty="0"/>
          </a:p>
        </p:txBody>
      </p:sp>
      <p:sp>
        <p:nvSpPr>
          <p:cNvPr id="15" name="Text 12"/>
          <p:cNvSpPr txBox="1"/>
          <p:nvPr/>
        </p:nvSpPr>
        <p:spPr>
          <a:xfrm>
            <a:off x="8267700" y="2679700"/>
            <a:ext cx="2825750" cy="698500"/>
          </a:xfrm>
          <a:prstGeom prst="rect">
            <a:avLst/>
          </a:prstGeom>
          <a:noFill/>
          <a:ln/>
        </p:spPr>
        <p:txBody>
          <a:bodyPr wrap="square" lIns="0" tIns="0" rIns="0" bIns="0" rtlCol="0" anchor="t"/>
          <a:lstStyle/>
          <a:p>
            <a:pPr indent="0" marL="0">
              <a:buNone/>
            </a:pPr>
            <a:r>
              <a:rPr lang="en-US" sz="2000" b="1" dirty="0">
                <a:solidFill>
                  <a:schemeClr val="bg1"/>
                </a:solidFill>
              </a:rPr>
              <a:t>Sent where you need it</a:t>
            </a:r>
            <a:endParaRPr lang="en-US" sz="2000" dirty="0"/>
          </a:p>
        </p:txBody>
      </p:sp>
      <p:sp>
        <p:nvSpPr>
          <p:cNvPr id="16" name="Text 13"/>
          <p:cNvSpPr txBox="1"/>
          <p:nvPr/>
        </p:nvSpPr>
        <p:spPr>
          <a:xfrm>
            <a:off x="8267700" y="3467100"/>
            <a:ext cx="2825750" cy="1333500"/>
          </a:xfrm>
          <a:prstGeom prst="rect">
            <a:avLst/>
          </a:prstGeom>
          <a:noFill/>
          <a:ln/>
        </p:spPr>
        <p:txBody>
          <a:bodyPr wrap="square" lIns="0" tIns="0" rIns="0" bIns="0" rtlCol="0" anchor="t"/>
          <a:lstStyle/>
          <a:p>
            <a:pPr indent="0" marL="0">
              <a:buNone/>
            </a:pPr>
            <a:r>
              <a:rPr lang="en-US" sz="1400" dirty="0">
                <a:solidFill>
                  <a:srgbClr val="C7D3EA"/>
                </a:solidFill>
              </a:rPr>
              <a:t>By email or straight into your own systems, with a snapshot of the moment. Repeats are held back, so nobody gets flooded.</a:t>
            </a:r>
            <a:endParaRPr lang="en-US" sz="1400" dirty="0"/>
          </a:p>
        </p:txBody>
      </p:sp>
      <p:sp>
        <p:nvSpPr>
          <p:cNvPr id="17" name="Text 14"/>
          <p:cNvSpPr txBox="1"/>
          <p:nvPr/>
        </p:nvSpPr>
        <p:spPr>
          <a:xfrm>
            <a:off x="812800" y="5143500"/>
            <a:ext cx="10566400" cy="571500"/>
          </a:xfrm>
          <a:prstGeom prst="rect">
            <a:avLst/>
          </a:prstGeom>
          <a:noFill/>
          <a:ln/>
        </p:spPr>
        <p:txBody>
          <a:bodyPr wrap="square" lIns="0" tIns="0" rIns="0" bIns="0" rtlCol="0" anchor="t"/>
          <a:lstStyle/>
          <a:p>
            <a:pPr indent="0" marL="0">
              <a:buNone/>
            </a:pPr>
            <a:r>
              <a:rPr lang="en-US" sz="1400" b="1" dirty="0">
                <a:solidFill>
                  <a:schemeClr val="bg1"/>
                </a:solidFill>
              </a:rPr>
              <a:t>Next: </a:t>
            </a:r>
            <a:pPr indent="0" marL="0">
              <a:buNone/>
            </a:pPr>
            <a:r>
              <a:rPr lang="en-US" sz="1400" dirty="0">
                <a:solidFill>
                  <a:schemeClr val="bg2"/>
                </a:solidFill>
              </a:rPr>
              <a:t>detectors trained for each customer's needs, such as fire and smoke, and alerts from a description ("a white van at the gate").</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PRIVATE BY DESIGN</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Your footage stays in the building.</a:t>
            </a:r>
            <a:endParaRPr lang="en-US" sz="3600" dirty="0"/>
          </a:p>
        </p:txBody>
      </p:sp>
      <p:sp>
        <p:nvSpPr>
          <p:cNvPr id="5" name="privacy-point-0"/>
          <p:cNvSpPr/>
          <p:nvPr/>
        </p:nvSpPr>
        <p:spPr>
          <a:xfrm>
            <a:off x="812800" y="2133600"/>
            <a:ext cx="228600" cy="228600"/>
          </a:xfrm>
          <a:prstGeom prst="ellipse">
            <a:avLst/>
          </a:prstGeom>
          <a:solidFill>
            <a:schemeClr val="accent3"/>
          </a:solidFill>
          <a:ln w="19050">
            <a:solidFill>
              <a:schemeClr val="accent2"/>
            </a:solidFill>
            <a:prstDash val="solid"/>
          </a:ln>
        </p:spPr>
      </p:sp>
      <p:sp>
        <p:nvSpPr>
          <p:cNvPr id="6" name="Text 3"/>
          <p:cNvSpPr txBox="1"/>
          <p:nvPr/>
        </p:nvSpPr>
        <p:spPr>
          <a:xfrm>
            <a:off x="1244600" y="2095500"/>
            <a:ext cx="4953000" cy="698500"/>
          </a:xfrm>
          <a:prstGeom prst="rect">
            <a:avLst/>
          </a:prstGeom>
          <a:noFill/>
          <a:ln/>
        </p:spPr>
        <p:txBody>
          <a:bodyPr wrap="square" lIns="0" tIns="0" rIns="0" bIns="0" rtlCol="0" anchor="t"/>
          <a:lstStyle/>
          <a:p>
            <a:pPr indent="0" marL="0">
              <a:buNone/>
            </a:pPr>
            <a:r>
              <a:rPr lang="en-US" sz="1500" b="1" dirty="0">
                <a:solidFill>
                  <a:schemeClr val="bg1"/>
                </a:solidFill>
              </a:rPr>
              <a:t>Runs on your own server.</a:t>
            </a:r>
            <a:pPr indent="0" marL="0">
              <a:buNone/>
            </a:pPr>
            <a:r>
              <a:rPr lang="en-US" sz="1500" dirty="0">
                <a:solidFill>
                  <a:schemeClr val="bg2"/>
                </a:solidFill>
              </a:rPr>
              <a:t> Cameras stay on your network.</a:t>
            </a:r>
            <a:endParaRPr lang="en-US" sz="1500" dirty="0"/>
          </a:p>
        </p:txBody>
      </p:sp>
      <p:sp>
        <p:nvSpPr>
          <p:cNvPr id="7" name="privacy-point-1"/>
          <p:cNvSpPr/>
          <p:nvPr/>
        </p:nvSpPr>
        <p:spPr>
          <a:xfrm>
            <a:off x="812800" y="2959100"/>
            <a:ext cx="228600" cy="228600"/>
          </a:xfrm>
          <a:prstGeom prst="ellipse">
            <a:avLst/>
          </a:prstGeom>
          <a:solidFill>
            <a:schemeClr val="accent3"/>
          </a:solidFill>
          <a:ln w="19050">
            <a:solidFill>
              <a:schemeClr val="accent2"/>
            </a:solidFill>
            <a:prstDash val="solid"/>
          </a:ln>
        </p:spPr>
      </p:sp>
      <p:sp>
        <p:nvSpPr>
          <p:cNvPr id="8" name="Text 5"/>
          <p:cNvSpPr txBox="1"/>
          <p:nvPr/>
        </p:nvSpPr>
        <p:spPr>
          <a:xfrm>
            <a:off x="1244600" y="2921000"/>
            <a:ext cx="4953000" cy="698500"/>
          </a:xfrm>
          <a:prstGeom prst="rect">
            <a:avLst/>
          </a:prstGeom>
          <a:noFill/>
          <a:ln/>
        </p:spPr>
        <p:txBody>
          <a:bodyPr wrap="square" lIns="0" tIns="0" rIns="0" bIns="0" rtlCol="0" anchor="t"/>
          <a:lstStyle/>
          <a:p>
            <a:pPr indent="0" marL="0">
              <a:buNone/>
            </a:pPr>
            <a:r>
              <a:rPr lang="en-US" sz="1500" b="1" dirty="0">
                <a:solidFill>
                  <a:schemeClr val="bg1"/>
                </a:solidFill>
              </a:rPr>
              <a:t>One memory per site, on your machine.</a:t>
            </a:r>
            <a:pPr indent="0" marL="0">
              <a:buNone/>
            </a:pPr>
            <a:r>
              <a:rPr lang="en-US" sz="1500" dirty="0">
                <a:solidFill>
                  <a:schemeClr val="bg2"/>
                </a:solidFill>
              </a:rPr>
              <a:t> You set how long it is kept: 30 days by default.</a:t>
            </a:r>
            <a:endParaRPr lang="en-US" sz="1500" dirty="0"/>
          </a:p>
        </p:txBody>
      </p:sp>
      <p:sp>
        <p:nvSpPr>
          <p:cNvPr id="9" name="privacy-point-2"/>
          <p:cNvSpPr/>
          <p:nvPr/>
        </p:nvSpPr>
        <p:spPr>
          <a:xfrm>
            <a:off x="812800" y="3784600"/>
            <a:ext cx="228600" cy="228600"/>
          </a:xfrm>
          <a:prstGeom prst="ellipse">
            <a:avLst/>
          </a:prstGeom>
          <a:solidFill>
            <a:schemeClr val="accent3"/>
          </a:solidFill>
          <a:ln w="19050">
            <a:solidFill>
              <a:schemeClr val="accent2"/>
            </a:solidFill>
            <a:prstDash val="solid"/>
          </a:ln>
        </p:spPr>
      </p:sp>
      <p:sp>
        <p:nvSpPr>
          <p:cNvPr id="10" name="Text 7"/>
          <p:cNvSpPr txBox="1"/>
          <p:nvPr/>
        </p:nvSpPr>
        <p:spPr>
          <a:xfrm>
            <a:off x="1244600" y="3746500"/>
            <a:ext cx="4953000" cy="698500"/>
          </a:xfrm>
          <a:prstGeom prst="rect">
            <a:avLst/>
          </a:prstGeom>
          <a:noFill/>
          <a:ln/>
        </p:spPr>
        <p:txBody>
          <a:bodyPr wrap="square" lIns="0" tIns="0" rIns="0" bIns="0" rtlCol="0" anchor="t"/>
          <a:lstStyle/>
          <a:p>
            <a:pPr indent="0" marL="0">
              <a:buNone/>
            </a:pPr>
            <a:r>
              <a:rPr lang="en-US" sz="1500" b="1" dirty="0">
                <a:solidFill>
                  <a:schemeClr val="bg1"/>
                </a:solidFill>
              </a:rPr>
              <a:t>The language model runs locally by default.</a:t>
            </a:r>
            <a:pPr indent="0" marL="0">
              <a:buNone/>
            </a:pPr>
            <a:r>
              <a:rPr lang="en-US" sz="1500" dirty="0">
                <a:solidFill>
                  <a:schemeClr val="bg2"/>
                </a:solidFill>
              </a:rPr>
              <a:t> Nothing leaves the site.</a:t>
            </a:r>
            <a:endParaRPr lang="en-US" sz="1500" dirty="0"/>
          </a:p>
        </p:txBody>
      </p:sp>
      <p:sp>
        <p:nvSpPr>
          <p:cNvPr id="11" name="privacy-point-3"/>
          <p:cNvSpPr/>
          <p:nvPr/>
        </p:nvSpPr>
        <p:spPr>
          <a:xfrm>
            <a:off x="812800" y="4610100"/>
            <a:ext cx="228600" cy="228600"/>
          </a:xfrm>
          <a:prstGeom prst="ellipse">
            <a:avLst/>
          </a:prstGeom>
          <a:solidFill>
            <a:schemeClr val="accent3"/>
          </a:solidFill>
          <a:ln w="19050">
            <a:solidFill>
              <a:schemeClr val="accent2"/>
            </a:solidFill>
            <a:prstDash val="solid"/>
          </a:ln>
        </p:spPr>
      </p:sp>
      <p:sp>
        <p:nvSpPr>
          <p:cNvPr id="12" name="Text 9"/>
          <p:cNvSpPr txBox="1"/>
          <p:nvPr/>
        </p:nvSpPr>
        <p:spPr>
          <a:xfrm>
            <a:off x="1244600" y="4572000"/>
            <a:ext cx="4953000" cy="698500"/>
          </a:xfrm>
          <a:prstGeom prst="rect">
            <a:avLst/>
          </a:prstGeom>
          <a:noFill/>
          <a:ln/>
        </p:spPr>
        <p:txBody>
          <a:bodyPr wrap="square" lIns="0" tIns="0" rIns="0" bIns="0" rtlCol="0" anchor="t"/>
          <a:lstStyle/>
          <a:p>
            <a:pPr indent="0" marL="0">
              <a:buNone/>
            </a:pPr>
            <a:r>
              <a:rPr lang="en-US" sz="1500" b="1" dirty="0">
                <a:solidFill>
                  <a:schemeClr val="bg1"/>
                </a:solidFill>
              </a:rPr>
              <a:t>Face recognition is off</a:t>
            </a:r>
            <a:pPr indent="0" marL="0">
              <a:buNone/>
            </a:pPr>
            <a:r>
              <a:rPr lang="en-US" sz="1500" dirty="0">
                <a:solidFill>
                  <a:schemeClr val="bg2"/>
                </a:solidFill>
              </a:rPr>
              <a:t> unless you approve it.</a:t>
            </a:r>
            <a:endParaRPr lang="en-US" sz="1500" dirty="0"/>
          </a:p>
        </p:txBody>
      </p:sp>
      <p:sp>
        <p:nvSpPr>
          <p:cNvPr id="13" name="Text 10"/>
          <p:cNvSpPr txBox="1"/>
          <p:nvPr/>
        </p:nvSpPr>
        <p:spPr>
          <a:xfrm>
            <a:off x="6807200" y="2095500"/>
            <a:ext cx="4572000" cy="228600"/>
          </a:xfrm>
          <a:prstGeom prst="rect">
            <a:avLst/>
          </a:prstGeom>
          <a:noFill/>
          <a:ln/>
        </p:spPr>
        <p:txBody>
          <a:bodyPr wrap="square" lIns="0" tIns="0" rIns="0" bIns="0" rtlCol="0" anchor="t"/>
          <a:lstStyle/>
          <a:p>
            <a:pPr indent="0" marL="0">
              <a:buNone/>
            </a:pPr>
            <a:r>
              <a:rPr lang="en-US" sz="1200" spc="100" kern="0" dirty="0">
                <a:solidFill>
                  <a:srgbClr val="7E8BA6"/>
                </a:solidFill>
                <a:latin typeface="Consolas" pitchFamily="34" charset="0"/>
                <a:ea typeface="Consolas" pitchFamily="34" charset="-122"/>
                <a:cs typeface="Consolas" pitchFamily="34" charset="-120"/>
              </a:rPr>
              <a:t>YOU CHOOSE THE MODEL</a:t>
            </a:r>
            <a:endParaRPr lang="en-US" sz="1200" dirty="0"/>
          </a:p>
        </p:txBody>
      </p:sp>
      <p:sp>
        <p:nvSpPr>
          <p:cNvPr id="14" name="Local · default"/>
          <p:cNvSpPr/>
          <p:nvPr/>
        </p:nvSpPr>
        <p:spPr>
          <a:xfrm>
            <a:off x="6807200" y="2425700"/>
            <a:ext cx="4572000" cy="952500"/>
          </a:xfrm>
          <a:prstGeom prst="roundRect">
            <a:avLst>
              <a:gd name="adj" fmla="val 13333"/>
            </a:avLst>
          </a:prstGeom>
          <a:solidFill>
            <a:schemeClr val="accent3"/>
          </a:solidFill>
          <a:ln w="19050">
            <a:solidFill>
              <a:schemeClr val="accent1"/>
            </a:solidFill>
            <a:prstDash val="solid"/>
          </a:ln>
        </p:spPr>
      </p:sp>
      <p:sp>
        <p:nvSpPr>
          <p:cNvPr id="15" name="Text 12"/>
          <p:cNvSpPr txBox="1"/>
          <p:nvPr/>
        </p:nvSpPr>
        <p:spPr>
          <a:xfrm>
            <a:off x="7010400" y="2565400"/>
            <a:ext cx="4165600" cy="279400"/>
          </a:xfrm>
          <a:prstGeom prst="rect">
            <a:avLst/>
          </a:prstGeom>
          <a:noFill/>
          <a:ln/>
        </p:spPr>
        <p:txBody>
          <a:bodyPr wrap="square" lIns="0" tIns="0" rIns="0" bIns="0" rtlCol="0" anchor="t"/>
          <a:lstStyle/>
          <a:p>
            <a:pPr indent="0" marL="0">
              <a:buNone/>
            </a:pPr>
            <a:r>
              <a:rPr lang="en-US" sz="1600" b="1" dirty="0">
                <a:solidFill>
                  <a:schemeClr val="bg1"/>
                </a:solidFill>
              </a:rPr>
              <a:t>Local · default</a:t>
            </a:r>
            <a:endParaRPr lang="en-US" sz="1600" dirty="0"/>
          </a:p>
        </p:txBody>
      </p:sp>
      <p:sp>
        <p:nvSpPr>
          <p:cNvPr id="16" name="Text 13"/>
          <p:cNvSpPr txBox="1"/>
          <p:nvPr/>
        </p:nvSpPr>
        <p:spPr>
          <a:xfrm>
            <a:off x="7010400" y="2870200"/>
            <a:ext cx="4165600" cy="444500"/>
          </a:xfrm>
          <a:prstGeom prst="rect">
            <a:avLst/>
          </a:prstGeom>
          <a:noFill/>
          <a:ln/>
        </p:spPr>
        <p:txBody>
          <a:bodyPr wrap="square" lIns="0" tIns="0" rIns="0" bIns="0" rtlCol="0" anchor="t"/>
          <a:lstStyle/>
          <a:p>
            <a:pPr indent="0" marL="0">
              <a:buNone/>
            </a:pPr>
            <a:r>
              <a:rPr lang="en-US" sz="1300" dirty="0">
                <a:solidFill>
                  <a:srgbClr val="C7D3EA"/>
                </a:solidFill>
              </a:rPr>
              <a:t>Runs on the server's CPU. Nothing leaves the site.</a:t>
            </a:r>
            <a:endParaRPr lang="en-US" sz="1300" dirty="0"/>
          </a:p>
        </p:txBody>
      </p:sp>
      <p:sp>
        <p:nvSpPr>
          <p:cNvPr id="17" name="Local, larger"/>
          <p:cNvSpPr/>
          <p:nvPr/>
        </p:nvSpPr>
        <p:spPr>
          <a:xfrm>
            <a:off x="6807200" y="3479800"/>
            <a:ext cx="4572000" cy="952500"/>
          </a:xfrm>
          <a:prstGeom prst="roundRect">
            <a:avLst>
              <a:gd name="adj" fmla="val 13333"/>
            </a:avLst>
          </a:prstGeom>
          <a:solidFill>
            <a:schemeClr val="accent4"/>
          </a:solidFill>
          <a:ln w="9525">
            <a:solidFill>
              <a:schemeClr val="accent5"/>
            </a:solidFill>
            <a:prstDash val="solid"/>
          </a:ln>
        </p:spPr>
      </p:sp>
      <p:sp>
        <p:nvSpPr>
          <p:cNvPr id="18" name="Text 15"/>
          <p:cNvSpPr txBox="1"/>
          <p:nvPr/>
        </p:nvSpPr>
        <p:spPr>
          <a:xfrm>
            <a:off x="7010400" y="3619500"/>
            <a:ext cx="4165600" cy="279400"/>
          </a:xfrm>
          <a:prstGeom prst="rect">
            <a:avLst/>
          </a:prstGeom>
          <a:noFill/>
          <a:ln/>
        </p:spPr>
        <p:txBody>
          <a:bodyPr wrap="square" lIns="0" tIns="0" rIns="0" bIns="0" rtlCol="0" anchor="t"/>
          <a:lstStyle/>
          <a:p>
            <a:pPr indent="0" marL="0">
              <a:buNone/>
            </a:pPr>
            <a:r>
              <a:rPr lang="en-US" sz="1600" b="1" dirty="0">
                <a:solidFill>
                  <a:schemeClr val="bg1"/>
                </a:solidFill>
              </a:rPr>
              <a:t>Local, larger</a:t>
            </a:r>
            <a:endParaRPr lang="en-US" sz="1600" dirty="0"/>
          </a:p>
        </p:txBody>
      </p:sp>
      <p:sp>
        <p:nvSpPr>
          <p:cNvPr id="19" name="Text 16"/>
          <p:cNvSpPr txBox="1"/>
          <p:nvPr/>
        </p:nvSpPr>
        <p:spPr>
          <a:xfrm>
            <a:off x="7010400" y="3924300"/>
            <a:ext cx="4165600" cy="444500"/>
          </a:xfrm>
          <a:prstGeom prst="rect">
            <a:avLst/>
          </a:prstGeom>
          <a:noFill/>
          <a:ln/>
        </p:spPr>
        <p:txBody>
          <a:bodyPr wrap="square" lIns="0" tIns="0" rIns="0" bIns="0" rtlCol="0" anchor="t"/>
          <a:lstStyle/>
          <a:p>
            <a:pPr indent="0" marL="0">
              <a:buNone/>
            </a:pPr>
            <a:r>
              <a:rPr lang="en-US" sz="1300" dirty="0">
                <a:solidFill>
                  <a:schemeClr val="bg2"/>
                </a:solidFill>
              </a:rPr>
              <a:t>Better answers with about 20 GB of RAM or a GPU. Still on site.</a:t>
            </a:r>
            <a:endParaRPr lang="en-US" sz="1300" dirty="0"/>
          </a:p>
        </p:txBody>
      </p:sp>
      <p:sp>
        <p:nvSpPr>
          <p:cNvPr id="20" name="Cloud · only if you opt in"/>
          <p:cNvSpPr/>
          <p:nvPr/>
        </p:nvSpPr>
        <p:spPr>
          <a:xfrm>
            <a:off x="6807200" y="4533900"/>
            <a:ext cx="4572000" cy="952500"/>
          </a:xfrm>
          <a:prstGeom prst="roundRect">
            <a:avLst>
              <a:gd name="adj" fmla="val 13333"/>
            </a:avLst>
          </a:prstGeom>
          <a:solidFill>
            <a:schemeClr val="accent4"/>
          </a:solidFill>
          <a:ln w="9525">
            <a:solidFill>
              <a:schemeClr val="accent5"/>
            </a:solidFill>
            <a:prstDash val="solid"/>
          </a:ln>
        </p:spPr>
      </p:sp>
      <p:sp>
        <p:nvSpPr>
          <p:cNvPr id="21" name="Text 18"/>
          <p:cNvSpPr txBox="1"/>
          <p:nvPr/>
        </p:nvSpPr>
        <p:spPr>
          <a:xfrm>
            <a:off x="7010400" y="4673600"/>
            <a:ext cx="4165600" cy="279400"/>
          </a:xfrm>
          <a:prstGeom prst="rect">
            <a:avLst/>
          </a:prstGeom>
          <a:noFill/>
          <a:ln/>
        </p:spPr>
        <p:txBody>
          <a:bodyPr wrap="square" lIns="0" tIns="0" rIns="0" bIns="0" rtlCol="0" anchor="t"/>
          <a:lstStyle/>
          <a:p>
            <a:pPr indent="0" marL="0">
              <a:buNone/>
            </a:pPr>
            <a:r>
              <a:rPr lang="en-US" sz="1600" b="1" dirty="0">
                <a:solidFill>
                  <a:schemeClr val="bg1"/>
                </a:solidFill>
              </a:rPr>
              <a:t>Cloud · only if you opt in</a:t>
            </a:r>
            <a:endParaRPr lang="en-US" sz="1600" dirty="0"/>
          </a:p>
        </p:txBody>
      </p:sp>
      <p:sp>
        <p:nvSpPr>
          <p:cNvPr id="22" name="Text 19"/>
          <p:cNvSpPr txBox="1"/>
          <p:nvPr/>
        </p:nvSpPr>
        <p:spPr>
          <a:xfrm>
            <a:off x="7010400" y="4978400"/>
            <a:ext cx="4165600" cy="444500"/>
          </a:xfrm>
          <a:prstGeom prst="rect">
            <a:avLst/>
          </a:prstGeom>
          <a:noFill/>
          <a:ln/>
        </p:spPr>
        <p:txBody>
          <a:bodyPr wrap="square" lIns="0" tIns="0" rIns="0" bIns="0" rtlCol="0" anchor="t"/>
          <a:lstStyle/>
          <a:p>
            <a:pPr indent="0" marL="0">
              <a:buNone/>
            </a:pPr>
            <a:r>
              <a:rPr lang="en-US" sz="1300" dirty="0">
                <a:solidFill>
                  <a:schemeClr val="bg2"/>
                </a:solidFill>
              </a:rPr>
              <a:t>Sends the question and text search results. Never images or video.</a:t>
            </a:r>
            <a:endParaRPr lang="en-US" sz="13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ON SITE</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One server. No GPU required.</a:t>
            </a:r>
            <a:endParaRPr lang="en-US" sz="3600" dirty="0"/>
          </a:p>
        </p:txBody>
      </p:sp>
      <p:sp>
        <p:nvSpPr>
          <p:cNvPr id="5" name="cameras"/>
          <p:cNvSpPr/>
          <p:nvPr/>
        </p:nvSpPr>
        <p:spPr>
          <a:xfrm>
            <a:off x="812800" y="2286000"/>
            <a:ext cx="2032000" cy="1905000"/>
          </a:xfrm>
          <a:prstGeom prst="roundRect">
            <a:avLst>
              <a:gd name="adj" fmla="val 6667"/>
            </a:avLst>
          </a:prstGeom>
          <a:solidFill>
            <a:schemeClr val="accent4"/>
          </a:solidFill>
          <a:ln w="9525">
            <a:solidFill>
              <a:schemeClr val="accent5"/>
            </a:solidFill>
            <a:prstDash val="solid"/>
          </a:ln>
        </p:spPr>
      </p:sp>
      <p:sp>
        <p:nvSpPr>
          <p:cNvPr id="6" name="Text 3"/>
          <p:cNvSpPr txBox="1"/>
          <p:nvPr/>
        </p:nvSpPr>
        <p:spPr>
          <a:xfrm>
            <a:off x="1016000" y="2489200"/>
            <a:ext cx="1625600" cy="304800"/>
          </a:xfrm>
          <a:prstGeom prst="rect">
            <a:avLst/>
          </a:prstGeom>
          <a:noFill/>
          <a:ln/>
        </p:spPr>
        <p:txBody>
          <a:bodyPr wrap="square" lIns="0" tIns="0" rIns="0" bIns="0" rtlCol="0" anchor="t"/>
          <a:lstStyle/>
          <a:p>
            <a:pPr indent="0" marL="0">
              <a:buNone/>
            </a:pPr>
            <a:r>
              <a:rPr lang="en-US" sz="1600" b="1" dirty="0">
                <a:solidFill>
                  <a:schemeClr val="bg1"/>
                </a:solidFill>
              </a:rPr>
              <a:t>IP cameras</a:t>
            </a:r>
            <a:endParaRPr lang="en-US" sz="1600" dirty="0"/>
          </a:p>
        </p:txBody>
      </p:sp>
      <p:sp>
        <p:nvSpPr>
          <p:cNvPr id="7" name="Text 4"/>
          <p:cNvSpPr txBox="1"/>
          <p:nvPr/>
        </p:nvSpPr>
        <p:spPr>
          <a:xfrm>
            <a:off x="1016000" y="2857500"/>
            <a:ext cx="1625600" cy="1206500"/>
          </a:xfrm>
          <a:prstGeom prst="rect">
            <a:avLst/>
          </a:prstGeom>
          <a:noFill/>
          <a:ln/>
        </p:spPr>
        <p:txBody>
          <a:bodyPr wrap="square" lIns="0" tIns="0" rIns="0" bIns="0" rtlCol="0" anchor="t"/>
          <a:lstStyle/>
          <a:p>
            <a:pPr indent="0" marL="0">
              <a:buNone/>
            </a:pPr>
            <a:r>
              <a:rPr lang="en-US" sz="1200" dirty="0">
                <a:solidFill>
                  <a:schemeClr val="bg2"/>
                </a:solidFill>
              </a:rPr>
              <a:t>Light stream for analysis. Full-quality stream recorded untouched.</a:t>
            </a:r>
            <a:endParaRPr lang="en-US" sz="1200" dirty="0"/>
          </a:p>
        </p:txBody>
      </p:sp>
      <p:sp>
        <p:nvSpPr>
          <p:cNvPr id="8" name="site-server"/>
          <p:cNvSpPr/>
          <p:nvPr/>
        </p:nvSpPr>
        <p:spPr>
          <a:xfrm>
            <a:off x="3302000" y="2032000"/>
            <a:ext cx="5842000" cy="2413000"/>
          </a:xfrm>
          <a:prstGeom prst="roundRect">
            <a:avLst>
              <a:gd name="adj" fmla="val 5263"/>
            </a:avLst>
          </a:prstGeom>
          <a:solidFill>
            <a:schemeClr val="accent3"/>
          </a:solidFill>
          <a:ln w="19050">
            <a:solidFill>
              <a:schemeClr val="accent1"/>
            </a:solidFill>
            <a:prstDash val="solid"/>
          </a:ln>
        </p:spPr>
      </p:sp>
      <p:sp>
        <p:nvSpPr>
          <p:cNvPr id="9" name="Text 6"/>
          <p:cNvSpPr txBox="1"/>
          <p:nvPr/>
        </p:nvSpPr>
        <p:spPr>
          <a:xfrm>
            <a:off x="3505200" y="2209800"/>
            <a:ext cx="3810000" cy="228600"/>
          </a:xfrm>
          <a:prstGeom prst="rect">
            <a:avLst/>
          </a:prstGeom>
          <a:noFill/>
          <a:ln/>
        </p:spPr>
        <p:txBody>
          <a:bodyPr wrap="square" lIns="0" tIns="0" rIns="0" bIns="0" rtlCol="0" anchor="t"/>
          <a:lstStyle/>
          <a:p>
            <a:pPr indent="0" marL="0">
              <a:buNone/>
            </a:pPr>
            <a:r>
              <a:rPr lang="en-US" sz="1200" spc="100" kern="0" dirty="0">
                <a:solidFill>
                  <a:schemeClr val="accent2"/>
                </a:solidFill>
                <a:latin typeface="Consolas" pitchFamily="34" charset="0"/>
                <a:ea typeface="Consolas" pitchFamily="34" charset="-122"/>
                <a:cs typeface="Consolas" pitchFamily="34" charset="-120"/>
              </a:rPr>
              <a:t>SITE SERVER</a:t>
            </a:r>
            <a:endParaRPr lang="en-US" sz="1200" dirty="0"/>
          </a:p>
        </p:txBody>
      </p:sp>
      <p:sp>
        <p:nvSpPr>
          <p:cNvPr id="10" name="chip-0"/>
          <p:cNvSpPr/>
          <p:nvPr/>
        </p:nvSpPr>
        <p:spPr>
          <a:xfrm>
            <a:off x="3505200" y="2540000"/>
            <a:ext cx="1587500" cy="762000"/>
          </a:xfrm>
          <a:prstGeom prst="roundRect">
            <a:avLst>
              <a:gd name="adj" fmla="val 10000"/>
            </a:avLst>
          </a:prstGeom>
          <a:solidFill>
            <a:srgbClr val="1B2F6E"/>
          </a:solidFill>
          <a:ln w="12700">
            <a:solidFill>
              <a:srgbClr val="1B2F6E"/>
            </a:solidFill>
            <a:prstDash val="solid"/>
          </a:ln>
        </p:spPr>
      </p:sp>
      <p:sp>
        <p:nvSpPr>
          <p:cNvPr id="11" name="Text 8"/>
          <p:cNvSpPr txBox="1"/>
          <p:nvPr/>
        </p:nvSpPr>
        <p:spPr>
          <a:xfrm>
            <a:off x="3632200" y="2540000"/>
            <a:ext cx="1333500" cy="762000"/>
          </a:xfrm>
          <a:prstGeom prst="rect">
            <a:avLst/>
          </a:prstGeom>
          <a:noFill/>
          <a:ln/>
        </p:spPr>
        <p:txBody>
          <a:bodyPr wrap="square" lIns="0" tIns="0" rIns="0" bIns="0" rtlCol="0" anchor="ctr"/>
          <a:lstStyle/>
          <a:p>
            <a:pPr indent="0" marL="0">
              <a:buNone/>
            </a:pPr>
            <a:r>
              <a:rPr lang="en-US" sz="1300" dirty="0">
                <a:solidFill>
                  <a:schemeClr val="bg1"/>
                </a:solidFill>
              </a:rPr>
              <a:t>Detect and track</a:t>
            </a:r>
            <a:endParaRPr lang="en-US" sz="1300" dirty="0"/>
          </a:p>
        </p:txBody>
      </p:sp>
      <p:sp>
        <p:nvSpPr>
          <p:cNvPr id="12" name="chip-arrow-0"/>
          <p:cNvSpPr/>
          <p:nvPr/>
        </p:nvSpPr>
        <p:spPr>
          <a:xfrm>
            <a:off x="5118100" y="2921000"/>
            <a:ext cx="203200" cy="0"/>
          </a:xfrm>
          <a:prstGeom prst="line">
            <a:avLst/>
          </a:prstGeom>
          <a:noFill/>
          <a:ln w="25400">
            <a:solidFill>
              <a:schemeClr val="accent2"/>
            </a:solidFill>
            <a:prstDash val="solid"/>
            <a:tailEnd type="triangle"/>
          </a:ln>
        </p:spPr>
      </p:sp>
      <p:sp>
        <p:nvSpPr>
          <p:cNvPr id="13" name="chip-1"/>
          <p:cNvSpPr/>
          <p:nvPr/>
        </p:nvSpPr>
        <p:spPr>
          <a:xfrm>
            <a:off x="5346700" y="2540000"/>
            <a:ext cx="1587500" cy="762000"/>
          </a:xfrm>
          <a:prstGeom prst="roundRect">
            <a:avLst>
              <a:gd name="adj" fmla="val 10000"/>
            </a:avLst>
          </a:prstGeom>
          <a:solidFill>
            <a:srgbClr val="1B2F6E"/>
          </a:solidFill>
          <a:ln w="12700">
            <a:solidFill>
              <a:srgbClr val="1B2F6E"/>
            </a:solidFill>
            <a:prstDash val="solid"/>
          </a:ln>
        </p:spPr>
      </p:sp>
      <p:sp>
        <p:nvSpPr>
          <p:cNvPr id="14" name="Text 11"/>
          <p:cNvSpPr txBox="1"/>
          <p:nvPr/>
        </p:nvSpPr>
        <p:spPr>
          <a:xfrm>
            <a:off x="5473700" y="2540000"/>
            <a:ext cx="1333500" cy="762000"/>
          </a:xfrm>
          <a:prstGeom prst="rect">
            <a:avLst/>
          </a:prstGeom>
          <a:noFill/>
          <a:ln/>
        </p:spPr>
        <p:txBody>
          <a:bodyPr wrap="square" lIns="0" tIns="0" rIns="0" bIns="0" rtlCol="0" anchor="ctr"/>
          <a:lstStyle/>
          <a:p>
            <a:pPr indent="0" marL="0">
              <a:buNone/>
            </a:pPr>
            <a:r>
              <a:rPr lang="en-US" sz="1300" dirty="0">
                <a:solidFill>
                  <a:schemeClr val="bg1"/>
                </a:solidFill>
              </a:rPr>
              <a:t>Describe each sighting</a:t>
            </a:r>
            <a:endParaRPr lang="en-US" sz="1300" dirty="0"/>
          </a:p>
        </p:txBody>
      </p:sp>
      <p:sp>
        <p:nvSpPr>
          <p:cNvPr id="15" name="chip-arrow-1"/>
          <p:cNvSpPr/>
          <p:nvPr/>
        </p:nvSpPr>
        <p:spPr>
          <a:xfrm>
            <a:off x="6959600" y="2921000"/>
            <a:ext cx="203200" cy="0"/>
          </a:xfrm>
          <a:prstGeom prst="line">
            <a:avLst/>
          </a:prstGeom>
          <a:noFill/>
          <a:ln w="25400">
            <a:solidFill>
              <a:schemeClr val="accent2"/>
            </a:solidFill>
            <a:prstDash val="solid"/>
            <a:tailEnd type="triangle"/>
          </a:ln>
        </p:spPr>
      </p:sp>
      <p:sp>
        <p:nvSpPr>
          <p:cNvPr id="16" name="chip-2"/>
          <p:cNvSpPr/>
          <p:nvPr/>
        </p:nvSpPr>
        <p:spPr>
          <a:xfrm>
            <a:off x="7188200" y="2540000"/>
            <a:ext cx="1587500" cy="762000"/>
          </a:xfrm>
          <a:prstGeom prst="roundRect">
            <a:avLst>
              <a:gd name="adj" fmla="val 10000"/>
            </a:avLst>
          </a:prstGeom>
          <a:solidFill>
            <a:srgbClr val="1B2F6E"/>
          </a:solidFill>
          <a:ln w="12700">
            <a:solidFill>
              <a:srgbClr val="1B2F6E"/>
            </a:solidFill>
            <a:prstDash val="solid"/>
          </a:ln>
        </p:spPr>
      </p:sp>
      <p:sp>
        <p:nvSpPr>
          <p:cNvPr id="17" name="Text 14"/>
          <p:cNvSpPr txBox="1"/>
          <p:nvPr/>
        </p:nvSpPr>
        <p:spPr>
          <a:xfrm>
            <a:off x="7315200" y="2540000"/>
            <a:ext cx="1333500" cy="762000"/>
          </a:xfrm>
          <a:prstGeom prst="rect">
            <a:avLst/>
          </a:prstGeom>
          <a:noFill/>
          <a:ln/>
        </p:spPr>
        <p:txBody>
          <a:bodyPr wrap="square" lIns="0" tIns="0" rIns="0" bIns="0" rtlCol="0" anchor="ctr"/>
          <a:lstStyle/>
          <a:p>
            <a:pPr indent="0" marL="0">
              <a:buNone/>
            </a:pPr>
            <a:r>
              <a:rPr lang="en-US" sz="1300" dirty="0">
                <a:solidFill>
                  <a:schemeClr val="bg1"/>
                </a:solidFill>
              </a:rPr>
              <a:t>Memory store</a:t>
            </a:r>
            <a:endParaRPr lang="en-US" sz="1300" dirty="0"/>
          </a:p>
        </p:txBody>
      </p:sp>
      <p:sp>
        <p:nvSpPr>
          <p:cNvPr id="18" name="chip-llm"/>
          <p:cNvSpPr/>
          <p:nvPr/>
        </p:nvSpPr>
        <p:spPr>
          <a:xfrm>
            <a:off x="3505200" y="3479800"/>
            <a:ext cx="5435600" cy="762000"/>
          </a:xfrm>
          <a:prstGeom prst="roundRect">
            <a:avLst>
              <a:gd name="adj" fmla="val 10000"/>
            </a:avLst>
          </a:prstGeom>
          <a:solidFill>
            <a:srgbClr val="1B2F6E"/>
          </a:solidFill>
          <a:ln w="12700">
            <a:solidFill>
              <a:srgbClr val="1B2F6E"/>
            </a:solidFill>
            <a:prstDash val="solid"/>
          </a:ln>
        </p:spPr>
      </p:sp>
      <p:sp>
        <p:nvSpPr>
          <p:cNvPr id="19" name="Text 16"/>
          <p:cNvSpPr txBox="1"/>
          <p:nvPr/>
        </p:nvSpPr>
        <p:spPr>
          <a:xfrm>
            <a:off x="3632200" y="3479800"/>
            <a:ext cx="5181600" cy="762000"/>
          </a:xfrm>
          <a:prstGeom prst="rect">
            <a:avLst/>
          </a:prstGeom>
          <a:noFill/>
          <a:ln/>
        </p:spPr>
        <p:txBody>
          <a:bodyPr wrap="square" lIns="0" tIns="0" rIns="0" bIns="0" rtlCol="0" anchor="ctr"/>
          <a:lstStyle/>
          <a:p>
            <a:pPr indent="0" marL="0">
              <a:buNone/>
            </a:pPr>
            <a:r>
              <a:rPr lang="en-US" sz="1300" dirty="0">
                <a:solidFill>
                  <a:schemeClr val="bg1"/>
                </a:solidFill>
              </a:rPr>
              <a:t>Local language model: turns questions into lookups and writes the answer</a:t>
            </a:r>
            <a:endParaRPr lang="en-US" sz="1300" dirty="0"/>
          </a:p>
        </p:txBody>
      </p:sp>
      <p:sp>
        <p:nvSpPr>
          <p:cNvPr id="20" name="team"/>
          <p:cNvSpPr/>
          <p:nvPr/>
        </p:nvSpPr>
        <p:spPr>
          <a:xfrm>
            <a:off x="9601200" y="2286000"/>
            <a:ext cx="1778000" cy="1905000"/>
          </a:xfrm>
          <a:prstGeom prst="roundRect">
            <a:avLst>
              <a:gd name="adj" fmla="val 7143"/>
            </a:avLst>
          </a:prstGeom>
          <a:solidFill>
            <a:schemeClr val="accent4"/>
          </a:solidFill>
          <a:ln w="9525">
            <a:solidFill>
              <a:schemeClr val="accent5"/>
            </a:solidFill>
            <a:prstDash val="solid"/>
          </a:ln>
        </p:spPr>
      </p:sp>
      <p:sp>
        <p:nvSpPr>
          <p:cNvPr id="21" name="Text 18"/>
          <p:cNvSpPr txBox="1"/>
          <p:nvPr/>
        </p:nvSpPr>
        <p:spPr>
          <a:xfrm>
            <a:off x="9804400" y="2489200"/>
            <a:ext cx="1371600" cy="304800"/>
          </a:xfrm>
          <a:prstGeom prst="rect">
            <a:avLst/>
          </a:prstGeom>
          <a:noFill/>
          <a:ln/>
        </p:spPr>
        <p:txBody>
          <a:bodyPr wrap="square" lIns="0" tIns="0" rIns="0" bIns="0" rtlCol="0" anchor="t"/>
          <a:lstStyle/>
          <a:p>
            <a:pPr indent="0" marL="0">
              <a:buNone/>
            </a:pPr>
            <a:r>
              <a:rPr lang="en-US" sz="1600" b="1" dirty="0">
                <a:solidFill>
                  <a:schemeClr val="bg1"/>
                </a:solidFill>
              </a:rPr>
              <a:t>Your team</a:t>
            </a:r>
            <a:endParaRPr lang="en-US" sz="1600" dirty="0"/>
          </a:p>
        </p:txBody>
      </p:sp>
      <p:sp>
        <p:nvSpPr>
          <p:cNvPr id="22" name="Text 19"/>
          <p:cNvSpPr txBox="1"/>
          <p:nvPr/>
        </p:nvSpPr>
        <p:spPr>
          <a:xfrm>
            <a:off x="9804400" y="2857500"/>
            <a:ext cx="1371600" cy="1206500"/>
          </a:xfrm>
          <a:prstGeom prst="rect">
            <a:avLst/>
          </a:prstGeom>
          <a:noFill/>
          <a:ln/>
        </p:spPr>
        <p:txBody>
          <a:bodyPr wrap="square" lIns="0" tIns="0" rIns="0" bIns="0" rtlCol="0" anchor="t"/>
          <a:lstStyle/>
          <a:p>
            <a:pPr indent="0" marL="0">
              <a:buNone/>
            </a:pPr>
            <a:r>
              <a:rPr lang="en-US" sz="1200" dirty="0">
                <a:solidFill>
                  <a:schemeClr val="bg2"/>
                </a:solidFill>
              </a:rPr>
              <a:t>Asks in chat, sees the evidence.</a:t>
            </a:r>
            <a:endParaRPr lang="en-US" sz="1200" dirty="0"/>
          </a:p>
        </p:txBody>
      </p:sp>
      <p:sp>
        <p:nvSpPr>
          <p:cNvPr id="23" name="arrow-in"/>
          <p:cNvSpPr/>
          <p:nvPr/>
        </p:nvSpPr>
        <p:spPr>
          <a:xfrm>
            <a:off x="2895600" y="3238500"/>
            <a:ext cx="355600" cy="0"/>
          </a:xfrm>
          <a:prstGeom prst="line">
            <a:avLst/>
          </a:prstGeom>
          <a:noFill/>
          <a:ln w="38100">
            <a:solidFill>
              <a:schemeClr val="accent1"/>
            </a:solidFill>
            <a:prstDash val="solid"/>
            <a:tailEnd type="triangle"/>
          </a:ln>
        </p:spPr>
      </p:sp>
      <p:sp>
        <p:nvSpPr>
          <p:cNvPr id="24" name="arrow-out"/>
          <p:cNvSpPr/>
          <p:nvPr/>
        </p:nvSpPr>
        <p:spPr>
          <a:xfrm>
            <a:off x="9194800" y="3238500"/>
            <a:ext cx="355600" cy="0"/>
          </a:xfrm>
          <a:prstGeom prst="line">
            <a:avLst/>
          </a:prstGeom>
          <a:noFill/>
          <a:ln w="38100">
            <a:solidFill>
              <a:schemeClr val="accent1"/>
            </a:solidFill>
            <a:prstDash val="solid"/>
            <a:headEnd type="triangle"/>
            <a:tailEnd type="triangle"/>
          </a:ln>
        </p:spPr>
      </p:sp>
      <p:sp>
        <p:nvSpPr>
          <p:cNvPr id="25" name="stat-rule-0"/>
          <p:cNvSpPr/>
          <p:nvPr/>
        </p:nvSpPr>
        <p:spPr>
          <a:xfrm>
            <a:off x="812800" y="4699000"/>
            <a:ext cx="2489200" cy="0"/>
          </a:xfrm>
          <a:prstGeom prst="line">
            <a:avLst/>
          </a:prstGeom>
          <a:noFill/>
          <a:ln w="19050">
            <a:solidFill>
              <a:schemeClr val="accent1"/>
            </a:solidFill>
            <a:prstDash val="solid"/>
          </a:ln>
        </p:spPr>
      </p:sp>
      <p:sp>
        <p:nvSpPr>
          <p:cNvPr id="26" name="Text 23"/>
          <p:cNvSpPr txBox="1"/>
          <p:nvPr/>
        </p:nvSpPr>
        <p:spPr>
          <a:xfrm>
            <a:off x="812800" y="4813300"/>
            <a:ext cx="2489200" cy="571500"/>
          </a:xfrm>
          <a:prstGeom prst="rect">
            <a:avLst/>
          </a:prstGeom>
          <a:noFill/>
          <a:ln/>
        </p:spPr>
        <p:txBody>
          <a:bodyPr wrap="square" lIns="0" tIns="0" rIns="0" bIns="0" rtlCol="0" anchor="t"/>
          <a:lstStyle/>
          <a:p>
            <a:pPr indent="0" marL="0">
              <a:buNone/>
            </a:pPr>
            <a:r>
              <a:rPr lang="en-US" sz="3600" b="1" dirty="0">
                <a:solidFill>
                  <a:schemeClr val="bg1"/>
                </a:solidFill>
              </a:rPr>
              <a:t>~55 ms</a:t>
            </a:r>
            <a:endParaRPr lang="en-US" sz="3600" dirty="0"/>
          </a:p>
        </p:txBody>
      </p:sp>
      <p:sp>
        <p:nvSpPr>
          <p:cNvPr id="27" name="Text 24"/>
          <p:cNvSpPr txBox="1"/>
          <p:nvPr/>
        </p:nvSpPr>
        <p:spPr>
          <a:xfrm>
            <a:off x="812800" y="5410200"/>
            <a:ext cx="2489200" cy="444500"/>
          </a:xfrm>
          <a:prstGeom prst="rect">
            <a:avLst/>
          </a:prstGeom>
          <a:noFill/>
          <a:ln/>
        </p:spPr>
        <p:txBody>
          <a:bodyPr wrap="square" lIns="0" tIns="0" rIns="0" bIns="0" rtlCol="0" anchor="t"/>
          <a:lstStyle/>
          <a:p>
            <a:pPr indent="0" marL="0">
              <a:buNone/>
            </a:pPr>
            <a:r>
              <a:rPr lang="en-US" sz="1200" dirty="0">
                <a:solidFill>
                  <a:schemeClr val="bg2"/>
                </a:solidFill>
              </a:rPr>
              <a:t>to describe one object on a laptop CPU</a:t>
            </a:r>
            <a:endParaRPr lang="en-US" sz="1200" dirty="0"/>
          </a:p>
        </p:txBody>
      </p:sp>
      <p:sp>
        <p:nvSpPr>
          <p:cNvPr id="28" name="stat-rule-1"/>
          <p:cNvSpPr/>
          <p:nvPr/>
        </p:nvSpPr>
        <p:spPr>
          <a:xfrm>
            <a:off x="3505200" y="4699000"/>
            <a:ext cx="2489200" cy="0"/>
          </a:xfrm>
          <a:prstGeom prst="line">
            <a:avLst/>
          </a:prstGeom>
          <a:noFill/>
          <a:ln w="19050">
            <a:solidFill>
              <a:schemeClr val="accent1"/>
            </a:solidFill>
            <a:prstDash val="solid"/>
          </a:ln>
        </p:spPr>
      </p:sp>
      <p:sp>
        <p:nvSpPr>
          <p:cNvPr id="29" name="Text 26"/>
          <p:cNvSpPr txBox="1"/>
          <p:nvPr/>
        </p:nvSpPr>
        <p:spPr>
          <a:xfrm>
            <a:off x="3505200" y="4813300"/>
            <a:ext cx="2489200" cy="571500"/>
          </a:xfrm>
          <a:prstGeom prst="rect">
            <a:avLst/>
          </a:prstGeom>
          <a:noFill/>
          <a:ln/>
        </p:spPr>
        <p:txBody>
          <a:bodyPr wrap="square" lIns="0" tIns="0" rIns="0" bIns="0" rtlCol="0" anchor="t"/>
          <a:lstStyle/>
          <a:p>
            <a:pPr indent="0" marL="0">
              <a:buNone/>
            </a:pPr>
            <a:r>
              <a:rPr lang="en-US" sz="3600" b="1" dirty="0">
                <a:solidFill>
                  <a:schemeClr val="bg1"/>
                </a:solidFill>
              </a:rPr>
              <a:t>2 KB</a:t>
            </a:r>
            <a:endParaRPr lang="en-US" sz="3600" dirty="0"/>
          </a:p>
        </p:txBody>
      </p:sp>
      <p:sp>
        <p:nvSpPr>
          <p:cNvPr id="30" name="Text 27"/>
          <p:cNvSpPr txBox="1"/>
          <p:nvPr/>
        </p:nvSpPr>
        <p:spPr>
          <a:xfrm>
            <a:off x="3505200" y="5410200"/>
            <a:ext cx="2489200" cy="444500"/>
          </a:xfrm>
          <a:prstGeom prst="rect">
            <a:avLst/>
          </a:prstGeom>
          <a:noFill/>
          <a:ln/>
        </p:spPr>
        <p:txBody>
          <a:bodyPr wrap="square" lIns="0" tIns="0" rIns="0" bIns="0" rtlCol="0" anchor="t"/>
          <a:lstStyle/>
          <a:p>
            <a:pPr indent="0" marL="0">
              <a:buNone/>
            </a:pPr>
            <a:r>
              <a:rPr lang="en-US" sz="1200" dirty="0">
                <a:solidFill>
                  <a:schemeClr val="bg2"/>
                </a:solidFill>
              </a:rPr>
              <a:t>search vector per sighting, plus a small thumbnail</a:t>
            </a:r>
            <a:endParaRPr lang="en-US" sz="1200" dirty="0"/>
          </a:p>
        </p:txBody>
      </p:sp>
      <p:sp>
        <p:nvSpPr>
          <p:cNvPr id="31" name="stat-rule-2"/>
          <p:cNvSpPr/>
          <p:nvPr/>
        </p:nvSpPr>
        <p:spPr>
          <a:xfrm>
            <a:off x="6197600" y="4699000"/>
            <a:ext cx="2489200" cy="0"/>
          </a:xfrm>
          <a:prstGeom prst="line">
            <a:avLst/>
          </a:prstGeom>
          <a:noFill/>
          <a:ln w="19050">
            <a:solidFill>
              <a:schemeClr val="accent1"/>
            </a:solidFill>
            <a:prstDash val="solid"/>
          </a:ln>
        </p:spPr>
      </p:sp>
      <p:sp>
        <p:nvSpPr>
          <p:cNvPr id="32" name="Text 29"/>
          <p:cNvSpPr txBox="1"/>
          <p:nvPr/>
        </p:nvSpPr>
        <p:spPr>
          <a:xfrm>
            <a:off x="6197600" y="4813300"/>
            <a:ext cx="2489200" cy="571500"/>
          </a:xfrm>
          <a:prstGeom prst="rect">
            <a:avLst/>
          </a:prstGeom>
          <a:noFill/>
          <a:ln/>
        </p:spPr>
        <p:txBody>
          <a:bodyPr wrap="square" lIns="0" tIns="0" rIns="0" bIns="0" rtlCol="0" anchor="t"/>
          <a:lstStyle/>
          <a:p>
            <a:pPr indent="0" marL="0">
              <a:buNone/>
            </a:pPr>
            <a:r>
              <a:rPr lang="en-US" sz="3600" b="1" dirty="0">
                <a:solidFill>
                  <a:schemeClr val="bg1"/>
                </a:solidFill>
              </a:rPr>
              <a:t>80</a:t>
            </a:r>
            <a:endParaRPr lang="en-US" sz="3600" dirty="0"/>
          </a:p>
        </p:txBody>
      </p:sp>
      <p:sp>
        <p:nvSpPr>
          <p:cNvPr id="33" name="Text 30"/>
          <p:cNvSpPr txBox="1"/>
          <p:nvPr/>
        </p:nvSpPr>
        <p:spPr>
          <a:xfrm>
            <a:off x="6197600" y="5410200"/>
            <a:ext cx="2489200" cy="444500"/>
          </a:xfrm>
          <a:prstGeom prst="rect">
            <a:avLst/>
          </a:prstGeom>
          <a:noFill/>
          <a:ln/>
        </p:spPr>
        <p:txBody>
          <a:bodyPr wrap="square" lIns="0" tIns="0" rIns="0" bIns="0" rtlCol="0" anchor="t"/>
          <a:lstStyle/>
          <a:p>
            <a:pPr indent="0" marL="0">
              <a:buNone/>
            </a:pPr>
            <a:r>
              <a:rPr lang="en-US" sz="1200" dirty="0">
                <a:solidFill>
                  <a:schemeClr val="bg2"/>
                </a:solidFill>
              </a:rPr>
              <a:t>object types, plus the whole scene every few seconds</a:t>
            </a:r>
            <a:endParaRPr lang="en-US" sz="1200" dirty="0"/>
          </a:p>
        </p:txBody>
      </p:sp>
      <p:sp>
        <p:nvSpPr>
          <p:cNvPr id="34" name="stat-rule-3"/>
          <p:cNvSpPr/>
          <p:nvPr/>
        </p:nvSpPr>
        <p:spPr>
          <a:xfrm>
            <a:off x="8890000" y="4699000"/>
            <a:ext cx="2489200" cy="0"/>
          </a:xfrm>
          <a:prstGeom prst="line">
            <a:avLst/>
          </a:prstGeom>
          <a:noFill/>
          <a:ln w="19050">
            <a:solidFill>
              <a:schemeClr val="accent1"/>
            </a:solidFill>
            <a:prstDash val="solid"/>
          </a:ln>
        </p:spPr>
      </p:sp>
      <p:sp>
        <p:nvSpPr>
          <p:cNvPr id="35" name="Text 32"/>
          <p:cNvSpPr txBox="1"/>
          <p:nvPr/>
        </p:nvSpPr>
        <p:spPr>
          <a:xfrm>
            <a:off x="8890000" y="4813300"/>
            <a:ext cx="2489200" cy="571500"/>
          </a:xfrm>
          <a:prstGeom prst="rect">
            <a:avLst/>
          </a:prstGeom>
          <a:noFill/>
          <a:ln/>
        </p:spPr>
        <p:txBody>
          <a:bodyPr wrap="square" lIns="0" tIns="0" rIns="0" bIns="0" rtlCol="0" anchor="t"/>
          <a:lstStyle/>
          <a:p>
            <a:pPr indent="0" marL="0">
              <a:buNone/>
            </a:pPr>
            <a:r>
              <a:rPr lang="en-US" sz="3600" b="1" dirty="0">
                <a:solidFill>
                  <a:schemeClr val="bg1"/>
                </a:solidFill>
              </a:rPr>
              <a:t>0</a:t>
            </a:r>
            <a:endParaRPr lang="en-US" sz="3600" dirty="0"/>
          </a:p>
        </p:txBody>
      </p:sp>
      <p:sp>
        <p:nvSpPr>
          <p:cNvPr id="36" name="Text 33"/>
          <p:cNvSpPr txBox="1"/>
          <p:nvPr/>
        </p:nvSpPr>
        <p:spPr>
          <a:xfrm>
            <a:off x="8890000" y="5410200"/>
            <a:ext cx="2489200" cy="444500"/>
          </a:xfrm>
          <a:prstGeom prst="rect">
            <a:avLst/>
          </a:prstGeom>
          <a:noFill/>
          <a:ln/>
        </p:spPr>
        <p:txBody>
          <a:bodyPr wrap="square" lIns="0" tIns="0" rIns="0" bIns="0" rtlCol="0" anchor="t"/>
          <a:lstStyle/>
          <a:p>
            <a:pPr indent="0" marL="0">
              <a:buNone/>
            </a:pPr>
            <a:r>
              <a:rPr lang="en-US" sz="1200" dirty="0">
                <a:solidFill>
                  <a:schemeClr val="bg2"/>
                </a:solidFill>
              </a:rPr>
              <a:t>frames of video sent off site</a:t>
            </a:r>
            <a:endParaRPr lang="en-US" sz="12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WHERE IT FITS</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Any site with cameras and questions.</a:t>
            </a:r>
            <a:endParaRPr lang="en-US" sz="3600" dirty="0"/>
          </a:p>
        </p:txBody>
      </p:sp>
      <p:sp>
        <p:nvSpPr>
          <p:cNvPr id="5" name="Gates and car parks"/>
          <p:cNvSpPr/>
          <p:nvPr/>
        </p:nvSpPr>
        <p:spPr>
          <a:xfrm>
            <a:off x="812800" y="2095500"/>
            <a:ext cx="5181600" cy="1511300"/>
          </a:xfrm>
          <a:prstGeom prst="roundRect">
            <a:avLst>
              <a:gd name="adj" fmla="val 8403"/>
            </a:avLst>
          </a:prstGeom>
          <a:solidFill>
            <a:schemeClr val="accent4"/>
          </a:solidFill>
          <a:ln w="9525">
            <a:solidFill>
              <a:schemeClr val="accent5"/>
            </a:solidFill>
            <a:prstDash val="solid"/>
          </a:ln>
        </p:spPr>
      </p:sp>
      <p:sp>
        <p:nvSpPr>
          <p:cNvPr id="6" name="Text 3"/>
          <p:cNvSpPr txBox="1"/>
          <p:nvPr/>
        </p:nvSpPr>
        <p:spPr>
          <a:xfrm>
            <a:off x="1066800" y="2349500"/>
            <a:ext cx="4673600" cy="355600"/>
          </a:xfrm>
          <a:prstGeom prst="rect">
            <a:avLst/>
          </a:prstGeom>
          <a:noFill/>
          <a:ln/>
        </p:spPr>
        <p:txBody>
          <a:bodyPr wrap="square" lIns="0" tIns="0" rIns="0" bIns="0" rtlCol="0" anchor="t"/>
          <a:lstStyle/>
          <a:p>
            <a:pPr indent="0" marL="0">
              <a:buNone/>
            </a:pPr>
            <a:r>
              <a:rPr lang="en-US" sz="2000" b="1" dirty="0">
                <a:solidFill>
                  <a:schemeClr val="bg1"/>
                </a:solidFill>
              </a:rPr>
              <a:t>Gates and car parks</a:t>
            </a:r>
            <a:endParaRPr lang="en-US" sz="2000" dirty="0"/>
          </a:p>
        </p:txBody>
      </p:sp>
      <p:sp>
        <p:nvSpPr>
          <p:cNvPr id="7" name="Text 4"/>
          <p:cNvSpPr txBox="1"/>
          <p:nvPr/>
        </p:nvSpPr>
        <p:spPr>
          <a:xfrm>
            <a:off x="1066800" y="2806700"/>
            <a:ext cx="4673600" cy="635000"/>
          </a:xfrm>
          <a:prstGeom prst="rect">
            <a:avLst/>
          </a:prstGeom>
          <a:noFill/>
          <a:ln/>
        </p:spPr>
        <p:txBody>
          <a:bodyPr wrap="square" lIns="0" tIns="0" rIns="0" bIns="0" rtlCol="0" anchor="t"/>
          <a:lstStyle/>
          <a:p>
            <a:pPr indent="0" marL="0">
              <a:buNone/>
            </a:pPr>
            <a:r>
              <a:rPr lang="en-US" sz="1500" dirty="0">
                <a:solidFill>
                  <a:schemeClr val="bg2"/>
                </a:solidFill>
              </a:rPr>
              <a:t>"How many trucks came in this morning?"</a:t>
            </a:r>
            <a:endParaRPr lang="en-US" sz="1500" dirty="0"/>
          </a:p>
        </p:txBody>
      </p:sp>
      <p:sp>
        <p:nvSpPr>
          <p:cNvPr id="8" name="Warehouses and yards"/>
          <p:cNvSpPr/>
          <p:nvPr/>
        </p:nvSpPr>
        <p:spPr>
          <a:xfrm>
            <a:off x="6197600" y="2095500"/>
            <a:ext cx="5181600" cy="1511300"/>
          </a:xfrm>
          <a:prstGeom prst="roundRect">
            <a:avLst>
              <a:gd name="adj" fmla="val 8403"/>
            </a:avLst>
          </a:prstGeom>
          <a:solidFill>
            <a:schemeClr val="accent4"/>
          </a:solidFill>
          <a:ln w="9525">
            <a:solidFill>
              <a:schemeClr val="accent5"/>
            </a:solidFill>
            <a:prstDash val="solid"/>
          </a:ln>
        </p:spPr>
      </p:sp>
      <p:sp>
        <p:nvSpPr>
          <p:cNvPr id="9" name="Text 6"/>
          <p:cNvSpPr txBox="1"/>
          <p:nvPr/>
        </p:nvSpPr>
        <p:spPr>
          <a:xfrm>
            <a:off x="6451600" y="2349500"/>
            <a:ext cx="4673600" cy="355600"/>
          </a:xfrm>
          <a:prstGeom prst="rect">
            <a:avLst/>
          </a:prstGeom>
          <a:noFill/>
          <a:ln/>
        </p:spPr>
        <p:txBody>
          <a:bodyPr wrap="square" lIns="0" tIns="0" rIns="0" bIns="0" rtlCol="0" anchor="t"/>
          <a:lstStyle/>
          <a:p>
            <a:pPr indent="0" marL="0">
              <a:buNone/>
            </a:pPr>
            <a:r>
              <a:rPr lang="en-US" sz="2000" b="1" dirty="0">
                <a:solidFill>
                  <a:schemeClr val="bg1"/>
                </a:solidFill>
              </a:rPr>
              <a:t>Warehouses and yards</a:t>
            </a:r>
            <a:endParaRPr lang="en-US" sz="2000" dirty="0"/>
          </a:p>
        </p:txBody>
      </p:sp>
      <p:sp>
        <p:nvSpPr>
          <p:cNvPr id="10" name="Text 7"/>
          <p:cNvSpPr txBox="1"/>
          <p:nvPr/>
        </p:nvSpPr>
        <p:spPr>
          <a:xfrm>
            <a:off x="6451600" y="2806700"/>
            <a:ext cx="4673600" cy="635000"/>
          </a:xfrm>
          <a:prstGeom prst="rect">
            <a:avLst/>
          </a:prstGeom>
          <a:noFill/>
          <a:ln/>
        </p:spPr>
        <p:txBody>
          <a:bodyPr wrap="square" lIns="0" tIns="0" rIns="0" bIns="0" rtlCol="0" anchor="t"/>
          <a:lstStyle/>
          <a:p>
            <a:pPr indent="0" marL="0">
              <a:buNone/>
            </a:pPr>
            <a:r>
              <a:rPr lang="en-US" sz="1500" dirty="0">
                <a:solidFill>
                  <a:schemeClr val="bg2"/>
                </a:solidFill>
              </a:rPr>
              <a:t>"Was anyone at the loading bay camera yesterday evening?"</a:t>
            </a:r>
            <a:endParaRPr lang="en-US" sz="1500" dirty="0"/>
          </a:p>
        </p:txBody>
      </p:sp>
      <p:sp>
        <p:nvSpPr>
          <p:cNvPr id="11" name="Campuses and public spaces"/>
          <p:cNvSpPr/>
          <p:nvPr/>
        </p:nvSpPr>
        <p:spPr>
          <a:xfrm>
            <a:off x="812800" y="3810000"/>
            <a:ext cx="5181600" cy="1511300"/>
          </a:xfrm>
          <a:prstGeom prst="roundRect">
            <a:avLst>
              <a:gd name="adj" fmla="val 8403"/>
            </a:avLst>
          </a:prstGeom>
          <a:solidFill>
            <a:schemeClr val="accent4"/>
          </a:solidFill>
          <a:ln w="9525">
            <a:solidFill>
              <a:schemeClr val="accent5"/>
            </a:solidFill>
            <a:prstDash val="solid"/>
          </a:ln>
        </p:spPr>
      </p:sp>
      <p:sp>
        <p:nvSpPr>
          <p:cNvPr id="12" name="Text 9"/>
          <p:cNvSpPr txBox="1"/>
          <p:nvPr/>
        </p:nvSpPr>
        <p:spPr>
          <a:xfrm>
            <a:off x="1066800" y="4064000"/>
            <a:ext cx="4673600" cy="355600"/>
          </a:xfrm>
          <a:prstGeom prst="rect">
            <a:avLst/>
          </a:prstGeom>
          <a:noFill/>
          <a:ln/>
        </p:spPr>
        <p:txBody>
          <a:bodyPr wrap="square" lIns="0" tIns="0" rIns="0" bIns="0" rtlCol="0" anchor="t"/>
          <a:lstStyle/>
          <a:p>
            <a:pPr indent="0" marL="0">
              <a:buNone/>
            </a:pPr>
            <a:r>
              <a:rPr lang="en-US" sz="2000" b="1" dirty="0">
                <a:solidFill>
                  <a:schemeClr val="bg1"/>
                </a:solidFill>
              </a:rPr>
              <a:t>Campuses and public spaces</a:t>
            </a:r>
            <a:endParaRPr lang="en-US" sz="2000" dirty="0"/>
          </a:p>
        </p:txBody>
      </p:sp>
      <p:sp>
        <p:nvSpPr>
          <p:cNvPr id="13" name="Text 10"/>
          <p:cNvSpPr txBox="1"/>
          <p:nvPr/>
        </p:nvSpPr>
        <p:spPr>
          <a:xfrm>
            <a:off x="1066800" y="4521200"/>
            <a:ext cx="4673600" cy="635000"/>
          </a:xfrm>
          <a:prstGeom prst="rect">
            <a:avLst/>
          </a:prstGeom>
          <a:noFill/>
          <a:ln/>
        </p:spPr>
        <p:txBody>
          <a:bodyPr wrap="square" lIns="0" tIns="0" rIns="0" bIns="0" rtlCol="0" anchor="t"/>
          <a:lstStyle/>
          <a:p>
            <a:pPr indent="0" marL="0">
              <a:buNone/>
            </a:pPr>
            <a:r>
              <a:rPr lang="en-US" sz="1500" dirty="0">
                <a:solidFill>
                  <a:schemeClr val="bg2"/>
                </a:solidFill>
              </a:rPr>
              <a:t>"When did a bag first appear by the bench?"</a:t>
            </a:r>
            <a:endParaRPr lang="en-US" sz="1500" dirty="0"/>
          </a:p>
        </p:txBody>
      </p:sp>
      <p:sp>
        <p:nvSpPr>
          <p:cNvPr id="14" name="Construction sites"/>
          <p:cNvSpPr/>
          <p:nvPr/>
        </p:nvSpPr>
        <p:spPr>
          <a:xfrm>
            <a:off x="6197600" y="3810000"/>
            <a:ext cx="5181600" cy="1511300"/>
          </a:xfrm>
          <a:prstGeom prst="roundRect">
            <a:avLst>
              <a:gd name="adj" fmla="val 8403"/>
            </a:avLst>
          </a:prstGeom>
          <a:solidFill>
            <a:schemeClr val="accent4"/>
          </a:solidFill>
          <a:ln w="9525">
            <a:solidFill>
              <a:schemeClr val="accent5"/>
            </a:solidFill>
            <a:prstDash val="solid"/>
          </a:ln>
        </p:spPr>
      </p:sp>
      <p:sp>
        <p:nvSpPr>
          <p:cNvPr id="15" name="Text 12"/>
          <p:cNvSpPr txBox="1"/>
          <p:nvPr/>
        </p:nvSpPr>
        <p:spPr>
          <a:xfrm>
            <a:off x="6451600" y="4064000"/>
            <a:ext cx="4673600" cy="355600"/>
          </a:xfrm>
          <a:prstGeom prst="rect">
            <a:avLst/>
          </a:prstGeom>
          <a:noFill/>
          <a:ln/>
        </p:spPr>
        <p:txBody>
          <a:bodyPr wrap="square" lIns="0" tIns="0" rIns="0" bIns="0" rtlCol="0" anchor="t"/>
          <a:lstStyle/>
          <a:p>
            <a:pPr indent="0" marL="0">
              <a:buNone/>
            </a:pPr>
            <a:r>
              <a:rPr lang="en-US" sz="2000" b="1" dirty="0">
                <a:solidFill>
                  <a:schemeClr val="bg1"/>
                </a:solidFill>
              </a:rPr>
              <a:t>Construction sites</a:t>
            </a:r>
            <a:endParaRPr lang="en-US" sz="2000" dirty="0"/>
          </a:p>
        </p:txBody>
      </p:sp>
      <p:sp>
        <p:nvSpPr>
          <p:cNvPr id="16" name="Text 13"/>
          <p:cNvSpPr txBox="1"/>
          <p:nvPr/>
        </p:nvSpPr>
        <p:spPr>
          <a:xfrm>
            <a:off x="6451600" y="4521200"/>
            <a:ext cx="4673600" cy="635000"/>
          </a:xfrm>
          <a:prstGeom prst="rect">
            <a:avLst/>
          </a:prstGeom>
          <a:noFill/>
          <a:ln/>
        </p:spPr>
        <p:txBody>
          <a:bodyPr wrap="square" lIns="0" tIns="0" rIns="0" bIns="0" rtlCol="0" anchor="t"/>
          <a:lstStyle/>
          <a:p>
            <a:pPr indent="0" marL="0">
              <a:buNone/>
            </a:pPr>
            <a:r>
              <a:rPr lang="en-US" sz="1500" dirty="0">
                <a:solidFill>
                  <a:schemeClr val="bg2"/>
                </a:solidFill>
              </a:rPr>
              <a:t>"Was there a white van at the gate yesterday evening?"</a:t>
            </a:r>
            <a:endParaRPr lang="en-US" sz="15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812800" y="8128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WHERE ARGUS IS TODAY</a:t>
            </a:r>
            <a:endParaRPr lang="en-US" sz="1200" dirty="0"/>
          </a:p>
        </p:txBody>
      </p:sp>
      <p:sp>
        <p:nvSpPr>
          <p:cNvPr id="3" name="Text 1"/>
          <p:cNvSpPr/>
          <p:nvPr>
            <p:ph idx="103" type="title" hasCustomPrompt="1"/>
          </p:nvPr>
        </p:nvSpPr>
        <p:spPr>
          <a:xfrm>
            <a:off x="812800" y="1117600"/>
            <a:ext cx="10566400" cy="1651000"/>
          </a:xfrm>
          <a:prstGeom prst="rect">
            <a:avLst/>
          </a:prstGeom>
          <a:noFill/>
          <a:ln/>
        </p:spPr>
        <p:txBody>
          <a:bodyPr wrap="square" lIns="0" tIns="0" rIns="0" bIns="0" rtlCol="0" anchor="t"/>
          <a:lstStyle/>
          <a:p>
            <a:pPr algn="l" indent="0" marL="0">
              <a:lnSpc>
                <a:spcPct val="95000"/>
              </a:lnSpc>
              <a:buNone/>
            </a:pPr>
            <a:r>
              <a:rPr lang="en-US" sz="3600" b="1" dirty="0">
                <a:solidFill>
                  <a:schemeClr val="bg1"/>
                </a:solidFill>
                <a:latin typeface="Arial" pitchFamily="34" charset="0"/>
                <a:ea typeface="Arial" pitchFamily="34" charset="-122"/>
                <a:cs typeface="Arial" pitchFamily="34" charset="-120"/>
              </a:rPr>
              <a:t>Working now, and what comes next.</a:t>
            </a:r>
            <a:endParaRPr lang="en-US" sz="3600" dirty="0"/>
          </a:p>
        </p:txBody>
      </p:sp>
      <p:sp>
        <p:nvSpPr>
          <p:cNvPr id="5" name="Working now"/>
          <p:cNvSpPr/>
          <p:nvPr/>
        </p:nvSpPr>
        <p:spPr>
          <a:xfrm>
            <a:off x="812800" y="2095500"/>
            <a:ext cx="5181600" cy="3429000"/>
          </a:xfrm>
          <a:prstGeom prst="roundRect">
            <a:avLst>
              <a:gd name="adj" fmla="val 3704"/>
            </a:avLst>
          </a:prstGeom>
          <a:solidFill>
            <a:schemeClr val="accent3"/>
          </a:solidFill>
          <a:ln w="19050">
            <a:solidFill>
              <a:schemeClr val="accent1"/>
            </a:solidFill>
            <a:prstDash val="solid"/>
          </a:ln>
        </p:spPr>
      </p:sp>
      <p:sp>
        <p:nvSpPr>
          <p:cNvPr id="6" name="Text 3"/>
          <p:cNvSpPr txBox="1"/>
          <p:nvPr/>
        </p:nvSpPr>
        <p:spPr>
          <a:xfrm>
            <a:off x="1092200" y="2374900"/>
            <a:ext cx="4622800" cy="355600"/>
          </a:xfrm>
          <a:prstGeom prst="rect">
            <a:avLst/>
          </a:prstGeom>
          <a:noFill/>
          <a:ln/>
        </p:spPr>
        <p:txBody>
          <a:bodyPr wrap="square" lIns="0" tIns="0" rIns="0" bIns="0" rtlCol="0" anchor="t"/>
          <a:lstStyle/>
          <a:p>
            <a:pPr indent="0" marL="0">
              <a:buNone/>
            </a:pPr>
            <a:r>
              <a:rPr lang="en-US" sz="2000" b="1" dirty="0">
                <a:solidFill>
                  <a:schemeClr val="bg1"/>
                </a:solidFill>
              </a:rPr>
              <a:t>Working now</a:t>
            </a:r>
            <a:endParaRPr lang="en-US" sz="2000" dirty="0"/>
          </a:p>
        </p:txBody>
      </p:sp>
      <p:sp>
        <p:nvSpPr>
          <p:cNvPr id="7" name="Text 4"/>
          <p:cNvSpPr txBox="1"/>
          <p:nvPr/>
        </p:nvSpPr>
        <p:spPr>
          <a:xfrm>
            <a:off x="1092200" y="2882900"/>
            <a:ext cx="4622800" cy="247650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rgbClr val="C7D3EA"/>
                </a:solidFill>
              </a:rPr>
              <a:t>Recording and indexing per camera</a:t>
            </a:r>
            <a:endParaRPr lang="en-US" sz="1400" dirty="0"/>
          </a:p>
          <a:p>
            <a:pPr marL="228600" indent="-228600">
              <a:spcAft>
                <a:spcPts val="600"/>
              </a:spcAft>
              <a:buSzPct val="100000"/>
              <a:buChar char="•"/>
            </a:pPr>
            <a:r>
              <a:rPr lang="en-US" sz="1400" dirty="0">
                <a:solidFill>
                  <a:srgbClr val="C7D3EA"/>
                </a:solidFill>
              </a:rPr>
              <a:t>Plain-language questions by time, object type and camera</a:t>
            </a:r>
            <a:endParaRPr lang="en-US" sz="1400" dirty="0"/>
          </a:p>
          <a:p>
            <a:pPr marL="228600" indent="-228600">
              <a:spcAft>
                <a:spcPts val="600"/>
              </a:spcAft>
              <a:buSzPct val="100000"/>
              <a:buChar char="•"/>
            </a:pPr>
            <a:r>
              <a:rPr lang="en-US" sz="1400" dirty="0">
                <a:solidFill>
                  <a:srgbClr val="C7D3EA"/>
                </a:solidFill>
              </a:rPr>
              <a:t>Chat with a choice of local or cloud models</a:t>
            </a:r>
            <a:endParaRPr lang="en-US" sz="1400" dirty="0"/>
          </a:p>
          <a:p>
            <a:pPr marL="228600" indent="-228600">
              <a:spcAft>
                <a:spcPts val="600"/>
              </a:spcAft>
              <a:buSzPct val="100000"/>
              <a:buChar char="•"/>
            </a:pPr>
            <a:r>
              <a:rPr lang="en-US" sz="1400" dirty="0">
                <a:solidFill>
                  <a:srgbClr val="C7D3EA"/>
                </a:solidFill>
              </a:rPr>
              <a:t>Answers that list their evidence frames</a:t>
            </a:r>
            <a:endParaRPr lang="en-US" sz="1400" dirty="0"/>
          </a:p>
          <a:p>
            <a:pPr marL="228600" indent="-228600">
              <a:spcAft>
                <a:spcPts val="600"/>
              </a:spcAft>
              <a:buSzPct val="100000"/>
              <a:buChar char="•"/>
            </a:pPr>
            <a:r>
              <a:rPr lang="en-US" sz="1400" dirty="0">
                <a:solidFill>
                  <a:srgbClr val="C7D3EA"/>
                </a:solidFill>
              </a:rPr>
              <a:t>Alerts by area and line, by email or into your systems</a:t>
            </a:r>
            <a:endParaRPr lang="en-US" sz="1400" dirty="0"/>
          </a:p>
        </p:txBody>
      </p:sp>
      <p:sp>
        <p:nvSpPr>
          <p:cNvPr id="8" name="Next"/>
          <p:cNvSpPr/>
          <p:nvPr/>
        </p:nvSpPr>
        <p:spPr>
          <a:xfrm>
            <a:off x="6197600" y="2095500"/>
            <a:ext cx="5181600" cy="3429000"/>
          </a:xfrm>
          <a:prstGeom prst="roundRect">
            <a:avLst>
              <a:gd name="adj" fmla="val 3704"/>
            </a:avLst>
          </a:prstGeom>
          <a:solidFill>
            <a:schemeClr val="accent4"/>
          </a:solidFill>
          <a:ln w="9525">
            <a:solidFill>
              <a:schemeClr val="accent5"/>
            </a:solidFill>
            <a:prstDash val="solid"/>
          </a:ln>
        </p:spPr>
      </p:sp>
      <p:sp>
        <p:nvSpPr>
          <p:cNvPr id="9" name="Text 6"/>
          <p:cNvSpPr txBox="1"/>
          <p:nvPr/>
        </p:nvSpPr>
        <p:spPr>
          <a:xfrm>
            <a:off x="6477000" y="2374900"/>
            <a:ext cx="4622800" cy="355600"/>
          </a:xfrm>
          <a:prstGeom prst="rect">
            <a:avLst/>
          </a:prstGeom>
          <a:noFill/>
          <a:ln/>
        </p:spPr>
        <p:txBody>
          <a:bodyPr wrap="square" lIns="0" tIns="0" rIns="0" bIns="0" rtlCol="0" anchor="t"/>
          <a:lstStyle/>
          <a:p>
            <a:pPr indent="0" marL="0">
              <a:buNone/>
            </a:pPr>
            <a:r>
              <a:rPr lang="en-US" sz="2000" b="1" dirty="0">
                <a:solidFill>
                  <a:schemeClr val="bg1"/>
                </a:solidFill>
              </a:rPr>
              <a:t>Next</a:t>
            </a:r>
            <a:endParaRPr lang="en-US" sz="2000" dirty="0"/>
          </a:p>
        </p:txBody>
      </p:sp>
      <p:sp>
        <p:nvSpPr>
          <p:cNvPr id="10" name="Text 7"/>
          <p:cNvSpPr txBox="1"/>
          <p:nvPr/>
        </p:nvSpPr>
        <p:spPr>
          <a:xfrm>
            <a:off x="6477000" y="2882900"/>
            <a:ext cx="4622800" cy="247650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chemeClr val="bg2"/>
                </a:solidFill>
              </a:rPr>
              <a:t>A fixed test set on recorded footage to compare models</a:t>
            </a:r>
            <a:endParaRPr lang="en-US" sz="1400" dirty="0"/>
          </a:p>
          <a:p>
            <a:pPr marL="228600" indent="-228600">
              <a:spcAft>
                <a:spcPts val="600"/>
              </a:spcAft>
              <a:buSzPct val="100000"/>
              <a:buChar char="•"/>
            </a:pPr>
            <a:r>
              <a:rPr lang="en-US" sz="1400" dirty="0">
                <a:solidFill>
                  <a:schemeClr val="bg2"/>
                </a:solidFill>
              </a:rPr>
              <a:t>Scene captions for "what was he doing" questions</a:t>
            </a:r>
            <a:endParaRPr lang="en-US" sz="1400" dirty="0"/>
          </a:p>
          <a:p>
            <a:pPr marL="228600" indent="-228600">
              <a:spcAft>
                <a:spcPts val="600"/>
              </a:spcAft>
              <a:buSzPct val="100000"/>
              <a:buChar char="•"/>
            </a:pPr>
            <a:r>
              <a:rPr lang="en-US" sz="1400" dirty="0">
                <a:solidFill>
                  <a:schemeClr val="bg2"/>
                </a:solidFill>
              </a:rPr>
              <a:t>Following one visit across several cameras</a:t>
            </a:r>
            <a:endParaRPr lang="en-US" sz="1400" dirty="0"/>
          </a:p>
          <a:p>
            <a:pPr marL="228600" indent="-228600">
              <a:spcAft>
                <a:spcPts val="600"/>
              </a:spcAft>
              <a:buSzPct val="100000"/>
              <a:buChar char="•"/>
            </a:pPr>
            <a:r>
              <a:rPr lang="en-US" sz="1400" dirty="0">
                <a:solidFill>
                  <a:schemeClr val="bg2"/>
                </a:solidFill>
              </a:rPr>
              <a:t>Detectors trained per customer, such as fire and smoke</a:t>
            </a:r>
            <a:endParaRPr lang="en-US" sz="1400" dirty="0"/>
          </a:p>
          <a:p>
            <a:pPr marL="228600" indent="-228600">
              <a:spcAft>
                <a:spcPts val="600"/>
              </a:spcAft>
              <a:buSzPct val="100000"/>
              <a:buChar char="•"/>
            </a:pPr>
            <a:r>
              <a:rPr lang="en-US" sz="1400" dirty="0">
                <a:solidFill>
                  <a:schemeClr val="bg2"/>
                </a:solidFill>
              </a:rPr>
              <a:t>Alerts from a description</a:t>
            </a:r>
            <a:endParaRPr lang="en-US" sz="1400" dirty="0"/>
          </a:p>
        </p:txBody>
      </p:sp>
      <p:sp>
        <p:nvSpPr>
          <p:cNvPr id="25" name="Slide Number Placeholder 0"/>
          <p:cNvSpPr>
            <a:spLocks noGrp="1"/>
          </p:cNvSpPr>
          <p:nvPr>
            <p:ph type="sldNum" sz="quarter" idx="4294967295"/>
          </p:nvPr>
        </p:nvSpPr>
        <p:spPr>
          <a:xfrm>
            <a:off x="10109200" y="6286500"/>
            <a:ext cx="1270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E8BA6"/>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812800" y="1905000"/>
            <a:ext cx="10566400" cy="254000"/>
          </a:xfrm>
          <a:prstGeom prst="rect">
            <a:avLst/>
          </a:prstGeom>
          <a:noFill/>
          <a:ln/>
        </p:spPr>
        <p:txBody>
          <a:bodyPr wrap="square" lIns="0" tIns="0" rIns="0" bIns="0" rtlCol="0" anchor="t"/>
          <a:lstStyle/>
          <a:p>
            <a:pPr algn="l" indent="0" marL="0">
              <a:buNone/>
            </a:pPr>
            <a:r>
              <a:rPr lang="en-US" sz="1200" spc="300" kern="0" dirty="0">
                <a:solidFill>
                  <a:schemeClr val="accent2"/>
                </a:solidFill>
                <a:latin typeface="Consolas" pitchFamily="34" charset="0"/>
                <a:ea typeface="Consolas" pitchFamily="34" charset="-122"/>
                <a:cs typeface="Consolas" pitchFamily="34" charset="-120"/>
              </a:rPr>
              <a:t>// TRY IT</a:t>
            </a:r>
            <a:endParaRPr lang="en-US" sz="1200" dirty="0"/>
          </a:p>
        </p:txBody>
      </p:sp>
      <p:sp>
        <p:nvSpPr>
          <p:cNvPr id="3" name="Text 0"/>
          <p:cNvSpPr/>
          <p:nvPr>
            <p:ph idx="101" type="title" hasCustomPrompt="1"/>
          </p:nvPr>
        </p:nvSpPr>
        <p:spPr>
          <a:xfrm>
            <a:off x="812800" y="2222500"/>
            <a:ext cx="10566400" cy="1714500"/>
          </a:xfrm>
          <a:prstGeom prst="rect">
            <a:avLst/>
          </a:prstGeom>
          <a:noFill/>
          <a:ln/>
        </p:spPr>
        <p:txBody>
          <a:bodyPr wrap="square" lIns="0" tIns="0" rIns="0" bIns="0" rtlCol="0" anchor="t"/>
          <a:lstStyle/>
          <a:p>
            <a:pPr algn="l" indent="0" marL="0">
              <a:lnSpc>
                <a:spcPct val="95000"/>
              </a:lnSpc>
              <a:buNone/>
            </a:pPr>
            <a:r>
              <a:rPr lang="en-US" sz="6000" b="1" dirty="0">
                <a:solidFill>
                  <a:schemeClr val="bg1"/>
                </a:solidFill>
                <a:latin typeface="Arial" pitchFamily="34" charset="0"/>
                <a:ea typeface="Arial" pitchFamily="34" charset="-122"/>
                <a:cs typeface="Arial" pitchFamily="34" charset="-120"/>
              </a:rPr>
              <a:t>See it on</a:t>
            </a:r>
            <a:endParaRPr lang="en-US" sz="6000" dirty="0"/>
          </a:p>
          <a:p>
            <a:pPr algn="l" indent="0" marL="0">
              <a:lnSpc>
                <a:spcPct val="95000"/>
              </a:lnSpc>
              <a:buNone/>
            </a:pPr>
            <a:r>
              <a:rPr lang="en-US" sz="6000" b="1" dirty="0">
                <a:solidFill>
                  <a:schemeClr val="bg1"/>
                </a:solidFill>
                <a:latin typeface="Arial" pitchFamily="34" charset="0"/>
                <a:ea typeface="Arial" pitchFamily="34" charset="-122"/>
                <a:cs typeface="Arial" pitchFamily="34" charset="-120"/>
              </a:rPr>
              <a:t>your own footage.</a:t>
            </a:r>
            <a:endParaRPr lang="en-US" sz="6000" dirty="0"/>
          </a:p>
        </p:txBody>
      </p:sp>
      <p:sp>
        <p:nvSpPr>
          <p:cNvPr id="5" name="Text 2"/>
          <p:cNvSpPr txBox="1"/>
          <p:nvPr/>
        </p:nvSpPr>
        <p:spPr>
          <a:xfrm>
            <a:off x="812800" y="4127500"/>
            <a:ext cx="7493000" cy="762000"/>
          </a:xfrm>
          <a:prstGeom prst="rect">
            <a:avLst/>
          </a:prstGeom>
          <a:noFill/>
          <a:ln/>
        </p:spPr>
        <p:txBody>
          <a:bodyPr wrap="square" lIns="0" tIns="0" rIns="0" bIns="0" rtlCol="0" anchor="t"/>
          <a:lstStyle/>
          <a:p>
            <a:pPr indent="0" marL="0">
              <a:buNone/>
            </a:pPr>
            <a:r>
              <a:rPr lang="en-US" sz="1800" dirty="0">
                <a:solidFill>
                  <a:schemeClr val="bg2"/>
                </a:solidFill>
              </a:rPr>
              <a:t>We set Argus up on a sample of your recorded video, you ask it your questions, and then you decide.</a:t>
            </a:r>
            <a:endParaRPr lang="en-US" sz="1800" dirty="0"/>
          </a:p>
        </p:txBody>
      </p:sp>
      <p:sp>
        <p:nvSpPr>
          <p:cNvPr id="6" name="Text 3"/>
          <p:cNvSpPr txBox="1"/>
          <p:nvPr/>
        </p:nvSpPr>
        <p:spPr>
          <a:xfrm>
            <a:off x="812800" y="5080000"/>
            <a:ext cx="7493000" cy="317500"/>
          </a:xfrm>
          <a:prstGeom prst="rect">
            <a:avLst/>
          </a:prstGeom>
          <a:noFill/>
          <a:ln/>
        </p:spPr>
        <p:txBody>
          <a:bodyPr wrap="square" lIns="0" tIns="0" rIns="0" bIns="0" rtlCol="0" anchor="t"/>
          <a:lstStyle/>
          <a:p>
            <a:pPr indent="0" marL="0">
              <a:buNone/>
            </a:pPr>
            <a:r>
              <a:rPr lang="en-US" sz="1600" dirty="0">
                <a:solidFill>
                  <a:schemeClr val="bg1"/>
                </a:solidFill>
              </a:rPr>
              <a:t>[email] · [website]</a:t>
            </a:r>
            <a:endParaRPr lang="en-US" sz="1600" dirty="0"/>
          </a:p>
        </p:txBody>
      </p:sp>
    </p:spTree>
  </p:cSld>
  <p:clrMapOvr>
    <a:masterClrMapping/>
  </p:clrMapOvr>
</p:sld>
</file>

<file path=ppt/theme/theme1.xml><?xml version="1.0" encoding="utf-8"?>
<a:theme xmlns:a="http://schemas.openxmlformats.org/drawingml/2006/main" name="Argus">
  <a:themeElements>
    <a:clrScheme name="Argus">
      <a:dk1>
        <a:srgbClr val="080C17"/>
      </a:dk1>
      <a:lt1>
        <a:srgbClr val="EEF3FB"/>
      </a:lt1>
      <a:dk2>
        <a:srgbClr val="0D1322"/>
      </a:dk2>
      <a:lt2>
        <a:srgbClr val="AEBBD3"/>
      </a:lt2>
      <a:accent1>
        <a:srgbClr val="4C82FF"/>
      </a:accent1>
      <a:accent2>
        <a:srgbClr val="63CFF5"/>
      </a:accent2>
      <a:accent3>
        <a:srgbClr val="13245A"/>
      </a:accent3>
      <a:accent4>
        <a:srgbClr val="111A2E"/>
      </a:accent4>
      <a:accent5>
        <a:srgbClr val="22304F"/>
      </a:accent5>
      <a:accent6>
        <a:srgbClr val="2A5FF0"/>
      </a:accent6>
      <a:hlink>
        <a:srgbClr val="63CFF5"/>
      </a:hlink>
      <a:folHlink>
        <a:srgbClr val="7E8BA6"/>
      </a:folHlink>
    </a:clrScheme>
    <a:fontScheme name="Argu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Mobius Tensors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Argus</dc:title>
  <dc:subject>PptxGenJS Presentation</dc:subject>
  <dc:creator>Mobius Tensors</dc:creator>
  <cp:lastModifiedBy>Mobius Tensors</cp:lastModifiedBy>
  <cp:revision>1</cp:revision>
  <dcterms:created xsi:type="dcterms:W3CDTF">2026-10-06T07:31:03Z</dcterms:created>
  <dcterms:modified xsi:type="dcterms:W3CDTF">2026-10-06T07:31:03Z</dcterms:modified>
</cp:coreProperties>
</file>
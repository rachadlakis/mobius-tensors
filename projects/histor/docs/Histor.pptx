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70" r:id="rId21"/>
    <p:sldId id="271" r:id="rId22"/>
    <p:sldId id="272" r:id="rId23"/>
    <p:sldId id="273" r:id="rId24"/>
    <p:sldId id="274" r:id="rId25"/>
    <p:sldId id="275" r:id="rId26"/>
    <p:sldId id="276" r:id="rId27"/>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istor" id="{6027c26e-5015-3407-7fea-4ccca11d2c58}">
          <p14:sldIdLst>
            <p14:sldId id="256"/>
            <p14:sldId id="257"/>
            <p14:sldId id="258"/>
            <p14:sldId id="259"/>
          </p14:sldIdLst>
        </p14:section>
        <p14:section name="What Histor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7.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slide" Target="slides/slide2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sites record a lot of video, but searching it is slow and manual.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Histor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Histor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Histor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tools (objects, search, alerts, people by pose and colour, and faces when approved)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a few lookups; the two main ones are these. "objects" returns tracked objects by time, class and co-occurrence: exact, no guessing. "search" is CLIP visual similarity for descriptions: ranked guesses where low-ranked hits can be wrong. Body poses add a third kind, measured: posture and clothing colour per person (see the next slides).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Histor's recorder on sample street footage: zone enter, exit and stay-too-long events and line crossings, limited to chosen object types. Delivery is by webhook (into the client's own systems) or email, with a snapshot and a cooldown between repeats. Rules work on the 80 everyday object types today. Fire, smoke or other new object types need a model trained for that customer;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Detection uses YOLOX-S by default (about 76 ms a frame on a laptop CPU; YOLOX-M on a GPU server, Nano on weak machines) on ONNX Runtime and descriptions use CLIP, both on CPU.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30 ms figure is a laptop CPU measurement for one CLIP crop (B/32 LAION-2B, October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Histor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Histor runs as a recorder per camera plus a chat. Counting and "what was he doing" questions are where CLIP alone is weakest, which is why scene captions from a small vision-language model are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since October 2026: body poses. About once a second, each tracked person's crop goes through a pose model (ViTPose-B: Apache-2.0, trained on COCO only) that finds 17 body points. Simple rules turn them into facts: posture (standing, sitting, crouching, lying), hands above the head, facing the camera, and the colour of the top and trousers from the clothes the body outlines. A row is stored only when something changes, plus every 10 s, so the chat gets exact seconds per posture. Person-down (lying 10 s) and hands-up (3 s) events go through the same alert channels. Honest limits: people must be at least 80 px tall; colours disappear at night (infrared); sitting and crouching can be confused; person-down has been checked with tests and sample footage, not yet on staged falls, so we validate it on site before it goes live. Pose costs about 0.1 s per person on a laptop CPU. Keypoints are not a face print, but they follow the same retention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2026 additions, each built and tested. Search: the CLIP model moved to LAION-2B weights (MIT), better on every benchmark we checked at the same cost. Look: a local vision model (Qwen3.5 4B via Ollama by default) reads the frames the chat already found. Plates: a plate finder plus fast-plate-ocr (MIT). The current finder is for trials only: our own YOLOX plate finder is the urgent next step. Sounds: YAMNet (Apache-2.0); audio is never stored. Camera health: picture checks with no model. Abandoned bags and crowding are rules on the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small models, both on CPU: a plate finder (~11 ms per vehicle) and a reader (fast-plate-ocr, MIT, ~10 ms). Plates are read from the full-resolution main stream when it is recorded. Search forgives spaces, dashes, look-alike characters and one wrong character. Plates are personal data in many countries: off until the client agrees, with their own retention. Licence: the current finder's code is MIT but its weights were trained with a fork of the GPL-3.0 YOLOv9 repo, so it is for trials only; training our own YOLOX on Open Images plates (CC BY 4.0) is the urgent next step. Not yet measured on a real site camera.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YAMNet (Google, Apache-2.0), trained on AudioSet's 521 sound classes, takes about 3 ms per 3 seconds of audio on one CPU thread. It reads the camera's audio track through ffmpeg. In the chart, a synthetic 3.1 kHz beep pattern starts at 4 s and the alert fires at about 4.3 s. Not yet checked on real camera microphones. Listening is often regulated more strictly than video, so this stays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on the sample street video: the same view 35 s later scores 0.78 similarity, a camera turned by 40 px 0.40, a different view about 0.2; the threshold is 0.5. In 40 s of pedestrians nothing fires; a covered lens fires 'blocked'. Each problem must last 20 s and fires once until it clears. A site is never silently blind.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on the tracker, no new model. Crowding counts tracked objects of chosen classes inside an area, here 6 people on the path (real YOLOX detections on the sample video). Abandoned objects: still within a quarter of their size, with no person within 1.5 person-heights, for 60 s; a passer-by resets the clock. Wrong way: a line set to one direction only.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ranks images but can't count or read. The chat model first finds the moment with its usual tools, then passes the 1 to 4 best frames to a local vision model (Qwen3.5 4B via Ollama by default, Apache-2.0) with a question. Only frames that earlier results listed can be opened. The images stay on site; only the text answer goes to the chat model. Seconds per image on a CPU. This exchange is illustrative: the tool is tested against a stand-in server, not yet a live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HISTOR · MOBIUS TENSORS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860401"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MT" Type="http://schemas.openxmlformats.org/officeDocument/2006/relationships/image" Target="../media/mobius-tensors-logo.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MT" Type="http://schemas.openxmlformats.org/officeDocument/2006/relationships/image" Target="../media/mobius-tensors-logo.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HISTOR</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Histor keeps a searchable memory of what your cameras see, so you can ask about it later in plain language and get answers that point to the frames.</a:t>
            </a:r>
            <a:endParaRPr lang="en-US" sz="1800" dirty="0"/>
          </a:p>
        </p:txBody>
      </p:sp>
      <p:pic>
        <p:nvPicPr>
          <p:cNvPr id="6"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Cameras record everything. Finding one moment still means scrubbing through hours of video.</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HISTOR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ἵστωρ</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Ancient Greek for </a:t>
            </a:r>
            <a:pPr indent="0" marL="0">
              <a:buNone/>
            </a:pPr>
            <a:r>
              <a:rPr lang="en-US" sz="2200" i="1" dirty="0">
                <a:solidFill>
                  <a:schemeClr val="bg1"/>
                </a:solidFill>
              </a:rPr>
              <a:t>witness</a:t>
            </a:r>
            <a:pPr indent="0" marL="0">
              <a:buNone/>
            </a:pPr>
            <a:r>
              <a:rPr lang="en-US" sz="2200" dirty="0">
                <a:solidFill>
                  <a:schemeClr val="bg1"/>
                </a:solidFill>
              </a:rPr>
              <a:t>, one who knows by having seen: the root of </a:t>
            </a:r>
            <a:pPr indent="0" marL="0">
              <a:buNone/>
            </a:pPr>
            <a:r>
              <a:rPr lang="en-US" sz="2200" i="1" dirty="0">
                <a:solidFill>
                  <a:schemeClr val="bg1"/>
                </a:solidFill>
              </a:rPr>
              <a:t>history</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Histor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Histor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txBody>
          <a:bodyPr/>
          <a:p/>
        </p:txBody>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txBody>
          <a:bodyPr/>
          <a:p/>
        </p:txBody>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Histor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txBody>
          <a:bodyPr/>
          <a:p/>
        </p:txBody>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txBody>
          <a:bodyPr/>
          <a:p/>
        </p:txBody>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3127248"/>
        </p:xfrm>
        <a:graphic>
          <a:graphicData uri="http://schemas.openxmlformats.org/drawingml/2006/table">
            <a:tbl>
              <a:tblPr/>
              <a:tblGrid>
                <a:gridCol w="3803904"/>
                <a:gridCol w="4860544"/>
                <a:gridCol w="1901952"/>
              </a:tblGrid>
              <a:tr h="384048">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Histor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lying on the floor last night?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Each person's posture from body points: seconds standing, sitting or lying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bg1"/>
                          </a:solidFill>
                          <a:latin typeface="Arial" pitchFamily="34" charset="0"/>
                          <a:ea typeface="Arial" pitchFamily="34" charset="-122"/>
                          <a:cs typeface="Arial" pitchFamily="34" charset="-120"/>
                        </a:rPr>
                        <a:t>When did AB 123 CD come in?</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Plates read on each vehicle, spaces and look-alikes ignored</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Histor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crosses a line, or too many gather.</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detectors trained for each customer's needs, such as fire and smoke,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PEOPLE WERE DOING</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Measured from the body, not guessed.</a:t>
            </a:r>
            <a:endParaRPr lang="en-US" sz="3600" dirty="0"/>
          </a:p>
        </p:txBody>
      </p:sp>
      <p:sp>
        <p:nvSpPr>
          <p:cNvPr id="5" name="pose-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Posture</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Standing, sitting, crouching or lying, with the seconds spent in each. "Did anyone fall in the warehouse last night?"</a:t>
            </a:r>
            <a:endParaRPr lang="en-US" sz="1400" dirty="0"/>
          </a:p>
        </p:txBody>
      </p:sp>
      <p:sp>
        <p:nvSpPr>
          <p:cNvPr id="9" name="pose-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txBody>
          <a:bodyPr/>
          <a:p/>
        </p:txBody>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Hands up, someone down</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Hands raised above the head, and whether they faced the camera. Lying for 10 s, or both hands up for 3 s, can be an alert.</a:t>
            </a:r>
            <a:endParaRPr lang="en-US" sz="1400" dirty="0"/>
          </a:p>
        </p:txBody>
      </p:sp>
      <p:sp>
        <p:nvSpPr>
          <p:cNvPr id="13" name="pose-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txBody>
          <a:bodyPr/>
          <a:p/>
        </p:txBody>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What they wore</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The colour of the top and of the trousers, read from the clothes the body outlines. "A red top and blue jeans this morning?"</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How: </a:t>
            </a:r>
            <a:pPr indent="0" marL="0">
              <a:buNone/>
            </a:pPr>
            <a:r>
              <a:rPr lang="en-US" sz="1400" dirty="0">
                <a:solidFill>
                  <a:schemeClr val="bg2"/>
                </a:solidFill>
              </a:rPr>
              <a:t>17 body points per person, about once a second, on the same server. Person-down is checked on staged falls at each site before it goes live.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NEW IN OCTOBER</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reads plates, hears alarms and checks itself.</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
        <p:nvSpPr>
          <p:cNvPr id="1001" name="new-card-01"/>
          <p:cNvSpPr/>
          <p:nvPr/>
        </p:nvSpPr>
        <p:spPr>
          <a:xfrm>
            <a:off x="813816"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2" name="Text 3"/>
          <p:cNvSpPr txBox="1"/>
          <p:nvPr/>
        </p:nvSpPr>
        <p:spPr>
          <a:xfrm>
            <a:off x="1042416"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1003" name="Text 4"/>
          <p:cNvSpPr txBox="1"/>
          <p:nvPr/>
        </p:nvSpPr>
        <p:spPr>
          <a:xfrm>
            <a:off x="1042416"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Sharper search</a:t>
            </a:r>
            <a:endParaRPr lang="en-US" sz="2000" dirty="0"/>
          </a:p>
        </p:txBody>
      </p:sp>
      <p:sp>
        <p:nvSpPr>
          <p:cNvPr id="1004" name="Text 5"/>
          <p:cNvSpPr txBox="1"/>
          <p:nvPr/>
        </p:nvSpPr>
        <p:spPr>
          <a:xfrm>
            <a:off x="1042416"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better search model finds descriptions more reliably, at ~30 ms per object.</a:t>
            </a:r>
            <a:endParaRPr lang="en-US" sz="1400" dirty="0"/>
          </a:p>
        </p:txBody>
      </p:sp>
      <p:sp>
        <p:nvSpPr>
          <p:cNvPr id="1005" name="new-card-02"/>
          <p:cNvSpPr/>
          <p:nvPr/>
        </p:nvSpPr>
        <p:spPr>
          <a:xfrm>
            <a:off x="2964484"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06" name="Text 3"/>
          <p:cNvSpPr txBox="1"/>
          <p:nvPr/>
        </p:nvSpPr>
        <p:spPr>
          <a:xfrm>
            <a:off x="3193084"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007" name="Text 4"/>
          <p:cNvSpPr txBox="1"/>
          <p:nvPr/>
        </p:nvSpPr>
        <p:spPr>
          <a:xfrm>
            <a:off x="3193084"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A second look</a:t>
            </a:r>
            <a:endParaRPr lang="en-US" sz="2000" dirty="0"/>
          </a:p>
        </p:txBody>
      </p:sp>
      <p:sp>
        <p:nvSpPr>
          <p:cNvPr id="1008" name="Text 5"/>
          <p:cNvSpPr txBox="1"/>
          <p:nvPr/>
        </p:nvSpPr>
        <p:spPr>
          <a:xfrm>
            <a:off x="3193084"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A local vision model looks at the evidence frames: counts, signs, a second opinion.</a:t>
            </a:r>
            <a:endParaRPr lang="en-US" sz="1400" dirty="0"/>
          </a:p>
        </p:txBody>
      </p:sp>
      <p:sp>
        <p:nvSpPr>
          <p:cNvPr id="1009" name="new-card-03"/>
          <p:cNvSpPr/>
          <p:nvPr/>
        </p:nvSpPr>
        <p:spPr>
          <a:xfrm>
            <a:off x="5115153" y="2093976"/>
            <a:ext cx="1967788" cy="2798064"/>
          </a:xfrm>
          <a:prstGeom prst="roundRect">
            <a:avLst>
              <a:gd name="adj" fmla="val 4545"/>
            </a:avLst>
          </a:prstGeom>
          <a:solidFill>
            <a:schemeClr val="accent3"/>
          </a:solidFill>
          <a:ln w="19050">
            <a:solidFill>
              <a:schemeClr val="accent1"/>
            </a:solidFill>
            <a:prstDash val="solid"/>
          </a:ln>
        </p:spPr>
        <p:txBody>
          <a:bodyPr/>
          <a:p/>
        </p:txBody>
      </p:sp>
      <p:sp>
        <p:nvSpPr>
          <p:cNvPr id="1010" name="Text 3"/>
          <p:cNvSpPr txBox="1"/>
          <p:nvPr/>
        </p:nvSpPr>
        <p:spPr>
          <a:xfrm>
            <a:off x="5343753"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011" name="Text 4"/>
          <p:cNvSpPr txBox="1"/>
          <p:nvPr/>
        </p:nvSpPr>
        <p:spPr>
          <a:xfrm>
            <a:off x="5343753"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Number plates</a:t>
            </a:r>
            <a:endParaRPr lang="en-US" sz="2000" dirty="0"/>
          </a:p>
        </p:txBody>
      </p:sp>
      <p:sp>
        <p:nvSpPr>
          <p:cNvPr id="1012" name="Text 5"/>
          <p:cNvSpPr txBox="1"/>
          <p:nvPr/>
        </p:nvSpPr>
        <p:spPr>
          <a:xfrm>
            <a:off x="5343753"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Every vehicle's plate is read and searchable. A plate on a watchlist raises an alert.</a:t>
            </a:r>
            <a:endParaRPr lang="en-US" sz="1400" dirty="0"/>
          </a:p>
        </p:txBody>
      </p:sp>
      <p:sp>
        <p:nvSpPr>
          <p:cNvPr id="1013" name="new-card-04"/>
          <p:cNvSpPr/>
          <p:nvPr/>
        </p:nvSpPr>
        <p:spPr>
          <a:xfrm>
            <a:off x="7265822"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4" name="Text 3"/>
          <p:cNvSpPr txBox="1"/>
          <p:nvPr/>
        </p:nvSpPr>
        <p:spPr>
          <a:xfrm>
            <a:off x="7494422"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04</a:t>
            </a:r>
            <a:endParaRPr lang="en-US" sz="1200" dirty="0"/>
          </a:p>
        </p:txBody>
      </p:sp>
      <p:sp>
        <p:nvSpPr>
          <p:cNvPr id="1015" name="Text 4"/>
          <p:cNvSpPr txBox="1"/>
          <p:nvPr/>
        </p:nvSpPr>
        <p:spPr>
          <a:xfrm>
            <a:off x="7494422"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Sounds</a:t>
            </a:r>
            <a:endParaRPr lang="en-US" sz="2000" dirty="0"/>
          </a:p>
        </p:txBody>
      </p:sp>
      <p:sp>
        <p:nvSpPr>
          <p:cNvPr id="1016" name="Text 5"/>
          <p:cNvSpPr txBox="1"/>
          <p:nvPr/>
        </p:nvSpPr>
        <p:spPr>
          <a:xfrm>
            <a:off x="7494422"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Smoke alarms, breaking glass, gunshots, screams and sirens, from the camera microphones.</a:t>
            </a:r>
            <a:endParaRPr lang="en-US" sz="1400" dirty="0"/>
          </a:p>
        </p:txBody>
      </p:sp>
      <p:sp>
        <p:nvSpPr>
          <p:cNvPr id="1017" name="new-card-05"/>
          <p:cNvSpPr/>
          <p:nvPr/>
        </p:nvSpPr>
        <p:spPr>
          <a:xfrm>
            <a:off x="9416491" y="2093976"/>
            <a:ext cx="1967788" cy="2798064"/>
          </a:xfrm>
          <a:prstGeom prst="roundRect">
            <a:avLst>
              <a:gd name="adj" fmla="val 4545"/>
            </a:avLst>
          </a:prstGeom>
          <a:solidFill>
            <a:schemeClr val="accent4"/>
          </a:solidFill>
          <a:ln w="9525">
            <a:solidFill>
              <a:schemeClr val="accent5"/>
            </a:solidFill>
            <a:prstDash val="solid"/>
          </a:ln>
        </p:spPr>
        <p:txBody>
          <a:bodyPr/>
          <a:p/>
        </p:txBody>
      </p:sp>
      <p:sp>
        <p:nvSpPr>
          <p:cNvPr id="1018" name="Text 3"/>
          <p:cNvSpPr txBox="1"/>
          <p:nvPr/>
        </p:nvSpPr>
        <p:spPr>
          <a:xfrm>
            <a:off x="9645091" y="2377440"/>
            <a:ext cx="1510588"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05</a:t>
            </a:r>
            <a:endParaRPr lang="en-US" sz="1200" dirty="0"/>
          </a:p>
        </p:txBody>
      </p:sp>
      <p:sp>
        <p:nvSpPr>
          <p:cNvPr id="1019" name="Text 4"/>
          <p:cNvSpPr txBox="1"/>
          <p:nvPr/>
        </p:nvSpPr>
        <p:spPr>
          <a:xfrm>
            <a:off x="9645091" y="2679192"/>
            <a:ext cx="1510588" cy="694944"/>
          </a:xfrm>
          <a:prstGeom prst="rect">
            <a:avLst/>
          </a:prstGeom>
          <a:noFill/>
          <a:ln/>
        </p:spPr>
        <p:txBody>
          <a:bodyPr wrap="square" lIns="0" tIns="0" rIns="0" bIns="0" rtlCol="0" anchor="t"/>
          <a:lstStyle/>
          <a:p>
            <a:pPr indent="0" marL="0">
              <a:buNone/>
            </a:pPr>
            <a:r>
              <a:rPr lang="en-US" sz="2000" b="1" dirty="0">
                <a:solidFill>
                  <a:schemeClr val="bg1"/>
                </a:solidFill>
              </a:rPr>
              <a:t>Camera health</a:t>
            </a:r>
            <a:endParaRPr lang="en-US" sz="2000" dirty="0"/>
          </a:p>
        </p:txBody>
      </p:sp>
      <p:sp>
        <p:nvSpPr>
          <p:cNvPr id="1020" name="Text 5"/>
          <p:cNvSpPr txBox="1"/>
          <p:nvPr/>
        </p:nvSpPr>
        <p:spPr>
          <a:xfrm>
            <a:off x="9645091" y="3465576"/>
            <a:ext cx="1510588" cy="1335024"/>
          </a:xfrm>
          <a:prstGeom prst="rect">
            <a:avLst/>
          </a:prstGeom>
          <a:noFill/>
          <a:ln/>
        </p:spPr>
        <p:txBody>
          <a:bodyPr wrap="square" lIns="0" tIns="0" rIns="0" bIns="0" rtlCol="0" anchor="t"/>
          <a:lstStyle/>
          <a:p>
            <a:pPr indent="0" marL="0">
              <a:buNone/>
            </a:pPr>
            <a:r>
              <a:rPr lang="en-US" sz="1400" dirty="0">
                <a:solidFill>
                  <a:schemeClr val="bg2"/>
                </a:solidFill>
              </a:rPr>
              <a:t>Covered, dark, blurred, turned or frozen cameras raise an alert. So do bags left behind and crowds.</a:t>
            </a:r>
            <a:endParaRPr lang="en-US" sz="1400" dirty="0"/>
          </a:p>
        </p:txBody>
      </p:sp>
      <p:sp>
        <p:nvSpPr>
          <p:cNvPr id="1021" name="Text 14"/>
          <p:cNvSpPr txBox="1"/>
          <p:nvPr/>
        </p:nvSpPr>
        <p:spPr>
          <a:xfrm>
            <a:off x="813816" y="5138928"/>
            <a:ext cx="10570464" cy="566928"/>
          </a:xfrm>
          <a:prstGeom prst="rect">
            <a:avLst/>
          </a:prstGeom>
          <a:noFill/>
          <a:ln/>
        </p:spPr>
        <p:txBody>
          <a:bodyPr wrap="square" lIns="0" tIns="0" rIns="0" bIns="0" rtlCol="0" anchor="t"/>
          <a:lstStyle/>
          <a:p>
            <a:pPr indent="0" marL="0">
              <a:buNone/>
            </a:pPr>
            <a:r>
              <a:rPr lang="en-US" sz="1400" b="1" dirty="0">
                <a:solidFill>
                  <a:schemeClr val="bg1"/>
                </a:solidFill>
              </a:rPr>
              <a:t>Same server, same rules: </a:t>
            </a:r>
            <a:r>
              <a:rPr lang="en-US" sz="1400" dirty="0" b="0">
                <a:solidFill>
                  <a:schemeClr val="bg2"/>
                </a:solidFill>
              </a:rPr>
              <a:t>all of it runs on site with permissively licensed models. Plates and sounds stay off until the client approves them.</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NUMBER PLATES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Which car was it? Ask for the plate.</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plate-crop" descr="plate_crop.png"/>
          <p:cNvPicPr>
            <a:picLocks noChangeAspect="1"/>
          </p:cNvPicPr>
          <p:nvPr/>
        </p:nvPicPr>
        <p:blipFill>
          <a:blip r:embed="rId2"/>
          <a:stretch>
            <a:fillRect/>
          </a:stretch>
        </p:blipFill>
        <p:spPr>
          <a:xfrm>
            <a:off x="813816" y="2103120"/>
            <a:ext cx="5212080" cy="1584328"/>
          </a:xfrm>
          <a:prstGeom prst="rect">
            <a:avLst/>
          </a:prstGeom>
        </p:spPr>
      </p:pic>
      <p:pic>
        <p:nvPicPr>
          <p:cNvPr id="27" name="plate-read" descr="plate_read.png"/>
          <p:cNvPicPr>
            <a:picLocks noChangeAspect="1"/>
          </p:cNvPicPr>
          <p:nvPr/>
        </p:nvPicPr>
        <p:blipFill>
          <a:blip r:embed="rId3"/>
          <a:stretch>
            <a:fillRect/>
          </a:stretch>
        </p:blipFill>
        <p:spPr>
          <a:xfrm>
            <a:off x="813816" y="3657600"/>
            <a:ext cx="5212080" cy="1882140"/>
          </a:xfrm>
          <a:prstGeom prst="rect">
            <a:avLst/>
          </a:prstGeom>
        </p:spPr>
      </p:pic>
      <p:sp>
        <p:nvSpPr>
          <p:cNvPr id="1022" name="Text 21"/>
          <p:cNvSpPr txBox="1"/>
          <p:nvPr/>
        </p:nvSpPr>
        <p:spPr>
          <a:xfrm>
            <a:off x="813816" y="5577840"/>
            <a:ext cx="521208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models on a synthetic plate</a:t>
            </a:r>
            <a:endParaRPr lang="en-US" sz="1200" dirty="0"/>
          </a:p>
        </p:txBody>
      </p:sp>
      <p:sp>
        <p:nvSpPr>
          <p:cNvPr id="1023" name="Text 2"/>
          <p:cNvSpPr txBox="1"/>
          <p:nvPr/>
        </p:nvSpPr>
        <p:spPr>
          <a:xfrm>
            <a:off x="6492240" y="2103120"/>
            <a:ext cx="4846320" cy="304800"/>
          </a:xfrm>
          <a:prstGeom prst="rect">
            <a:avLst/>
          </a:prstGeom>
          <a:noFill/>
          <a:ln/>
        </p:spPr>
        <p:txBody>
          <a:bodyPr wrap="square" lIns="0" tIns="0" rIns="0" bIns="0" rtlCol="0" anchor="t"/>
          <a:lstStyle/>
          <a:p>
            <a:pPr indent="0" marL="0">
              <a:buNone/>
            </a:pPr>
            <a:r>
              <a:rPr lang="en-US" sz="1700" b="1" dirty="0">
                <a:solidFill>
                  <a:schemeClr val="bg1"/>
                </a:solidFill>
              </a:rPr>
              <a:t>Find</a:t>
            </a:r>
            <a:endParaRPr lang="en-US" sz="1700" dirty="0"/>
          </a:p>
        </p:txBody>
      </p:sp>
      <p:sp>
        <p:nvSpPr>
          <p:cNvPr id="1024" name="Text 3"/>
          <p:cNvSpPr txBox="1"/>
          <p:nvPr/>
        </p:nvSpPr>
        <p:spPr>
          <a:xfrm>
            <a:off x="6492240" y="2432303"/>
            <a:ext cx="4846320" cy="502920"/>
          </a:xfrm>
          <a:prstGeom prst="rect">
            <a:avLst/>
          </a:prstGeom>
          <a:noFill/>
          <a:ln/>
        </p:spPr>
        <p:txBody>
          <a:bodyPr wrap="square" lIns="0" tIns="0" rIns="0" bIns="0" rtlCol="0" anchor="t"/>
          <a:lstStyle/>
          <a:p>
            <a:pPr indent="0" marL="0">
              <a:buNone/>
            </a:pPr>
            <a:r>
              <a:rPr lang="en-US" sz="1300" dirty="0">
                <a:solidFill>
                  <a:schemeClr val="bg2"/>
                </a:solidFill>
              </a:rPr>
              <a:t>A small model finds the plate on each tracked vehicle, about once a second.</a:t>
            </a:r>
            <a:endParaRPr lang="en-US" sz="1300" dirty="0"/>
          </a:p>
        </p:txBody>
      </p:sp>
      <p:sp>
        <p:nvSpPr>
          <p:cNvPr id="1025" name="Text 2"/>
          <p:cNvSpPr txBox="1"/>
          <p:nvPr/>
        </p:nvSpPr>
        <p:spPr>
          <a:xfrm>
            <a:off x="6492240" y="2999232"/>
            <a:ext cx="4846320" cy="304800"/>
          </a:xfrm>
          <a:prstGeom prst="rect">
            <a:avLst/>
          </a:prstGeom>
          <a:noFill/>
          <a:ln/>
        </p:spPr>
        <p:txBody>
          <a:bodyPr wrap="square" lIns="0" tIns="0" rIns="0" bIns="0" rtlCol="0" anchor="t"/>
          <a:lstStyle/>
          <a:p>
            <a:pPr indent="0" marL="0">
              <a:buNone/>
            </a:pPr>
            <a:r>
              <a:rPr lang="en-US" sz="1700" b="1" dirty="0">
                <a:solidFill>
                  <a:schemeClr val="bg1"/>
                </a:solidFill>
              </a:rPr>
              <a:t>Read</a:t>
            </a:r>
            <a:endParaRPr lang="en-US" sz="1700" dirty="0"/>
          </a:p>
        </p:txBody>
      </p:sp>
      <p:sp>
        <p:nvSpPr>
          <p:cNvPr id="1026" name="Text 3"/>
          <p:cNvSpPr txBox="1"/>
          <p:nvPr/>
        </p:nvSpPr>
        <p:spPr>
          <a:xfrm>
            <a:off x="6492240" y="3328415"/>
            <a:ext cx="4846320" cy="502920"/>
          </a:xfrm>
          <a:prstGeom prst="rect">
            <a:avLst/>
          </a:prstGeom>
          <a:noFill/>
          <a:ln/>
        </p:spPr>
        <p:txBody>
          <a:bodyPr wrap="square" lIns="0" tIns="0" rIns="0" bIns="0" rtlCol="0" anchor="t"/>
          <a:lstStyle/>
          <a:p>
            <a:pPr indent="0" marL="0">
              <a:buNone/>
            </a:pPr>
            <a:r>
              <a:rPr lang="en-US" sz="1300" dirty="0">
                <a:solidFill>
                  <a:schemeClr val="bg2"/>
                </a:solidFill>
              </a:rPr>
              <a:t>The reader turns it into text. Each character must be at least 60 % sure.</a:t>
            </a:r>
            <a:endParaRPr lang="en-US" sz="1300" dirty="0"/>
          </a:p>
        </p:txBody>
      </p:sp>
      <p:sp>
        <p:nvSpPr>
          <p:cNvPr id="1027" name="Text 2"/>
          <p:cNvSpPr txBox="1"/>
          <p:nvPr/>
        </p:nvSpPr>
        <p:spPr>
          <a:xfrm>
            <a:off x="6492240" y="3895344"/>
            <a:ext cx="4846320" cy="304800"/>
          </a:xfrm>
          <a:prstGeom prst="rect">
            <a:avLst/>
          </a:prstGeom>
          <a:noFill/>
          <a:ln/>
        </p:spPr>
        <p:txBody>
          <a:bodyPr wrap="square" lIns="0" tIns="0" rIns="0" bIns="0" rtlCol="0" anchor="t"/>
          <a:lstStyle/>
          <a:p>
            <a:pPr indent="0" marL="0">
              <a:buNone/>
            </a:pPr>
            <a:r>
              <a:rPr lang="en-US" sz="1700" b="1" dirty="0">
                <a:solidFill>
                  <a:schemeClr val="bg1"/>
                </a:solidFill>
              </a:rPr>
              <a:t>Vote</a:t>
            </a:r>
            <a:endParaRPr lang="en-US" sz="1700" dirty="0"/>
          </a:p>
        </p:txBody>
      </p:sp>
      <p:sp>
        <p:nvSpPr>
          <p:cNvPr id="1028" name="Text 3"/>
          <p:cNvSpPr txBox="1"/>
          <p:nvPr/>
        </p:nvSpPr>
        <p:spPr>
          <a:xfrm>
            <a:off x="6492240" y="4224528"/>
            <a:ext cx="4846320" cy="502920"/>
          </a:xfrm>
          <a:prstGeom prst="rect">
            <a:avLst/>
          </a:prstGeom>
          <a:noFill/>
          <a:ln/>
        </p:spPr>
        <p:txBody>
          <a:bodyPr wrap="square" lIns="0" tIns="0" rIns="0" bIns="0" rtlCol="0" anchor="t"/>
          <a:lstStyle/>
          <a:p>
            <a:pPr indent="0" marL="0">
              <a:buNone/>
            </a:pPr>
            <a:r>
              <a:rPr lang="en-US" sz="1300" dirty="0">
                <a:solidFill>
                  <a:schemeClr val="bg2"/>
                </a:solidFill>
              </a:rPr>
              <a:t>Several reads per vehicle are combined, so one bad frame never renames it.</a:t>
            </a:r>
            <a:endParaRPr lang="en-US" sz="1300" dirty="0"/>
          </a:p>
        </p:txBody>
      </p:sp>
      <p:sp>
        <p:nvSpPr>
          <p:cNvPr id="1029" name="Text 2"/>
          <p:cNvSpPr txBox="1"/>
          <p:nvPr/>
        </p:nvSpPr>
        <p:spPr>
          <a:xfrm>
            <a:off x="6492240" y="4791456"/>
            <a:ext cx="4846320" cy="304800"/>
          </a:xfrm>
          <a:prstGeom prst="rect">
            <a:avLst/>
          </a:prstGeom>
          <a:noFill/>
          <a:ln/>
        </p:spPr>
        <p:txBody>
          <a:bodyPr wrap="square" lIns="0" tIns="0" rIns="0" bIns="0" rtlCol="0" anchor="t"/>
          <a:lstStyle/>
          <a:p>
            <a:pPr indent="0" marL="0">
              <a:buNone/>
            </a:pPr>
            <a:r>
              <a:rPr lang="en-US" sz="1700" b="1" dirty="0">
                <a:solidFill>
                  <a:schemeClr val="bg1"/>
                </a:solidFill>
              </a:rPr>
              <a:t>Search and alert</a:t>
            </a:r>
            <a:endParaRPr lang="en-US" sz="1700" dirty="0"/>
          </a:p>
        </p:txBody>
      </p:sp>
      <p:sp>
        <p:nvSpPr>
          <p:cNvPr id="1030" name="Text 3"/>
          <p:cNvSpPr txBox="1"/>
          <p:nvPr/>
        </p:nvSpPr>
        <p:spPr>
          <a:xfrm>
            <a:off x="6492240" y="5120640"/>
            <a:ext cx="4846320" cy="502920"/>
          </a:xfrm>
          <a:prstGeom prst="rect">
            <a:avLst/>
          </a:prstGeom>
          <a:noFill/>
          <a:ln/>
        </p:spPr>
        <p:txBody>
          <a:bodyPr wrap="square" lIns="0" tIns="0" rIns="0" bIns="0" rtlCol="0" anchor="t"/>
          <a:lstStyle/>
          <a:p>
            <a:pPr indent="0" marL="0">
              <a:buNone/>
            </a:pPr>
            <a:r>
              <a:rPr lang="en-US" sz="1300" dirty="0">
                <a:solidFill>
                  <a:schemeClr val="bg2"/>
                </a:solidFill>
              </a:rPr>
              <a:t>"When did AB 123 CD come in?" Spaces and look-alikes (0/O, 8/B) don't matter. Watchlist plates raise an alert.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SOUNDS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It hears the alarm, not the conversation.</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sound-scores" descr="sound_scores.png"/>
          <p:cNvPicPr>
            <a:picLocks noChangeAspect="1"/>
          </p:cNvPicPr>
          <p:nvPr/>
        </p:nvPicPr>
        <p:blipFill>
          <a:blip r:embed="rId2"/>
          <a:stretch>
            <a:fillRect/>
          </a:stretch>
        </p:blipFill>
        <p:spPr>
          <a:xfrm>
            <a:off x="813816" y="2148840"/>
            <a:ext cx="6400800" cy="2880360"/>
          </a:xfrm>
          <a:prstGeom prst="rect">
            <a:avLst/>
          </a:prstGeom>
        </p:spPr>
      </p:pic>
      <p:sp>
        <p:nvSpPr>
          <p:cNvPr id="1031" name="Text 21"/>
          <p:cNvSpPr txBox="1"/>
          <p:nvPr/>
        </p:nvSpPr>
        <p:spPr>
          <a:xfrm>
            <a:off x="813816" y="5074920"/>
            <a:ext cx="64008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model on a synthetic smoke-alarm pattern</a:t>
            </a:r>
            <a:endParaRPr lang="en-US" sz="1200" dirty="0"/>
          </a:p>
        </p:txBody>
      </p:sp>
      <p:sp>
        <p:nvSpPr>
          <p:cNvPr id="1032" name="Text 2"/>
          <p:cNvSpPr txBox="1"/>
          <p:nvPr/>
        </p:nvSpPr>
        <p:spPr>
          <a:xfrm>
            <a:off x="7589520" y="2148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hears</a:t>
            </a:r>
            <a:endParaRPr lang="en-US" sz="1700" dirty="0"/>
          </a:p>
        </p:txBody>
      </p:sp>
      <p:sp>
        <p:nvSpPr>
          <p:cNvPr id="1033" name="Text 3"/>
          <p:cNvSpPr txBox="1"/>
          <p:nvPr/>
        </p:nvSpPr>
        <p:spPr>
          <a:xfrm>
            <a:off x="7589520" y="2478024"/>
            <a:ext cx="3794760" cy="731520"/>
          </a:xfrm>
          <a:prstGeom prst="rect">
            <a:avLst/>
          </a:prstGeom>
          <a:noFill/>
          <a:ln/>
        </p:spPr>
        <p:txBody>
          <a:bodyPr wrap="square" lIns="0" tIns="0" rIns="0" bIns="0" rtlCol="0" anchor="t"/>
          <a:lstStyle/>
          <a:p>
            <a:pPr indent="0" marL="0">
              <a:buNone/>
            </a:pPr>
            <a:r>
              <a:rPr lang="en-US" sz="1300" dirty="0">
                <a:solidFill>
                  <a:schemeClr val="bg2"/>
                </a:solidFill>
              </a:rPr>
              <a:t>Smoke alarms, breaking glass, gunshots, explosions, screams, car alarms and sirens.</a:t>
            </a:r>
            <a:endParaRPr lang="en-US" sz="1300" dirty="0"/>
          </a:p>
        </p:txBody>
      </p:sp>
      <p:sp>
        <p:nvSpPr>
          <p:cNvPr id="1034" name="Text 2"/>
          <p:cNvSpPr txBox="1"/>
          <p:nvPr/>
        </p:nvSpPr>
        <p:spPr>
          <a:xfrm>
            <a:off x="7589520" y="3291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35" name="Text 3"/>
          <p:cNvSpPr txBox="1"/>
          <p:nvPr/>
        </p:nvSpPr>
        <p:spPr>
          <a:xfrm>
            <a:off x="7589520" y="3621024"/>
            <a:ext cx="3794760" cy="731520"/>
          </a:xfrm>
          <a:prstGeom prst="rect">
            <a:avLst/>
          </a:prstGeom>
          <a:noFill/>
          <a:ln/>
        </p:spPr>
        <p:txBody>
          <a:bodyPr wrap="square" lIns="0" tIns="0" rIns="0" bIns="0" rtlCol="0" anchor="t"/>
          <a:lstStyle/>
          <a:p>
            <a:pPr indent="0" marL="0">
              <a:buNone/>
            </a:pPr>
            <a:r>
              <a:rPr lang="en-US" sz="1300" dirty="0">
                <a:solidFill>
                  <a:schemeClr val="bg2"/>
                </a:solidFill>
              </a:rPr>
              <a:t>A score above 0.3 for about a second, then 30 s of rest: one alert, not a flood.</a:t>
            </a:r>
            <a:endParaRPr lang="en-US" sz="1300" dirty="0"/>
          </a:p>
        </p:txBody>
      </p:sp>
      <p:sp>
        <p:nvSpPr>
          <p:cNvPr id="1036" name="Text 2"/>
          <p:cNvSpPr txBox="1"/>
          <p:nvPr/>
        </p:nvSpPr>
        <p:spPr>
          <a:xfrm>
            <a:off x="7589520" y="4434840"/>
            <a:ext cx="3794760" cy="304800"/>
          </a:xfrm>
          <a:prstGeom prst="rect">
            <a:avLst/>
          </a:prstGeom>
          <a:noFill/>
          <a:ln/>
        </p:spPr>
        <p:txBody>
          <a:bodyPr wrap="square" lIns="0" tIns="0" rIns="0" bIns="0" rtlCol="0" anchor="t"/>
          <a:lstStyle/>
          <a:p>
            <a:pPr indent="0" marL="0">
              <a:buNone/>
            </a:pPr>
            <a:r>
              <a:rPr lang="en-US" sz="1700" b="1" dirty="0">
                <a:solidFill>
                  <a:schemeClr val="bg1"/>
                </a:solidFill>
              </a:rPr>
              <a:t>What it keeps</a:t>
            </a:r>
            <a:endParaRPr lang="en-US" sz="1700" dirty="0"/>
          </a:p>
        </p:txBody>
      </p:sp>
      <p:sp>
        <p:nvSpPr>
          <p:cNvPr id="1037" name="Text 3"/>
          <p:cNvSpPr txBox="1"/>
          <p:nvPr/>
        </p:nvSpPr>
        <p:spPr>
          <a:xfrm>
            <a:off x="7589520" y="4764024"/>
            <a:ext cx="3794760" cy="731520"/>
          </a:xfrm>
          <a:prstGeom prst="rect">
            <a:avLst/>
          </a:prstGeom>
          <a:noFill/>
          <a:ln/>
        </p:spPr>
        <p:txBody>
          <a:bodyPr wrap="square" lIns="0" tIns="0" rIns="0" bIns="0" rtlCol="0" anchor="t"/>
          <a:lstStyle/>
          <a:p>
            <a:pPr indent="0" marL="0">
              <a:buNone/>
            </a:pPr>
            <a:r>
              <a:rPr lang="en-US" sz="1300" dirty="0">
                <a:solidFill>
                  <a:schemeClr val="bg2"/>
                </a:solidFill>
              </a:rPr>
              <a:t>Only the event and a snapshot. The audio is never stored. Off until the client and local law allow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CAMERA HEALTH</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 camera that can't see raises its hand.</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tamper-strip" descr="tamper_strip.png"/>
          <p:cNvPicPr>
            <a:picLocks noChangeAspect="1"/>
          </p:cNvPicPr>
          <p:nvPr/>
        </p:nvPicPr>
        <p:blipFill>
          <a:blip r:embed="rId2"/>
          <a:stretch>
            <a:fillRect/>
          </a:stretch>
        </p:blipFill>
        <p:spPr>
          <a:xfrm>
            <a:off x="813816" y="2103120"/>
            <a:ext cx="10570464" cy="2009757"/>
          </a:xfrm>
          <a:prstGeom prst="rect">
            <a:avLst/>
          </a:prstGeom>
        </p:spPr>
      </p:pic>
      <p:sp>
        <p:nvSpPr>
          <p:cNvPr id="1038" name="health-card-0"/>
          <p:cNvSpPr/>
          <p:nvPr/>
        </p:nvSpPr>
        <p:spPr>
          <a:xfrm>
            <a:off x="813816"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39" name="Text 2"/>
          <p:cNvSpPr txBox="1"/>
          <p:nvPr/>
        </p:nvSpPr>
        <p:spPr>
          <a:xfrm>
            <a:off x="1042416"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checks</a:t>
            </a:r>
            <a:endParaRPr lang="en-US" sz="1700" dirty="0"/>
          </a:p>
        </p:txBody>
      </p:sp>
      <p:sp>
        <p:nvSpPr>
          <p:cNvPr id="1040" name="Text 3"/>
          <p:cNvSpPr txBox="1"/>
          <p:nvPr/>
        </p:nvSpPr>
        <p:spPr>
          <a:xfrm>
            <a:off x="1042416"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Covered, too dark, out of focus, turned away, or a frozen picture.</a:t>
            </a:r>
            <a:endParaRPr lang="en-US" sz="1300" dirty="0"/>
          </a:p>
        </p:txBody>
      </p:sp>
      <p:sp>
        <p:nvSpPr>
          <p:cNvPr id="1041" name="health-card-1"/>
          <p:cNvSpPr/>
          <p:nvPr/>
        </p:nvSpPr>
        <p:spPr>
          <a:xfrm>
            <a:off x="4407408"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2" name="Text 2"/>
          <p:cNvSpPr txBox="1"/>
          <p:nvPr/>
        </p:nvSpPr>
        <p:spPr>
          <a:xfrm>
            <a:off x="4636008"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How it decides</a:t>
            </a:r>
            <a:endParaRPr lang="en-US" sz="1700" dirty="0"/>
          </a:p>
        </p:txBody>
      </p:sp>
      <p:sp>
        <p:nvSpPr>
          <p:cNvPr id="1043" name="Text 3"/>
          <p:cNvSpPr txBox="1"/>
          <p:nvPr/>
        </p:nvSpPr>
        <p:spPr>
          <a:xfrm>
            <a:off x="4636008"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Against the camera's own usual view, for 20 s, so people walking by or a cloud don't count.</a:t>
            </a:r>
            <a:endParaRPr lang="en-US" sz="1300" dirty="0"/>
          </a:p>
        </p:txBody>
      </p:sp>
      <p:sp>
        <p:nvSpPr>
          <p:cNvPr id="1044" name="health-card-2"/>
          <p:cNvSpPr/>
          <p:nvPr/>
        </p:nvSpPr>
        <p:spPr>
          <a:xfrm>
            <a:off x="8001000" y="4434840"/>
            <a:ext cx="3383280" cy="1280160"/>
          </a:xfrm>
          <a:prstGeom prst="roundRect">
            <a:avLst>
              <a:gd name="adj" fmla="val 4545"/>
            </a:avLst>
          </a:prstGeom>
          <a:solidFill>
            <a:schemeClr val="accent4"/>
          </a:solidFill>
          <a:ln w="9525">
            <a:solidFill>
              <a:schemeClr val="accent5"/>
            </a:solidFill>
            <a:prstDash val="solid"/>
          </a:ln>
        </p:spPr>
        <p:txBody>
          <a:bodyPr/>
          <a:p/>
        </p:txBody>
      </p:sp>
      <p:sp>
        <p:nvSpPr>
          <p:cNvPr id="1045" name="Text 2"/>
          <p:cNvSpPr txBox="1"/>
          <p:nvPr/>
        </p:nvSpPr>
        <p:spPr>
          <a:xfrm>
            <a:off x="8229600" y="4553712"/>
            <a:ext cx="2926080" cy="304800"/>
          </a:xfrm>
          <a:prstGeom prst="rect">
            <a:avLst/>
          </a:prstGeom>
          <a:noFill/>
          <a:ln/>
        </p:spPr>
        <p:txBody>
          <a:bodyPr wrap="square" lIns="0" tIns="0" rIns="0" bIns="0" rtlCol="0" anchor="t"/>
          <a:lstStyle/>
          <a:p>
            <a:pPr indent="0" marL="0">
              <a:buNone/>
            </a:pPr>
            <a:r>
              <a:rPr lang="en-US" sz="1700" b="1" dirty="0">
                <a:solidFill>
                  <a:schemeClr val="bg1"/>
                </a:solidFill>
              </a:rPr>
              <a:t>What it costs</a:t>
            </a:r>
            <a:endParaRPr lang="en-US" sz="1700" dirty="0"/>
          </a:p>
        </p:txBody>
      </p:sp>
      <p:sp>
        <p:nvSpPr>
          <p:cNvPr id="1046" name="Text 3"/>
          <p:cNvSpPr txBox="1"/>
          <p:nvPr/>
        </p:nvSpPr>
        <p:spPr>
          <a:xfrm>
            <a:off x="8229600" y="4882896"/>
            <a:ext cx="2926080" cy="685800"/>
          </a:xfrm>
          <a:prstGeom prst="rect">
            <a:avLst/>
          </a:prstGeom>
          <a:noFill/>
          <a:ln/>
        </p:spPr>
        <p:txBody>
          <a:bodyPr wrap="square" lIns="0" tIns="0" rIns="0" bIns="0" rtlCol="0" anchor="t"/>
          <a:lstStyle/>
          <a:p>
            <a:pPr indent="0" marL="0">
              <a:buNone/>
            </a:pPr>
            <a:r>
              <a:rPr lang="en-US" sz="1300" dirty="0">
                <a:solidFill>
                  <a:schemeClr val="bg2"/>
                </a:solidFill>
              </a:rPr>
              <a:t>No model: about 1 ms every 2 s per camera. On by default.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MORE RULES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Bags left behind, crowds, wrong way.</a:t>
            </a: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pic>
        <p:nvPicPr>
          <p:cNvPr id="26" name="crowd-zone" descr="crowd_zone.png"/>
          <p:cNvPicPr>
            <a:picLocks noChangeAspect="1"/>
          </p:cNvPicPr>
          <p:nvPr/>
        </p:nvPicPr>
        <p:blipFill>
          <a:blip r:embed="rId2"/>
          <a:stretch>
            <a:fillRect/>
          </a:stretch>
        </p:blipFill>
        <p:spPr>
          <a:xfrm>
            <a:off x="813816" y="2103120"/>
            <a:ext cx="4572000" cy="3429000"/>
          </a:xfrm>
          <a:prstGeom prst="rect">
            <a:avLst/>
          </a:prstGeom>
        </p:spPr>
      </p:pic>
      <p:sp>
        <p:nvSpPr>
          <p:cNvPr id="1047" name="Text 21"/>
          <p:cNvSpPr txBox="1"/>
          <p:nvPr/>
        </p:nvSpPr>
        <p:spPr>
          <a:xfrm>
            <a:off x="813816" y="5577840"/>
            <a:ext cx="45720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Real detections, sample street video</a:t>
            </a:r>
            <a:endParaRPr lang="en-US" sz="1200" dirty="0"/>
          </a:p>
        </p:txBody>
      </p:sp>
      <p:sp>
        <p:nvSpPr>
          <p:cNvPr id="1048" name="Text 2"/>
          <p:cNvSpPr txBox="1"/>
          <p:nvPr/>
        </p:nvSpPr>
        <p:spPr>
          <a:xfrm>
            <a:off x="6035040" y="2103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Too many in one area</a:t>
            </a:r>
            <a:endParaRPr lang="en-US" sz="1700" dirty="0"/>
          </a:p>
        </p:txBody>
      </p:sp>
      <p:sp>
        <p:nvSpPr>
          <p:cNvPr id="1049" name="Text 3"/>
          <p:cNvSpPr txBox="1"/>
          <p:nvPr/>
        </p:nvSpPr>
        <p:spPr>
          <a:xfrm>
            <a:off x="6035040" y="2432303"/>
            <a:ext cx="5349240" cy="731520"/>
          </a:xfrm>
          <a:prstGeom prst="rect">
            <a:avLst/>
          </a:prstGeom>
          <a:noFill/>
          <a:ln/>
        </p:spPr>
        <p:txBody>
          <a:bodyPr wrap="square" lIns="0" tIns="0" rIns="0" bIns="0" rtlCol="0" anchor="t"/>
          <a:lstStyle/>
          <a:p>
            <a:pPr indent="0" marL="0">
              <a:buNone/>
            </a:pPr>
            <a:r>
              <a:rPr lang="en-US" sz="1300" dirty="0">
                <a:solidFill>
                  <a:schemeClr val="bg2"/>
                </a:solidFill>
              </a:rPr>
              <a:t>An area with a limit: 6 people for 30 s at the till or on a path raises an alert.</a:t>
            </a:r>
            <a:endParaRPr lang="en-US" sz="1300" dirty="0"/>
          </a:p>
        </p:txBody>
      </p:sp>
      <p:sp>
        <p:nvSpPr>
          <p:cNvPr id="1050" name="Text 2"/>
          <p:cNvSpPr txBox="1"/>
          <p:nvPr/>
        </p:nvSpPr>
        <p:spPr>
          <a:xfrm>
            <a:off x="6035040" y="3246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Bag left behind</a:t>
            </a:r>
            <a:endParaRPr lang="en-US" sz="1700" dirty="0"/>
          </a:p>
        </p:txBody>
      </p:sp>
      <p:sp>
        <p:nvSpPr>
          <p:cNvPr id="1051" name="Text 3"/>
          <p:cNvSpPr txBox="1"/>
          <p:nvPr/>
        </p:nvSpPr>
        <p:spPr>
          <a:xfrm>
            <a:off x="6035040" y="3575303"/>
            <a:ext cx="5349240" cy="731520"/>
          </a:xfrm>
          <a:prstGeom prst="rect">
            <a:avLst/>
          </a:prstGeom>
          <a:noFill/>
          <a:ln/>
        </p:spPr>
        <p:txBody>
          <a:bodyPr wrap="square" lIns="0" tIns="0" rIns="0" bIns="0" rtlCol="0" anchor="t"/>
          <a:lstStyle/>
          <a:p>
            <a:pPr indent="0" marL="0">
              <a:buNone/>
            </a:pPr>
            <a:r>
              <a:rPr lang="en-US" sz="1300" dirty="0">
                <a:solidFill>
                  <a:schemeClr val="bg2"/>
                </a:solidFill>
              </a:rPr>
              <a:t>A backpack, handbag or suitcase that stays still with nobody near it for 60 s.</a:t>
            </a:r>
            <a:endParaRPr lang="en-US" sz="1300" dirty="0"/>
          </a:p>
        </p:txBody>
      </p:sp>
      <p:sp>
        <p:nvSpPr>
          <p:cNvPr id="1052" name="Text 2"/>
          <p:cNvSpPr txBox="1"/>
          <p:nvPr/>
        </p:nvSpPr>
        <p:spPr>
          <a:xfrm>
            <a:off x="6035040" y="4389120"/>
            <a:ext cx="5349240" cy="304800"/>
          </a:xfrm>
          <a:prstGeom prst="rect">
            <a:avLst/>
          </a:prstGeom>
          <a:noFill/>
          <a:ln/>
        </p:spPr>
        <p:txBody>
          <a:bodyPr wrap="square" lIns="0" tIns="0" rIns="0" bIns="0" rtlCol="0" anchor="t"/>
          <a:lstStyle/>
          <a:p>
            <a:pPr indent="0" marL="0">
              <a:buNone/>
            </a:pPr>
            <a:r>
              <a:rPr lang="en-US" sz="1700" b="1" dirty="0">
                <a:solidFill>
                  <a:schemeClr val="bg1"/>
                </a:solidFill>
              </a:rPr>
              <a:t>Wrong way</a:t>
            </a:r>
            <a:endParaRPr lang="en-US" sz="1700" dirty="0"/>
          </a:p>
        </p:txBody>
      </p:sp>
      <p:sp>
        <p:nvSpPr>
          <p:cNvPr id="1053" name="Text 3"/>
          <p:cNvSpPr txBox="1"/>
          <p:nvPr/>
        </p:nvSpPr>
        <p:spPr>
          <a:xfrm>
            <a:off x="6035040" y="4718304"/>
            <a:ext cx="5349240" cy="731520"/>
          </a:xfrm>
          <a:prstGeom prst="rect">
            <a:avLst/>
          </a:prstGeom>
          <a:noFill/>
          <a:ln/>
        </p:spPr>
        <p:txBody>
          <a:bodyPr wrap="square" lIns="0" tIns="0" rIns="0" bIns="0" rtlCol="0" anchor="t"/>
          <a:lstStyle/>
          <a:p>
            <a:pPr indent="0" marL="0">
              <a:buNone/>
            </a:pPr>
            <a:r>
              <a:rPr lang="en-US" sz="1300" dirty="0">
                <a:solidFill>
                  <a:schemeClr val="bg2"/>
                </a:solidFill>
              </a:rPr>
              <a:t>A one-way line: anything crossing it in the forbidden direction raises an alert.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 SECOND LOOK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When counting needs eyes, it looks.</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Find the moment</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Histor finds the right frames first, with the usual lookups.</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Look at it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 vision model reads those frames: counts, actions, signs.</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Stays on site</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It runs on your server, even with a cloud chat model. Images never leave.</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txBody>
          <a:bodyPr/>
          <a:p/>
        </p:txBody>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How many people were on the path at 14:12?</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txBody>
          <a:bodyPr/>
          <a:p/>
        </p:txBody>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Six people on the path, walking in both directions. I looked at this frame:</a:t>
            </a:r>
            <a:endParaRPr lang="en-US" sz="15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the tool is built, this answer is not a live run</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pic>
        <p:nvPicPr>
          <p:cNvPr id="26" name="look-frame" descr="look_scene.png"/>
          <p:cNvPicPr>
            <a:picLocks noChangeAspect="1"/>
          </p:cNvPicPr>
          <p:nvPr/>
        </p:nvPicPr>
        <p:blipFill>
          <a:blip r:embed="rId2"/>
          <a:stretch>
            <a:fillRect/>
          </a:stretch>
        </p:blipFill>
        <p:spPr>
          <a:xfrm>
            <a:off x="5056632" y="3931920"/>
            <a:ext cx="2133600" cy="1600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txBody>
          <a:bodyPr/>
          <a:p/>
        </p:txBody>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txBody>
          <a:bodyPr/>
          <a:p/>
        </p:txBody>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txBody>
          <a:bodyPr/>
          <a:p/>
        </p:txBody>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txBody>
          <a:bodyPr/>
          <a:p/>
        </p:txBody>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search, plates and listening are off</a:t>
            </a:r>
            <a:r>
              <a:rPr lang="en-US" sz="1500" dirty="0" b="0">
                <a:solidFill>
                  <a:schemeClr val="bg2"/>
                </a:solidFill>
              </a:rPr>
              <a:t> unless you approve them.</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txBody>
          <a:bodyPr/>
          <a:p/>
        </p:txBody>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txBody>
          <a:bodyPr/>
          <a:p/>
        </p:txBody>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No GPU required.</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txBody>
          <a:bodyPr/>
          <a:p/>
        </p:txBody>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txBody>
          <a:bodyPr/>
          <a:p/>
        </p:txBody>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txBody>
          <a:bodyPr/>
          <a:p/>
        </p:txBody>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txBody>
          <a:bodyPr/>
          <a:p/>
        </p:txBody>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txBody>
          <a:bodyPr/>
          <a:p/>
        </p:txBody>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txBody>
          <a:bodyPr/>
          <a:p/>
        </p:txBody>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txBody>
          <a:bodyPr/>
          <a:p/>
        </p:txBody>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txBody>
          <a:bodyPr/>
          <a:p/>
        </p:txBody>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txBody>
          <a:bodyPr/>
          <a:p/>
        </p:txBody>
      </p:sp>
      <p:sp>
        <p:nvSpPr>
          <p:cNvPr id="25" name="stat-rule-0"/>
          <p:cNvSpPr/>
          <p:nvPr/>
        </p:nvSpPr>
        <p:spPr>
          <a:xfrm>
            <a:off x="812800" y="4699000"/>
            <a:ext cx="2489200" cy="0"/>
          </a:xfrm>
          <a:prstGeom prst="line">
            <a:avLst/>
          </a:prstGeom>
          <a:noFill/>
          <a:ln w="19050">
            <a:solidFill>
              <a:schemeClr val="accent1"/>
            </a:solidFill>
            <a:prstDash val="solid"/>
          </a:ln>
        </p:spPr>
        <p:txBody>
          <a:bodyPr/>
          <a:p/>
        </p:txBody>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~30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txBody>
          <a:bodyPr/>
          <a:p/>
        </p:txBody>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txBody>
          <a:bodyPr/>
          <a:p/>
        </p:txBody>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txBody>
          <a:bodyPr/>
          <a:p/>
        </p:txBody>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HISTOR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txBody>
          <a:bodyPr/>
          <a:p/>
        </p:txBody>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indexing and plain-language questions</a:t>
            </a:r>
            <a:endParaRPr lang="en-US" sz="1400" dirty="0"/>
          </a:p>
          <a:p>
            <a:pPr marL="228600" indent="-228600">
              <a:spcAft>
                <a:spcPts val="600"/>
              </a:spcAft>
              <a:buSzPct val="100000"/>
              <a:buChar char="•"/>
            </a:pPr>
            <a:r>
              <a:rPr lang="en-US" sz="1400" dirty="0">
                <a:solidFill>
                  <a:srgbClr val="C7D3EA"/>
                </a:solidFill>
              </a:rPr>
              <a:t>Chat with local or cloud models, evidence frames, and a second look by a vision model</a:t>
            </a:r>
            <a:endParaRPr lang="en-US" sz="1400" dirty="0"/>
          </a:p>
          <a:p>
            <a:pPr marL="228600" indent="-228600">
              <a:spcAft>
                <a:spcPts val="600"/>
              </a:spcAft>
              <a:buSzPct val="100000"/>
              <a:buChar char="•"/>
            </a:pPr>
            <a:r>
              <a:rPr lang="en-US" sz="1400" dirty="0">
                <a:solidFill>
                  <a:srgbClr val="C7D3EA"/>
                </a:solidFill>
              </a:rPr>
              <a:t>Alerts: areas, lines, crowds, bags left behind, camera health</a:t>
            </a:r>
            <a:endParaRPr lang="en-US" sz="1400" dirty="0"/>
          </a:p>
          <a:p>
            <a:pPr marL="228600" indent="-228600">
              <a:spcAft>
                <a:spcPts val="600"/>
              </a:spcAft>
              <a:buSzPct val="100000"/>
              <a:buChar char="•"/>
            </a:pPr>
            <a:r>
              <a:rPr lang="en-US" sz="1400" dirty="0">
                <a:solidFill>
                  <a:srgbClr val="C7D3EA"/>
                </a:solidFill>
              </a:rPr>
              <a:t>Body poses and person-down alerts</a:t>
            </a:r>
            <a:endParaRPr lang="en-US" sz="1400" dirty="0"/>
          </a:p>
          <a:p>
            <a:pPr marL="228600" indent="-228600">
              <a:spcAft>
                <a:spcPts val="600"/>
              </a:spcAft>
              <a:buSzPct val="100000"/>
              <a:buChar char="•"/>
            </a:pPr>
            <a:r>
              <a:rPr lang="en-US" sz="1400" dirty="0">
                <a:solidFill>
                  <a:srgbClr val="C7D3EA"/>
                </a:solidFill>
              </a:rPr>
              <a:t>Number plates and sounds (opt-in)</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txBody>
          <a:bodyPr/>
          <a:p/>
        </p:txBody>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Our own plate finder (urgent: fully permissive licence)</a:t>
            </a:r>
            <a:endParaRPr lang="en-US" sz="1400" dirty="0"/>
          </a:p>
          <a:p>
            <a:pPr marL="228600" indent="-228600">
              <a:spcAft>
                <a:spcPts val="600"/>
              </a:spcAft>
              <a:buSzPct val="100000"/>
              <a:buChar char="•"/>
            </a:pPr>
            <a:r>
              <a:rPr lang="en-US" sz="1400" dirty="0">
                <a:solidFill>
                  <a:schemeClr val="bg2"/>
                </a:solidFill>
              </a:rPr>
              <a:t>Plates, sounds and person-down checked on a pilot site</a:t>
            </a:r>
            <a:endParaRPr lang="en-US" sz="1400" dirty="0"/>
          </a:p>
          <a:p>
            <a:pPr marL="228600" indent="-228600">
              <a:spcAft>
                <a:spcPts val="600"/>
              </a:spcAft>
              <a:buSzPct val="100000"/>
              <a:buChar char="•"/>
            </a:pPr>
            <a:r>
              <a:rPr lang="en-US" sz="1400" dirty="0">
                <a:solidFill>
                  <a:schemeClr val="bg2"/>
                </a:solidFill>
              </a:rPr>
              <a:t>A fixed test set on recorded footage to compare models</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Detectors trained per customer, such as fire and smoke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We set Histor up on a sample of your recorded video, you ask it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www.mobius-tensors.com · +961 3 004 362</a:t>
            </a:r>
            <a:endParaRPr lang="en-US" sz="1600" dirty="0"/>
          </a:p>
        </p:txBody>
      </p:sp>
      <p:pic>
        <p:nvPicPr>
          <p:cNvPr id="7" name="Mobius Tensors logo" descr="Mobius Tensors"/>
          <p:cNvPicPr>
            <a:picLocks noChangeAspect="1"/>
          </p:cNvPicPr>
          <p:nvPr/>
        </p:nvPicPr>
        <p:blipFill>
          <a:blip r:embed="rIdMT"/>
          <a:stretch>
            <a:fillRect/>
          </a:stretch>
        </p:blipFill>
        <p:spPr>
          <a:xfrm>
            <a:off x="9179200" y="5629221"/>
            <a:ext cx="2200000" cy="406779"/>
          </a:xfrm>
          <a:prstGeom prst="rect">
            <a:avLst/>
          </a:prstGeom>
        </p:spPr>
      </p:pic>
    </p:spTree>
  </p:cSld>
  <p:clrMapOvr>
    <a:masterClrMapping/>
  </p:clrMapOvr>
</p:sld>
</file>

<file path=ppt/theme/theme1.xml><?xml version="1.0" encoding="utf-8"?>
<a:theme xmlns:a="http://schemas.openxmlformats.org/drawingml/2006/main" name="Histor">
  <a:themeElements>
    <a:clrScheme name="Histor">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Hist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dc:title>
  <dc:subject>PptxGenJS Presentation</dc:subject>
  <dc:creator>Histor</dc:creator>
  <cp:lastModifiedBy>Histor</cp:lastModifiedBy>
  <cp:revision>1</cp:revision>
  <dcterms:created xsi:type="dcterms:W3CDTF">2026-10-06T07:31:03Z</dcterms:created>
  <dcterms:modified xsi:type="dcterms:W3CDTF">2026-10-06T07:31:03Z</dcterms:modified>
</cp:coreProperties>
</file>
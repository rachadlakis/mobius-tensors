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7" r:id="rId28"/>
    <p:sldId id="260" r:id="rId6"/>
    <p:sldId id="261" r:id="rId7"/>
    <p:sldId id="262" r:id="rId8"/>
    <p:sldId id="263" r:id="rId9"/>
    <p:sldId id="264" r:id="rId10"/>
    <p:sldId id="278" r:id="rId29"/>
    <p:sldId id="279" r:id="rId30"/>
    <p:sldId id="280" r:id="rId31"/>
    <p:sldId id="281" r:id="rId32"/>
    <p:sldId id="282" r:id="rId33"/>
    <p:sldId id="271" r:id="rId22"/>
    <p:sldId id="272" r:id="rId23"/>
    <p:sldId id="273" r:id="rId24"/>
    <p:sldId id="274" r:id="rId25"/>
    <p:sldId id="275" r:id="rId26"/>
    <p:sldId id="276" r:id="rId27"/>
    <p:sldId id="283" r:id="rId34"/>
    <p:sldId id="265" r:id="rId11"/>
    <p:sldId id="266" r:id="rId12"/>
    <p:sldId id="284" r:id="rId35"/>
    <p:sldId id="285" r:id="rId36"/>
    <p:sldId id="267" r:id="rId13"/>
    <p:sldId id="268" r:id="rId14"/>
    <p:sldId id="286" r:id="rId37"/>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istor" id="{6027c26e-5015-3407-7fea-4ccca11d2c58}">
          <p14:sldIdLst>
            <p14:sldId id="256"/>
            <p14:sldId id="257"/>
            <p14:sldId id="258"/>
            <p14:sldId id="259"/>
          </p14:sldIdLst>
        </p14:section>
        <p14:section name="What Histor does" id="{ef9b741a-7cc8-77e3-8fa2-788c2654ed2d}">
          <p14:sldIdLst>
            <p14:sldId id="260"/>
            <p14:sldId id="261"/>
            <p14:sldId id="262"/>
            <p14:sldId id="263"/>
            <p14:sldId id="264"/>
          </p14:sldIdLst>
        </p14:section>
        <p14:section name="On site" id="{d30e652b-97a4-4ef6-6f57-5e893754db70}">
          <p14:sldIdLst>
            <p14:sldId id="265"/>
            <p14:sldId id="266"/>
          </p14:sldIdLst>
        </p14:section>
        <p14:section name="Next steps" id="{43756bbc-1219-78dd-ff2e-ff75674785a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 is our video memory solution: it records everything a camera sees as searchable memory and lets you ask about it in plain language. This deck covers what it does, how it works, how it keeps footage private, and how to try it on your own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in the brochure's words: most sites have dozens of cameras and a few people watching screens, so most feeds go unseen and incidents are found hours later on the recording. Recorders search by time, not by what happened. Alerts only fire on rules set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Histor Panoptes, the hundred-eyed watchman of Greek myth, who never closed all his eyes at once. That is the product: a watchman for every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use the same cameras. Alerts answer "is X happening now?" for rules set in advance; memory answers "what happened?" afterwards, for any question. Histor runs both in one recorder, on the same detector, tracker and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operator types a question the way they would ask a colleague. Histor answers in a sentence and shows the frames it used, so the answer can be checked. This exchange is illustrative, not a recorded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one recorder per camera detects and tracks every object (all 80 COCO classes), embeds each tracked object with CLIP, and every few seconds embeds the whole frame plus a 2x2 grid of tiles. Everything lands in one store per site. Ask: the question is parsed into what / when / which camera; the "what" is embedded with CLIP's text model and compared with stored vectors. Answer: an LLM gets the store as tools (objects, search, alerts, people by pose and colour, and faces when approved) and composes the answer with evidence thumbnails.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ranges can be in plain words (yesterday, this morning, last 2 hours) or exact times. "Together" means the same camera and overlapping in time, within about 15 seconds by default. Counts come straight from the tracker, so they are exact; descriptions such as clothing or colour are ranked visual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a few lookups; the two main ones are these. "objects" returns tracked objects by time, class and co-occurrence: exact, no guessing. "search" is CLIP visual similarity for descriptions: ranked guesses where low-ranked hits can be wrong. Body poses add a third kind, measured: posture and clothing colour per person (see the next slides). The model never sees the database, only the results, and the thumbnails it was shown are returned as evidence. Counts are visits, not unique people: someone who leaves and comes back is two visits. Telling people apart across visits would need face recognition, which stays off unless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run inside the same recorder as the memory, on the same cameras. Tested with Histor's recorder on sample street footage: zone enter, exit and stay-too-long events and line crossings, limited to chosen object types. Delivery is by webhook (into the client's own systems), email or Telegram, with a snapshot and a cooldown between repeats; every alert also appears on the dashboard. Rules work on the 80 everyday object types today. Fire and smoke is our own detector, in training since 13 October 2026; weapons are not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every client asks: where does my footage go? Nowhere. Detection, search and the memory store run on the site's server. The default chat model is Qwen3 4B (Apache-2.0) through Ollama on CPU; a larger local option is Qwen3 30B-A3B. Any OpenAI-compatible server works (llama.cpp, LM Studio, vLLM). A cloud model such as Claude is an opt-in switch: it receives the question and the search results (times, cameras, labels, thumbnail paths), never images or video. Face prints are biometric data and stay off unless the client has approved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Detection uses YOLOX-S by default (about 76 ms a frame on a laptop CPU; YOLOX-M on a GPU server, Nano on weak machines) on ONNX Runtime and descriptions use CLIP, both on CPU. The detector reads the cheap sub stream; the main stream is saved as-is (about no CPU) in one-minute files, and full-resolution keyframes give sharp crops. On busy scenes the indexer samples more sparsely rather than lagging behind. Sizing note: 1080p at 4 Mbit/s is about 43 GB per camera per day of recording, 7 days kept by default. The 30 ms figure is a laptop CPU measurement for one CLIP crop (B/32 LAION-2B, October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questions per site type. Each maps onto what Histor does today: counts by object type and time, presence on a named camera in a time window, co-occurrence (bag with bench), and visual description search (white 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maturity. Today Histor runs as a recorder per camera, a chat, a dashboard and a Telegram bot. Alert checking runs on a real local vision model; what is not measured yet is how many false alarms it removes at a real site, which is the first thing a pilot measures. Fire and smoke is our own detector, in training since 13 October 2026, not shipped. Plates and sounds are checked on synthetic input only; the plate finder is for trials until ours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pilot offer: a demo on their own recorded footage. Fill in the contact line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2026 additions, each built and tested. Search: the CLIP model moved to LAION-2B weights (MIT), better on every benchmark we checked at the same cost. Look: a local vision model (Qwen3.5 4B via Ollama by default) reads the frames the chat already found. Plates: a plate finder plus fast-plate-ocr (MIT). The current finder is for trials only: our own YOLOX plate finder is the urgent next step. Sounds: YAMNet (Apache-2.0); audio is never stored. Camera health: picture checks with no model. Abandoned bags and crowding are rules on the tracker.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 models, both on CPU: a plate finder (~11 ms per vehicle) and a reader (fast-plate-ocr, MIT, ~10 ms). Plates are read from the full-resolution main stream when it is recorded. Search forgives spaces, dashes, look-alike characters and one wrong character. Plates are personal data in many countries: off until the client agrees, with their own retention. Licence: the current finder's code is MIT but its weights were trained with a fork of the GPL-3.0 YOLOv9 repo, so it is for trials only; training our own YOLOX on Open Images plates (CC BY 4.0) is the urgent next step. Not yet measured on a real site camera.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YAMNet (Google, Apache-2.0), trained on AudioSet's 521 sound classes, takes about 3 ms per 3 seconds of audio on one CPU thread. It reads the camera's audio track through ffmpeg. In the chart, a synthetic 3.1 kHz beep pattern starts at 4 s and the alert fires at about 4.3 s. Not yet checked on real camera microphones. Listening is often regulated more strictly than video, so this stays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on the sample street video: the same view 35 s later scores 0.78 similarity, a camera turned by 40 px 0.40, a different view about 0.2; the threshold is 0.5. In 40 s of pedestrians nothing fires; a covered lens fires 'blocked'. Each problem must last 20 s and fires once until it clears. A site is never silently blind.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on the tracker, no new model. Crowding counts tracked objects of chosen classes inside an area, here 6 people on the path (real YOLOX detections on the sample video). Abandoned objects: still within a quarter of their size, with no person within 1.5 person-heights, for 60 s; a passer-by resets the clock. Wrong way: a line set to one direction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ranks images but can't count or read. The chat model first finds the moment with its usual tools, then passes the 1 to 4 best frames to a local vision model (Qwen3.5 4B via Ollama by default, Apache-2.0) with a question. Only frames that earlier results listed can be opened. The images stay on site; only the text answer goes to the chat model. Seconds per image on a CPU. This exchange is illustrative: the tool is tested against a stand-in server, not yet a live model.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watching side, as in the brochure: connect, detect, decide, alert. It is the same recorder that builds the memory, on the same cameras.</a:t>
            </a:r>
          </a:p>
          <a:p>
            <a:r>
              <a:rPr lang="en-US" dirty="0"/>
              <a:t>Connect: any IP camera with an RTSP stream; ONVIF discovery finds them on the network. Detect: YOLOX-S on the light sub-stream, and the tracker keeps one ID per person or vehicle. Decide: rules per area, line, hours and object type, set per site. Alert: the event with a snapshot on the dashboard, by email, Telegram or a webhook into the client's own system.</a:t>
            </a:r>
          </a:p>
          <a:p>
            <a:r>
              <a:rPr lang="en-US" dirty="0"/>
              <a:t>Picture: real detector output on a sample video (the brochure's picture).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Alert checking (opt-in, built 10 October 2026): a local vision model, the same one behind the chat's look tool (Qwen3.5 4B on the site's server), gets the snapshot with the object boxed plus a close-up, and one question per event type: is there a real person in the box, not a shadow, reflection or poster? Is the person lying on the ground?</a:t>
            </a:r>
          </a:p>
          <a:p>
            <a:r>
              <a:rPr lang="en-US" dirty="0"/>
              <a:t>It answers YES, NO or UNSURE. In veto mode a NO is held back from the channels but stays in the store with its snapshot, so the chat and the dashboard can still show it. In tag mode everything is sent with the verdict, which is how a pilot measures it first. Never a silent loss: if the model is down or slow (60 s), the alert goes out unverified. The model can veto an alert, never raise one.</a:t>
            </a:r>
          </a:p>
          <a:p>
            <a:r>
              <a:rPr lang="en-US" dirty="0"/>
              <a:t>Dashboard: cameras online or offline, the live alert feed with snapshots and verdicts, search by description and by plate; one login token per site. Telegram: text by default; snapshots and clips only where the client agreed, because they leave the site.</a:t>
            </a:r>
          </a:p>
          <a:p>
            <a:r>
              <a:rPr lang="en-US" dirty="0"/>
              <a:t>Honest status: the false-alarm reduction is not measured yet. A week in tag mode at a pilot site gives the number to quote. The verdicts in the screenshot were set by hand for the picture.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brochure's lead solutions; each has its own one-page solution sheet in English, French and Arabic.</a:t>
            </a:r>
          </a:p>
          <a:p>
            <a:r>
              <a:rPr lang="en-US" dirty="0"/>
              <a:t>Perimeter &amp; Zone Watch, plate reading and person-down run today. Fire and smoke is our own detector, in training since 13 October 2026: show it, but offer it as a pilot once it passes our tests, not as shipped.</a:t>
            </a:r>
          </a:p>
          <a:p>
            <a:r>
              <a:rPr lang="en-US" dirty="0"/>
              <a:t>Message: one system, many jobs. Fire detection today and car-park monitoring next year is the same system with a new module, no new hardware.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Running today. Areas and lines are drawn per camera in the visual editor; events are enter, exit, stay too long and line crossings with direction, filtered by object type and hours, with a cooldown per rule.</a:t>
            </a:r>
          </a:p>
          <a:p>
            <a:r>
              <a:rPr lang="en-US" dirty="0"/>
              <a:t>Why it beats motion sensors: it follows detected people and vehicles, so wind, shadows and animals do not trip it.</a:t>
            </a:r>
          </a:p>
          <a:p>
            <a:r>
              <a:rPr lang="en-US" dirty="0"/>
              <a:t>Good to know: works best with a clear view and decent light; at night IR cameras or lighting help a lot. We tune lines, zones and timers on the client's real footage during the pilot.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Status, said plainly: fire and smoke is our own detector, in training since 13 October 2026 (YOLOv9 with LibreYOLO, MIT; open datasets that allow commercial use: D-Fire CC0, CQU and an indoor set under CC BY 4.0). It is not shipped yet; we offer it as a pilot once it passes our tests.</a:t>
            </a:r>
          </a:p>
          <a:p>
            <a:r>
              <a:rPr lang="en-US" dirty="0"/>
              <a:t>Design: the detector runs about once a second next to the object detector; an alert needs the detection to hold over several frames, then goes through the same vision-model check and channels as every other alert.</a:t>
            </a:r>
          </a:p>
          <a:p>
            <a:r>
              <a:rPr lang="en-US" dirty="0"/>
              <a:t>It is an early-warning layer next to a certified fire alarm, never a replacement. Steam, fog and dust can look like smoke, and thin smoke is harder to see, so thresholds are set on site.</a:t>
            </a:r>
          </a:p>
          <a:p>
            <a:r>
              <a:rPr lang="en-US" dirty="0"/>
              <a:t>The picture is the brochure's illustration, not a live detection.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New since October 2026: body poses. About once a second, each tracked person's crop goes through a pose model (ViTPose-B: Apache-2.0, trained on COCO only) that finds 17 body points. Simple rules turn them into facts: posture (standing, sitting, crouching, lying), hands above the head, facing the camera, and the colour of the top and trousers from the clothes the body outlines. A row is stored only when something changes, plus every 10 s, so the chat gets exact seconds per posture. Person-down (lying 10 s) and hands-up (3 s) events go through the same alert channels. Honest limits: people must be at least 80 px tall; colours disappear at night (infrared); sitting and crouching can be confused; person-down has been checked with tests and sample footage, not yet on staged falls, so we validate it on site before it goes live. Pose costs about 0.1 s per person on a laptop CPU. Keypoints are not a face print, but they follow the same retention as the rest.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From the Use-Case Catalog 2026: 37 ideas across security, traffic, retail, industry and the outdoors, each with an honest readiness rating: 11 ready out of the box, 17 ready after setup on site (calibrated to the cameras, angles and lighting), 9 in research (we test them on the client's own footage before promising anything).</a:t>
            </a:r>
          </a:p>
          <a:p>
            <a:r>
              <a:rPr lang="en-US" dirty="0"/>
              <a:t>Every new use case is a new module on the system the client already has, not a new project. Hand out the catalog PDF (English, French, Arabic).</a:t>
            </a:r>
          </a:p>
          <a:p>
            <a:r>
              <a:rPr lang="en-US" dirty="0"/>
              <a:t>If a person can spot it on a camera, there is a good chance Histor can learn to spot it: ask what they want to watch for, and say honestly how ready it is.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From the technical sheet. Runs on site on a standard Linux or Windows server or VM; cloud hosting is possible on request. CPU first; an NVIDIA GPU is only for many cameras or heavier models.</a:t>
            </a:r>
          </a:p>
          <a:p>
            <a:r>
              <a:rPr lang="en-US" dirty="0"/>
              <a:t>Sizing: Nano for a few cameras on a low-power box, Tiny on a standard CPU, Small for busy scenes on a strong CPU or GPU, Medium/Large on an NVIDIA GPU. The cameras' low-resolution sub-stream is used for detection by default; the main stream is recorded untouched.</a:t>
            </a:r>
          </a:p>
          <a:p>
            <a:r>
              <a:rPr lang="en-US" dirty="0"/>
              <a:t>Models are permissively licensed (Apache-2.0 / MIT), safe for commercial use. Camera passwords stay out of config files and are masked in logs. Events: enter, exit, dwell, cross with direction, plus crowd, person down, plates and camera health. Hand out the technical sheet.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five reasons from the brochure. Keep your cameras: no rip-and-replace. No special hardware to start: a standard server. Video stays on site: nothing has to leave the building. Fewer false alarms: rules tuned to the site, and alert checking by a local vision model before anything is sent. Grows with you: add cameras, sites and detections any time.</a:t>
            </a:r>
          </a:p>
          <a:p>
            <a:r>
              <a:rPr lang="en-US" dirty="0"/>
              <a:t>Built for: warehouses, factories, retail, car parks, schools, hospitals, residential compounds and farms.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brochure's getting-started path. Talk: walk the site, list the cameras, agree what counts as an alert. Pilot: a handful of cameras on the client's real footage; hits and false alarms are counted together, and alert checking runs in tag mode so we can quote a measured number. Roll out: more cameras, sites and detections on the same system.</a:t>
            </a:r>
          </a:p>
          <a:p>
            <a:r>
              <a:rPr lang="en-US" dirty="0"/>
              <a:t>What we need: access to 2–5 cameras, a server or PC on the same network, one contact who knows the site, and agreement on what triggers an alert.</a:t>
            </a:r>
          </a:p>
          <a:p>
            <a:r>
              <a:rPr lang="en-US" dirty="0"/>
              <a:t>For the memory side, the lighter option still stands: we index a sample of their recorded video and they ask their own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glow-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lue-statement-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Hero-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HISTOR · MOBIUS TENSORS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alt">
    <p:bg>
      <p:bgPr>
        <a:solidFill>
          <a:schemeClr val="tx2"/>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HISTOR · MOBIUS TENSORS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g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HISTOR · MOBIUS TENSORS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D3DFFF"/>
                </a:solidFill>
                <a:latin typeface="Consolas" pitchFamily="34" charset="0"/>
                <a:ea typeface="Consolas" pitchFamily="34" charset="-122"/>
                <a:cs typeface="Consolas" pitchFamily="34" charset="-120"/>
              </a:rPr>
              <a:t>HISTOR · MOBIUS TENSORS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rgbClr val="D3DFFF"/>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8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80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rtlCol="0"/>
          <a:lstStyle>
            <a:lvl1pPr algn="l" indent="0" marL="0">
              <a:lnSpc>
                <a:spcPct val="95000"/>
              </a:lnSpc>
              <a:buNone/>
              <a:defRPr lang="en-US" sz="6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6000" dirty="0"/>
          </a:p>
        </p:txBody>
      </p:sp>
      <p:pic>
        <p:nvPicPr>
          <p:cNvPr id="4" name="Image 0" descr="logo_icon.png">    </p:cNvPr>
          <p:cNvPicPr>
            <a:picLocks noChangeAspect="1"/>
          </p:cNvPicPr>
          <p:nvPr/>
        </p:nvPicPr>
        <p:blipFill>
          <a:blip r:embed="rId1"/>
          <a:stretch>
            <a:fillRect/>
          </a:stretch>
        </p:blipFill>
        <p:spPr>
          <a:xfrm>
            <a:off x="8509000" y="952500"/>
            <a:ext cx="2870200" cy="1778000"/>
          </a:xfrm>
          <a:prstGeom prst="rect">
            <a:avLst/>
          </a:prstGeom>
        </p:spPr>
      </p:pic>
      <p:pic>
        <p:nvPicPr>
          <p:cNvPr id="5" name="Image 1" descr="logo_horizontal.png">    </p:cNvPr>
          <p:cNvPicPr>
            <a:picLocks noChangeAspect="1"/>
          </p:cNvPicPr>
          <p:nvPr/>
        </p:nvPicPr>
        <p:blipFill>
          <a:blip r:embed="rId2"/>
          <a:stretch>
            <a:fillRect/>
          </a:stretch>
        </p:blipFill>
        <p:spPr>
          <a:xfrm>
            <a:off x="812800" y="5905500"/>
            <a:ext cx="2860401" cy="571500"/>
          </a:xfrm>
          <a:prstGeom prst="rect">
            <a:avLst/>
          </a:prstGeom>
        </p:spPr>
      </p:pic>
      <p:sp>
        <p:nvSpPr>
          <p:cNvPr id="6" name="Text 0"/>
          <p:cNvSpPr/>
          <p:nvPr/>
        </p:nvSpPr>
        <p:spPr>
          <a:xfrm>
            <a:off x="6934200" y="6096000"/>
            <a:ext cx="4445000" cy="254000"/>
          </a:xfrm>
          <a:prstGeom prst="rect">
            <a:avLst/>
          </a:prstGeom>
          <a:noFill/>
          <a:ln/>
        </p:spPr>
        <p:txBody>
          <a:bodyPr wrap="square" lIns="0" tIns="0" rIns="0" bIns="0" rtlCol="0" anchor="ctr"/>
          <a:lstStyle/>
          <a:p>
            <a:pPr algn="r" indent="0" marL="0">
              <a:buNone/>
            </a:pPr>
            <a:r>
              <a:rPr lang="en-US" sz="1200" dirty="0">
                <a:solidFill>
                  <a:srgbClr val="7E8BA6"/>
                </a:solidFill>
              </a:rPr>
              <a:t>Endless vision. Infinite progress.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MT" Type="http://schemas.openxmlformats.org/officeDocument/2006/relationships/image" Target="../media/mobius-tensors-log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MT" Type="http://schemas.openxmlformats.org/officeDocument/2006/relationships/image" Target="../media/mobius-tensors-logo.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con-plug.png"/><Relationship Id="rId3" Type="http://schemas.openxmlformats.org/officeDocument/2006/relationships/image" Target="../media/icon-eye.png"/><Relationship Id="rId4" Type="http://schemas.openxmlformats.org/officeDocument/2006/relationships/image" Target="../media/icon-gear.png"/><Relationship Id="rId5" Type="http://schemas.openxmlformats.org/officeDocument/2006/relationships/image" Target="../media/icon-bell.png"/><Relationship Id="rId6" Type="http://schemas.openxmlformats.org/officeDocument/2006/relationships/image" Target="../media/histor-detect.jp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histor-dashboard.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histor-zones.jpg"/><Relationship Id="rId3" Type="http://schemas.openxmlformats.org/officeDocument/2006/relationships/image" Target="../media/histor-fire-smoke.png"/><Relationship Id="rId4" Type="http://schemas.openxmlformats.org/officeDocument/2006/relationships/image" Target="../media/histor-plate-gate.png"/><Relationship Id="rId5" Type="http://schemas.openxmlformats.org/officeDocument/2006/relationships/image" Target="../media/histor-person-down.jp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histor-zones.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histor-fire-smoke.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histor-person-down.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con-shield.png"/><Relationship Id="rId3" Type="http://schemas.openxmlformats.org/officeDocument/2006/relationships/image" Target="../media/icon-hat.png"/><Relationship Id="rId4" Type="http://schemas.openxmlformats.org/officeDocument/2006/relationships/image" Target="../media/icon-cart.png"/><Relationship Id="rId5" Type="http://schemas.openxmlformats.org/officeDocument/2006/relationships/image" Target="../media/icon-car.png"/><Relationship Id="rId6" Type="http://schemas.openxmlformats.org/officeDocument/2006/relationships/image" Target="../media/icon-leaf.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con-camera.png"/><Relationship Id="rId3" Type="http://schemas.openxmlformats.org/officeDocument/2006/relationships/image" Target="../media/icon-cpu.png"/><Relationship Id="rId4" Type="http://schemas.openxmlformats.org/officeDocument/2006/relationships/image" Target="../media/icon-grid.png"/><Relationship Id="rId5" Type="http://schemas.openxmlformats.org/officeDocument/2006/relationships/image" Target="../media/icon-server.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con-camera.png"/><Relationship Id="rId3" Type="http://schemas.openxmlformats.org/officeDocument/2006/relationships/image" Target="../media/icon-server.png"/><Relationship Id="rId4" Type="http://schemas.openxmlformats.org/officeDocument/2006/relationships/image" Target="../media/icon-lock.png"/><Relationship Id="rId5" Type="http://schemas.openxmlformats.org/officeDocument/2006/relationships/image" Target="../media/icon-check.png"/><Relationship Id="rId6" Type="http://schemas.openxmlformats.org/officeDocument/2006/relationships/image" Target="../media/icon-rocket.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con-check.png"/><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INTRODUCING HISTOR</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What if you could</a:t>
            </a:r>
            <a:endParaRPr lang="en-US" sz="6000" dirty="0"/>
          </a:p>
          <a:p>
            <a:pPr algn="l" indent="0" marL="0">
              <a:lnSpc>
                <a:spcPct val="95000"/>
              </a:lnSpc>
              <a:buNone/>
            </a:pPr>
            <a:r>
              <a:rPr lang="en-US" sz="6000" b="1" dirty="0">
                <a:solidFill>
                  <a:schemeClr val="accent1"/>
                </a:solidFill>
                <a:latin typeface="Arial" pitchFamily="34" charset="0"/>
                <a:ea typeface="Arial" pitchFamily="34" charset="-122"/>
                <a:cs typeface="Arial" pitchFamily="34" charset="-120"/>
              </a:rPr>
              <a:t>ask</a:t>
            </a:r>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 your cameras?</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Histor keeps a searchable memory of what your cameras see, so you can ask about it later in plain language and get answers that point to the frames.</a:t>
            </a:r>
            <a:endParaRPr lang="en-US" sz="1800" dirty="0"/>
          </a:p>
        </p:txBody>
      </p:sp>
      <p:pic>
        <p:nvPicPr>
          <p:cNvPr id="6" name="Mobius Tensors logo" descr="Mobius Tensors"/>
          <p:cNvPicPr>
            <a:picLocks noChangeAspect="1"/>
          </p:cNvPicPr>
          <p:nvPr/>
        </p:nvPicPr>
        <p:blipFill>
          <a:blip r:embed="rIdMT"/>
          <a:stretch>
            <a:fillRect/>
          </a:stretch>
        </p:blipFill>
        <p:spPr>
          <a:xfrm>
            <a:off x="9179200" y="5629221"/>
            <a:ext cx="2200000" cy="4067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THE PROBLEM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cameras see everything. Nobody watches everything.</a:t>
            </a:r>
            <a:endParaRPr lang="en-US" sz="3600" dirty="0"/>
          </a:p>
        </p:txBody>
      </p:sp>
      <p:sp>
        <p:nvSpPr>
          <p:cNvPr id="5" name="problem-card-01"/>
          <p:cNvSpPr/>
          <p:nvPr/>
        </p:nvSpPr>
        <p:spPr>
          <a:xfrm>
            <a:off x="812800" y="3009900"/>
            <a:ext cx="3384550" cy="2413000"/>
          </a:xfrm>
          <a:prstGeom prst="roundRect">
            <a:avLst>
              <a:gd name="adj" fmla="val 5263"/>
            </a:avLst>
          </a:prstGeom>
          <a:solidFill>
            <a:schemeClr val="accent4"/>
          </a:solidFill>
          <a:ln w="9525">
            <a:solidFill>
              <a:schemeClr val="accent5"/>
            </a:solidFill>
            <a:prstDash val="solid"/>
          </a:ln>
        </p:spPr>
      </p:sp>
      <p:sp>
        <p:nvSpPr>
          <p:cNvPr id="6" name="Text 3"/>
          <p:cNvSpPr txBox="1"/>
          <p:nvPr/>
        </p:nvSpPr>
        <p:spPr>
          <a:xfrm>
            <a:off x="10922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Recorded, rarely watched</a:t>
            </a:r>
            <a:endParaRPr lang="en-US" sz="2000" dirty="0"/>
          </a:p>
        </p:txBody>
      </p:sp>
      <p:sp>
        <p:nvSpPr>
          <p:cNvPr id="8" name="Text 5"/>
          <p:cNvSpPr txBox="1"/>
          <p:nvPr/>
        </p:nvSpPr>
        <p:spPr>
          <a:xfrm>
            <a:off x="10922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Most footage is only opened after something has gone wrong, and then someone has to find it.</a:t>
            </a:r>
            <a:endParaRPr lang="en-US" sz="1400" dirty="0"/>
          </a:p>
        </p:txBody>
      </p:sp>
      <p:sp>
        <p:nvSpPr>
          <p:cNvPr id="9" name="problem-card-02"/>
          <p:cNvSpPr/>
          <p:nvPr/>
        </p:nvSpPr>
        <p:spPr>
          <a:xfrm>
            <a:off x="4400550" y="3009900"/>
            <a:ext cx="3384550" cy="2413000"/>
          </a:xfrm>
          <a:prstGeom prst="roundRect">
            <a:avLst>
              <a:gd name="adj" fmla="val 5263"/>
            </a:avLst>
          </a:prstGeom>
          <a:solidFill>
            <a:schemeClr val="accent4"/>
          </a:solidFill>
          <a:ln w="9525">
            <a:solidFill>
              <a:schemeClr val="accent5"/>
            </a:solidFill>
            <a:prstDash val="solid"/>
          </a:ln>
        </p:spPr>
      </p:sp>
      <p:sp>
        <p:nvSpPr>
          <p:cNvPr id="10" name="Text 7"/>
          <p:cNvSpPr txBox="1"/>
          <p:nvPr/>
        </p:nvSpPr>
        <p:spPr>
          <a:xfrm>
            <a:off x="467995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Searched by clock, not by content</a:t>
            </a:r>
            <a:endParaRPr lang="en-US" sz="2000" dirty="0"/>
          </a:p>
        </p:txBody>
      </p:sp>
      <p:sp>
        <p:nvSpPr>
          <p:cNvPr id="12" name="Text 9"/>
          <p:cNvSpPr txBox="1"/>
          <p:nvPr/>
        </p:nvSpPr>
        <p:spPr>
          <a:xfrm>
            <a:off x="467995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 recorder lets you jump to a time. It can't tell you when the white van showed up.</a:t>
            </a:r>
            <a:endParaRPr lang="en-US" sz="1400" dirty="0"/>
          </a:p>
        </p:txBody>
      </p:sp>
      <p:sp>
        <p:nvSpPr>
          <p:cNvPr id="13" name="problem-card-03"/>
          <p:cNvSpPr/>
          <p:nvPr/>
        </p:nvSpPr>
        <p:spPr>
          <a:xfrm>
            <a:off x="7988300" y="3009900"/>
            <a:ext cx="3384550" cy="2413000"/>
          </a:xfrm>
          <a:prstGeom prst="roundRect">
            <a:avLst>
              <a:gd name="adj" fmla="val 5263"/>
            </a:avLst>
          </a:prstGeom>
          <a:solidFill>
            <a:schemeClr val="accent4"/>
          </a:solidFill>
          <a:ln w="9525">
            <a:solidFill>
              <a:schemeClr val="accent5"/>
            </a:solidFill>
            <a:prstDash val="solid"/>
          </a:ln>
        </p:spPr>
      </p:sp>
      <p:sp>
        <p:nvSpPr>
          <p:cNvPr id="14" name="Text 11"/>
          <p:cNvSpPr txBox="1"/>
          <p:nvPr/>
        </p:nvSpPr>
        <p:spPr>
          <a:xfrm>
            <a:off x="82677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Alerts only cover what you planned for</a:t>
            </a:r>
            <a:endParaRPr lang="en-US" sz="2000" dirty="0"/>
          </a:p>
        </p:txBody>
      </p:sp>
      <p:sp>
        <p:nvSpPr>
          <p:cNvPr id="16" name="Text 13"/>
          <p:cNvSpPr txBox="1"/>
          <p:nvPr/>
        </p:nvSpPr>
        <p:spPr>
          <a:xfrm>
            <a:off x="82677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Alerts react to the rules you set in advance. The question you have today was not one of them.</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rgbClr val="D3DFFF"/>
                </a:solidFill>
                <a:latin typeface="Consolas" pitchFamily="34" charset="0"/>
                <a:ea typeface="Consolas" pitchFamily="34" charset="-122"/>
                <a:cs typeface="Consolas" pitchFamily="34" charset="-120"/>
              </a:rPr>
              <a:t>// MEET HISTOR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8000" b="1" dirty="0">
                <a:solidFill>
                  <a:schemeClr val="bg1"/>
                </a:solidFill>
                <a:latin typeface="Arial" pitchFamily="34" charset="0"/>
                <a:ea typeface="Arial" pitchFamily="34" charset="-122"/>
                <a:cs typeface="Arial" pitchFamily="34" charset="-120"/>
              </a:rPr>
              <a:t>ἵστωρ</a:t>
            </a:r>
            <a:endParaRPr lang="en-US" sz="8000" dirty="0"/>
          </a:p>
        </p:txBody>
      </p:sp>
      <p:sp>
        <p:nvSpPr>
          <p:cNvPr id="5" name="Text 2"/>
          <p:cNvSpPr txBox="1"/>
          <p:nvPr/>
        </p:nvSpPr>
        <p:spPr>
          <a:xfrm>
            <a:off x="812800" y="2984500"/>
            <a:ext cx="8890000" cy="889000"/>
          </a:xfrm>
          <a:prstGeom prst="rect">
            <a:avLst/>
          </a:prstGeom>
          <a:noFill/>
          <a:ln/>
        </p:spPr>
        <p:txBody>
          <a:bodyPr wrap="square" lIns="0" tIns="0" rIns="0" bIns="0" rtlCol="0" anchor="t"/>
          <a:lstStyle/>
          <a:p>
            <a:pPr indent="0" marL="0">
              <a:buNone/>
            </a:pPr>
            <a:r>
              <a:rPr lang="en-US" sz="2200" dirty="0">
                <a:solidFill>
                  <a:schemeClr val="bg1"/>
                </a:solidFill>
              </a:rPr>
              <a:t>Ancient Greek for </a:t>
            </a:r>
            <a:pPr indent="0" marL="0">
              <a:buNone/>
            </a:pPr>
            <a:r>
              <a:rPr lang="en-US" sz="2200" i="1" dirty="0">
                <a:solidFill>
                  <a:schemeClr val="bg1"/>
                </a:solidFill>
              </a:rPr>
              <a:t>witness</a:t>
            </a:r>
            <a:pPr indent="0" marL="0">
              <a:buNone/>
            </a:pPr>
            <a:r>
              <a:rPr lang="en-US" sz="2200" dirty="0">
                <a:solidFill>
                  <a:schemeClr val="bg1"/>
                </a:solidFill>
              </a:rPr>
              <a:t>, one who knows by having seen: the root of </a:t>
            </a:r>
            <a:pPr indent="0" marL="0">
              <a:buNone/>
            </a:pPr>
            <a:r>
              <a:rPr lang="en-US" sz="2200" i="1" dirty="0">
                <a:solidFill>
                  <a:schemeClr val="bg1"/>
                </a:solidFill>
              </a:rPr>
              <a:t>history</a:t>
            </a:r>
            <a:pPr indent="0" marL="0">
              <a:buNone/>
            </a:pPr>
            <a:r>
              <a:rPr lang="en-US" sz="2200" dirty="0">
                <a:solidFill>
                  <a:schemeClr val="bg1"/>
                </a:solidFill>
              </a:rPr>
              <a:t>.</a:t>
            </a:r>
            <a:endParaRPr lang="en-US" sz="2200" dirty="0"/>
          </a:p>
        </p:txBody>
      </p:sp>
      <p:sp>
        <p:nvSpPr>
          <p:cNvPr id="6" name="Text 3"/>
          <p:cNvSpPr txBox="1"/>
          <p:nvPr/>
        </p:nvSpPr>
        <p:spPr>
          <a:xfrm>
            <a:off x="812800" y="4064000"/>
            <a:ext cx="8255000" cy="1016000"/>
          </a:xfrm>
          <a:prstGeom prst="rect">
            <a:avLst/>
          </a:prstGeom>
          <a:noFill/>
          <a:ln/>
        </p:spPr>
        <p:txBody>
          <a:bodyPr wrap="square" lIns="0" tIns="0" rIns="0" bIns="0" rtlCol="0" anchor="t"/>
          <a:lstStyle/>
          <a:p>
            <a:pPr indent="0" marL="0">
              <a:buNone/>
            </a:pPr>
            <a:r>
              <a:rPr lang="en-US" sz="1600" dirty="0">
                <a:solidFill>
                  <a:srgbClr val="D3DFFF"/>
                </a:solidFill>
              </a:rPr>
              <a:t>Histor turns what your cameras see into a memory you can question: every tracked object, plus regular snapshots of each scene, searchable for as long as you choose to keep them.</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AND MEMORY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Alerts watch for one thing. Histor remembers all of it.</a:t>
            </a:r>
            <a:endParaRPr lang="en-US" sz="3600" dirty="0"/>
          </a:p>
        </p:txBody>
      </p:sp>
      <p:sp>
        <p:nvSpPr>
          <p:cNvPr id="5" name="alerts-card"/>
          <p:cNvSpPr/>
          <p:nvPr/>
        </p:nvSpPr>
        <p:spPr>
          <a:xfrm>
            <a:off x="812800" y="2501900"/>
            <a:ext cx="5181600" cy="2667000"/>
          </a:xfrm>
          <a:prstGeom prst="roundRect">
            <a:avLst>
              <a:gd name="adj" fmla="val 4762"/>
            </a:avLst>
          </a:prstGeom>
          <a:solidFill>
            <a:schemeClr val="accent4"/>
          </a:solidFill>
          <a:ln w="9525">
            <a:solidFill>
              <a:schemeClr val="accent5"/>
            </a:solidFill>
            <a:prstDash val="solid"/>
          </a:ln>
        </p:spPr>
        <p:txBody>
          <a:bodyPr/>
          <a:p/>
        </p:txBody>
      </p:sp>
      <p:sp>
        <p:nvSpPr>
          <p:cNvPr id="6" name="Text 3"/>
          <p:cNvSpPr txBox="1"/>
          <p:nvPr/>
        </p:nvSpPr>
        <p:spPr>
          <a:xfrm>
            <a:off x="1117600" y="2806700"/>
            <a:ext cx="4572000" cy="2159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ALERTS</a:t>
            </a:r>
            <a:endParaRPr lang="en-US" sz="1200" dirty="0"/>
          </a:p>
        </p:txBody>
      </p:sp>
      <p:sp>
        <p:nvSpPr>
          <p:cNvPr id="7" name="Text 4"/>
          <p:cNvSpPr txBox="1"/>
          <p:nvPr/>
        </p:nvSpPr>
        <p:spPr>
          <a:xfrm>
            <a:off x="11176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Is it happening right now?</a:t>
            </a:r>
            <a:endParaRPr lang="en-US" sz="2200" dirty="0"/>
          </a:p>
        </p:txBody>
      </p:sp>
      <p:sp>
        <p:nvSpPr>
          <p:cNvPr id="8" name="Text 5"/>
          <p:cNvSpPr txBox="1"/>
          <p:nvPr/>
        </p:nvSpPr>
        <p:spPr>
          <a:xfrm>
            <a:off x="11176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Watch for a set event, like a zone being entered</a:t>
            </a:r>
            <a:endParaRPr lang="en-US" sz="1500" dirty="0"/>
          </a:p>
          <a:p>
            <a:pPr marL="228600" indent="-228600">
              <a:spcAft>
                <a:spcPts val="600"/>
              </a:spcAft>
              <a:buSzPct val="100000"/>
              <a:buChar char="•"/>
            </a:pPr>
            <a:r>
              <a:rPr lang="en-US" sz="1500" dirty="0">
                <a:solidFill>
                  <a:schemeClr val="bg2"/>
                </a:solidFill>
              </a:rPr>
              <a:t>React in seconds, by webhook or email</a:t>
            </a:r>
            <a:endParaRPr lang="en-US" sz="1500" dirty="0"/>
          </a:p>
          <a:p>
            <a:pPr marL="228600" indent="-228600">
              <a:spcAft>
                <a:spcPts val="600"/>
              </a:spcAft>
              <a:buSzPct val="100000"/>
              <a:buChar char="•"/>
            </a:pPr>
            <a:r>
              <a:rPr lang="en-US" sz="1500" dirty="0">
                <a:solidFill>
                  <a:schemeClr val="bg2"/>
                </a:solidFill>
              </a:rPr>
              <a:t>Rules decided in advance</a:t>
            </a:r>
            <a:endParaRPr lang="en-US" sz="1500" dirty="0"/>
          </a:p>
        </p:txBody>
      </p:sp>
      <p:sp>
        <p:nvSpPr>
          <p:cNvPr id="9" name="memory-card"/>
          <p:cNvSpPr/>
          <p:nvPr/>
        </p:nvSpPr>
        <p:spPr>
          <a:xfrm>
            <a:off x="6197600" y="2501900"/>
            <a:ext cx="5181600" cy="2667000"/>
          </a:xfrm>
          <a:prstGeom prst="roundRect">
            <a:avLst>
              <a:gd name="adj" fmla="val 4762"/>
            </a:avLst>
          </a:prstGeom>
          <a:solidFill>
            <a:schemeClr val="accent3"/>
          </a:solidFill>
          <a:ln w="19050">
            <a:solidFill>
              <a:schemeClr val="accent1"/>
            </a:solidFill>
            <a:prstDash val="solid"/>
          </a:ln>
        </p:spPr>
        <p:txBody>
          <a:bodyPr/>
          <a:p/>
        </p:txBody>
      </p:sp>
      <p:sp>
        <p:nvSpPr>
          <p:cNvPr id="10" name="Text 7"/>
          <p:cNvSpPr txBox="1"/>
          <p:nvPr/>
        </p:nvSpPr>
        <p:spPr>
          <a:xfrm>
            <a:off x="6502400" y="2806700"/>
            <a:ext cx="457200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MEMORY</a:t>
            </a:r>
            <a:endParaRPr lang="en-US" sz="1200" dirty="0"/>
          </a:p>
        </p:txBody>
      </p:sp>
      <p:sp>
        <p:nvSpPr>
          <p:cNvPr id="11" name="Text 8"/>
          <p:cNvSpPr txBox="1"/>
          <p:nvPr/>
        </p:nvSpPr>
        <p:spPr>
          <a:xfrm>
            <a:off x="65024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What happened?</a:t>
            </a:r>
            <a:endParaRPr lang="en-US" sz="2200" dirty="0"/>
          </a:p>
        </p:txBody>
      </p:sp>
      <p:sp>
        <p:nvSpPr>
          <p:cNvPr id="12" name="Text 9"/>
          <p:cNvSpPr txBox="1"/>
          <p:nvPr/>
        </p:nvSpPr>
        <p:spPr>
          <a:xfrm>
            <a:off x="65024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C7D3EA"/>
                </a:solidFill>
              </a:rPr>
              <a:t>Store every object and scene</a:t>
            </a:r>
            <a:endParaRPr lang="en-US" sz="1500" dirty="0"/>
          </a:p>
          <a:p>
            <a:pPr marL="228600" indent="-228600">
              <a:spcAft>
                <a:spcPts val="600"/>
              </a:spcAft>
              <a:buSzPct val="100000"/>
              <a:buChar char="•"/>
            </a:pPr>
            <a:r>
              <a:rPr lang="en-US" sz="1500" dirty="0">
                <a:solidFill>
                  <a:srgbClr val="C7D3EA"/>
                </a:solidFill>
              </a:rPr>
              <a:t>Ask any question, any time later</a:t>
            </a:r>
            <a:endParaRPr lang="en-US" sz="1500" dirty="0"/>
          </a:p>
          <a:p>
            <a:pPr marL="228600" indent="-228600">
              <a:spcAft>
                <a:spcPts val="600"/>
              </a:spcAft>
              <a:buSzPct val="100000"/>
              <a:buChar char="•"/>
            </a:pPr>
            <a:r>
              <a:rPr lang="en-US" sz="1500" dirty="0">
                <a:solidFill>
                  <a:srgbClr val="C7D3EA"/>
                </a:solidFill>
              </a:rPr>
              <a:t>No rules needed up front</a:t>
            </a:r>
            <a:endParaRPr lang="en-US" sz="1500" dirty="0"/>
          </a:p>
        </p:txBody>
      </p:sp>
      <p:sp>
        <p:nvSpPr>
          <p:cNvPr id="13" name="Text 10"/>
          <p:cNvSpPr txBox="1"/>
          <p:nvPr/>
        </p:nvSpPr>
        <p:spPr>
          <a:xfrm>
            <a:off x="812800" y="5397500"/>
            <a:ext cx="10566400" cy="317500"/>
          </a:xfrm>
          <a:prstGeom prst="rect">
            <a:avLst/>
          </a:prstGeom>
          <a:noFill/>
          <a:ln/>
        </p:spPr>
        <p:txBody>
          <a:bodyPr wrap="square" lIns="0" tIns="0" rIns="0" bIns="0" rtlCol="0" anchor="t"/>
          <a:lstStyle/>
          <a:p>
            <a:pPr indent="0" marL="0">
              <a:buNone/>
            </a:pPr>
            <a:r>
              <a:rPr lang="en-US" sz="1400" dirty="0">
                <a:solidFill>
                  <a:schemeClr val="bg2"/>
                </a:solidFill>
              </a:rPr>
              <a:t>Histor does both, on the same cameras: alerts for the rules you set, memory for everything else.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IT FEELS LIKE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Ask in plain language.</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What, when, which camera</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Your question is split into what to look for, the time range and the camera.</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An answer, not a playlist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Histor replies in sentences: what it found, when, and where.</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Evidence attached</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Every answer lists the frames it checked, so you can see for yourself.</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Was there a white van at the gate yesterday evening?</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Yes, twice: a white van stopped at the gate camera around 18:42 for about 3 minutes, and again near 20:15. These are the frames I checked:</a:t>
            </a:r>
            <a:endParaRPr lang="en-US" sz="1500" dirty="0"/>
          </a:p>
        </p:txBody>
      </p:sp>
      <p:sp>
        <p:nvSpPr>
          <p:cNvPr id="15" name="thumb-0"/>
          <p:cNvSpPr/>
          <p:nvPr/>
        </p:nvSpPr>
        <p:spPr>
          <a:xfrm>
            <a:off x="5054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6" name="thumb-box-0"/>
          <p:cNvSpPr/>
          <p:nvPr/>
        </p:nvSpPr>
        <p:spPr>
          <a:xfrm>
            <a:off x="5372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17" name="Text 14"/>
          <p:cNvSpPr txBox="1"/>
          <p:nvPr/>
        </p:nvSpPr>
        <p:spPr>
          <a:xfrm>
            <a:off x="5156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18:42</a:t>
            </a:r>
            <a:endParaRPr lang="en-US" sz="1200" dirty="0"/>
          </a:p>
        </p:txBody>
      </p:sp>
      <p:sp>
        <p:nvSpPr>
          <p:cNvPr id="18" name="thumb-1"/>
          <p:cNvSpPr/>
          <p:nvPr/>
        </p:nvSpPr>
        <p:spPr>
          <a:xfrm>
            <a:off x="66421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9" name="thumb-box-1"/>
          <p:cNvSpPr/>
          <p:nvPr/>
        </p:nvSpPr>
        <p:spPr>
          <a:xfrm>
            <a:off x="69596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0" name="Text 17"/>
          <p:cNvSpPr txBox="1"/>
          <p:nvPr/>
        </p:nvSpPr>
        <p:spPr>
          <a:xfrm>
            <a:off x="67437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18:44</a:t>
            </a:r>
            <a:endParaRPr lang="en-US" sz="1200" dirty="0"/>
          </a:p>
        </p:txBody>
      </p:sp>
      <p:sp>
        <p:nvSpPr>
          <p:cNvPr id="21" name="thumb-2"/>
          <p:cNvSpPr/>
          <p:nvPr/>
        </p:nvSpPr>
        <p:spPr>
          <a:xfrm>
            <a:off x="8229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22" name="thumb-box-2"/>
          <p:cNvSpPr/>
          <p:nvPr/>
        </p:nvSpPr>
        <p:spPr>
          <a:xfrm>
            <a:off x="8547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3" name="Text 20"/>
          <p:cNvSpPr txBox="1"/>
          <p:nvPr/>
        </p:nvSpPr>
        <p:spPr>
          <a:xfrm>
            <a:off x="8331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20:15</a:t>
            </a:r>
            <a:endParaRPr lang="en-US" sz="12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mock-up</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WORKS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Record, ask, answer.</a:t>
            </a:r>
            <a:endParaRPr lang="en-US" sz="3600" dirty="0"/>
          </a:p>
        </p:txBody>
      </p:sp>
      <p:sp>
        <p:nvSpPr>
          <p:cNvPr id="5" name="step-01"/>
          <p:cNvSpPr/>
          <p:nvPr/>
        </p:nvSpPr>
        <p:spPr>
          <a:xfrm>
            <a:off x="812800" y="2095500"/>
            <a:ext cx="3149600" cy="3619500"/>
          </a:xfrm>
          <a:prstGeom prst="roundRect">
            <a:avLst>
              <a:gd name="adj" fmla="val 4032"/>
            </a:avLst>
          </a:prstGeom>
          <a:solidFill>
            <a:schemeClr val="accent4"/>
          </a:solidFill>
          <a:ln w="9525">
            <a:solidFill>
              <a:schemeClr val="accent5"/>
            </a:solidFill>
            <a:prstDash val="solid"/>
          </a:ln>
        </p:spPr>
      </p:sp>
      <p:sp>
        <p:nvSpPr>
          <p:cNvPr id="6" name="Text 3"/>
          <p:cNvSpPr txBox="1"/>
          <p:nvPr/>
        </p:nvSpPr>
        <p:spPr>
          <a:xfrm>
            <a:off x="10922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01</a:t>
            </a:r>
            <a:endParaRPr lang="en-US" sz="2200" dirty="0"/>
          </a:p>
        </p:txBody>
      </p:sp>
      <p:sp>
        <p:nvSpPr>
          <p:cNvPr id="7" name="Text 4"/>
          <p:cNvSpPr txBox="1"/>
          <p:nvPr/>
        </p:nvSpPr>
        <p:spPr>
          <a:xfrm>
            <a:off x="10922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Record</a:t>
            </a:r>
            <a:endParaRPr lang="en-US" sz="2200" dirty="0"/>
          </a:p>
        </p:txBody>
      </p:sp>
      <p:sp>
        <p:nvSpPr>
          <p:cNvPr id="8" name="Text 5"/>
          <p:cNvSpPr txBox="1"/>
          <p:nvPr/>
        </p:nvSpPr>
        <p:spPr>
          <a:xfrm>
            <a:off x="10922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Every object is detected, tracked and stored as searchable memory, across 80 everyday object types. Every few seconds the whole scene is stored too, so things without a label stay findable.</a:t>
            </a:r>
            <a:endParaRPr lang="en-US" sz="1400" dirty="0"/>
          </a:p>
        </p:txBody>
      </p:sp>
      <p:sp>
        <p:nvSpPr>
          <p:cNvPr id="9" name="arrow-01"/>
          <p:cNvSpPr/>
          <p:nvPr/>
        </p:nvSpPr>
        <p:spPr>
          <a:xfrm>
            <a:off x="4064000" y="3905250"/>
            <a:ext cx="508000" cy="0"/>
          </a:xfrm>
          <a:prstGeom prst="line">
            <a:avLst/>
          </a:prstGeom>
          <a:noFill/>
          <a:ln w="38100">
            <a:solidFill>
              <a:schemeClr val="accent1"/>
            </a:solidFill>
            <a:prstDash val="solid"/>
            <a:tailEnd type="triangle"/>
          </a:ln>
        </p:spPr>
      </p:sp>
      <p:sp>
        <p:nvSpPr>
          <p:cNvPr id="10" name="step-02"/>
          <p:cNvSpPr/>
          <p:nvPr/>
        </p:nvSpPr>
        <p:spPr>
          <a:xfrm>
            <a:off x="4673600" y="2095500"/>
            <a:ext cx="3149600" cy="3619500"/>
          </a:xfrm>
          <a:prstGeom prst="roundRect">
            <a:avLst>
              <a:gd name="adj" fmla="val 4032"/>
            </a:avLst>
          </a:prstGeom>
          <a:solidFill>
            <a:schemeClr val="accent4"/>
          </a:solidFill>
          <a:ln w="9525">
            <a:solidFill>
              <a:schemeClr val="accent5"/>
            </a:solidFill>
            <a:prstDash val="solid"/>
          </a:ln>
        </p:spPr>
      </p:sp>
      <p:sp>
        <p:nvSpPr>
          <p:cNvPr id="11" name="Text 8"/>
          <p:cNvSpPr txBox="1"/>
          <p:nvPr/>
        </p:nvSpPr>
        <p:spPr>
          <a:xfrm>
            <a:off x="49530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9530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Ask</a:t>
            </a:r>
            <a:endParaRPr lang="en-US" sz="2200" dirty="0"/>
          </a:p>
        </p:txBody>
      </p:sp>
      <p:sp>
        <p:nvSpPr>
          <p:cNvPr id="13" name="Text 10"/>
          <p:cNvSpPr txBox="1"/>
          <p:nvPr/>
        </p:nvSpPr>
        <p:spPr>
          <a:xfrm>
            <a:off x="49530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Your question is split into what, when and which camera. The "what" is matched against everything stored, and sightings of the same object merge into one visit.</a:t>
            </a:r>
            <a:endParaRPr lang="en-US" sz="1400" dirty="0"/>
          </a:p>
        </p:txBody>
      </p:sp>
      <p:sp>
        <p:nvSpPr>
          <p:cNvPr id="14" name="arrow-02"/>
          <p:cNvSpPr/>
          <p:nvPr/>
        </p:nvSpPr>
        <p:spPr>
          <a:xfrm>
            <a:off x="7924800" y="3905250"/>
            <a:ext cx="508000" cy="0"/>
          </a:xfrm>
          <a:prstGeom prst="line">
            <a:avLst/>
          </a:prstGeom>
          <a:noFill/>
          <a:ln w="38100">
            <a:solidFill>
              <a:schemeClr val="accent1"/>
            </a:solidFill>
            <a:prstDash val="solid"/>
            <a:tailEnd type="triangle"/>
          </a:ln>
        </p:spPr>
      </p:sp>
      <p:sp>
        <p:nvSpPr>
          <p:cNvPr id="15" name="step-03"/>
          <p:cNvSpPr/>
          <p:nvPr/>
        </p:nvSpPr>
        <p:spPr>
          <a:xfrm>
            <a:off x="8534400" y="2095500"/>
            <a:ext cx="3149600" cy="3619500"/>
          </a:xfrm>
          <a:prstGeom prst="roundRect">
            <a:avLst>
              <a:gd name="adj" fmla="val 4032"/>
            </a:avLst>
          </a:prstGeom>
          <a:solidFill>
            <a:schemeClr val="accent3"/>
          </a:solidFill>
          <a:ln w="19050">
            <a:solidFill>
              <a:schemeClr val="accent1"/>
            </a:solidFill>
            <a:prstDash val="solid"/>
          </a:ln>
        </p:spPr>
      </p:sp>
      <p:sp>
        <p:nvSpPr>
          <p:cNvPr id="16" name="Text 13"/>
          <p:cNvSpPr txBox="1"/>
          <p:nvPr/>
        </p:nvSpPr>
        <p:spPr>
          <a:xfrm>
            <a:off x="88138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03</a:t>
            </a:r>
            <a:endParaRPr lang="en-US" sz="2200" dirty="0"/>
          </a:p>
        </p:txBody>
      </p:sp>
      <p:sp>
        <p:nvSpPr>
          <p:cNvPr id="17" name="Text 14"/>
          <p:cNvSpPr txBox="1"/>
          <p:nvPr/>
        </p:nvSpPr>
        <p:spPr>
          <a:xfrm>
            <a:off x="88138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Answer</a:t>
            </a:r>
            <a:endParaRPr lang="en-US" sz="2200" dirty="0"/>
          </a:p>
        </p:txBody>
      </p:sp>
      <p:sp>
        <p:nvSpPr>
          <p:cNvPr id="18" name="Text 15"/>
          <p:cNvSpPr txBox="1"/>
          <p:nvPr/>
        </p:nvSpPr>
        <p:spPr>
          <a:xfrm>
            <a:off x="8813800" y="3327400"/>
            <a:ext cx="2603500" cy="2286000"/>
          </a:xfrm>
          <a:prstGeom prst="rect">
            <a:avLst/>
          </a:prstGeom>
          <a:noFill/>
          <a:ln/>
        </p:spPr>
        <p:txBody>
          <a:bodyPr wrap="square" lIns="0" tIns="0" rIns="0" bIns="0" rtlCol="0" anchor="t"/>
          <a:lstStyle/>
          <a:p>
            <a:pPr indent="0" marL="0">
              <a:buNone/>
            </a:pPr>
            <a:r>
              <a:rPr lang="en-US" sz="1400" dirty="0">
                <a:solidFill>
                  <a:srgbClr val="C7D3EA"/>
                </a:solidFill>
              </a:rPr>
              <a:t>A language model runs the lookups the question needs (up to six rounds), then answers in sentences and lists the frames it checked.</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YOU CAN ASK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Questions you would ask a colleague.</a:t>
            </a:r>
            <a:endParaRPr lang="en-US" sz="3600" dirty="0"/>
          </a:p>
        </p:txBody>
      </p:sp>
      <p:graphicFrame>
        <p:nvGraphicFramePr>
          <p:cNvPr id="8" name="questions-table"/>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3127248"/>
        </p:xfrm>
        <a:graphic>
          <a:graphicData uri="http://schemas.openxmlformats.org/drawingml/2006/table">
            <a:tbl>
              <a:tblPr/>
              <a:tblGrid>
                <a:gridCol w="3803904"/>
                <a:gridCol w="4860544"/>
                <a:gridCol w="1901952"/>
              </a:tblGrid>
              <a:tr h="384048">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You ask</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Histor looks up</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What happened yesterday from 6pm to 9pm?</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Everything tracked in that window, in time order, with counts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How many cars came in today?</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Cars tracked today: one tracked car is one visit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with a dog this morning?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People seen on the same camera, at the same time, as a dog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 man in a red jacket near a car?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Visual search for "man in a red jacket", kept where a car was present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Ranked matches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lying on the floor last night?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Each person's posture from body points: seconds standing, sitting or lying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When did AB 123 CD come in?</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Plates read on each vehicle, spaces and look-alikes ignored</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ANSWERS YOU CAN TRUST</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Counted when it can be. Described when it can't.</a:t>
            </a:r>
            <a:endParaRPr lang="en-US" sz="3600" dirty="0"/>
          </a:p>
        </p:txBody>
      </p:sp>
      <p:sp>
        <p:nvSpPr>
          <p:cNvPr id="5" name="Counted: exact"/>
          <p:cNvSpPr/>
          <p:nvPr/>
        </p:nvSpPr>
        <p:spPr>
          <a:xfrm>
            <a:off x="812800" y="2501900"/>
            <a:ext cx="5181600" cy="2540000"/>
          </a:xfrm>
          <a:prstGeom prst="roundRect">
            <a:avLst>
              <a:gd name="adj" fmla="val 5000"/>
            </a:avLst>
          </a:prstGeom>
          <a:solidFill>
            <a:schemeClr val="accent4"/>
          </a:solidFill>
          <a:ln w="9525">
            <a:solidFill>
              <a:schemeClr val="accent5"/>
            </a:solidFill>
            <a:prstDash val="solid"/>
          </a:ln>
        </p:spPr>
      </p:sp>
      <p:sp>
        <p:nvSpPr>
          <p:cNvPr id="6" name="Counted: exact icon"/>
          <p:cNvSpPr/>
          <p:nvPr/>
        </p:nvSpPr>
        <p:spPr>
          <a:xfrm>
            <a:off x="1117600" y="2806700"/>
            <a:ext cx="406400" cy="406400"/>
          </a:xfrm>
          <a:prstGeom prst="ellipse">
            <a:avLst/>
          </a:prstGeom>
          <a:solidFill>
            <a:schemeClr val="accent3"/>
          </a:solidFill>
          <a:ln w="19050">
            <a:solidFill>
              <a:schemeClr val="accent2"/>
            </a:solidFill>
            <a:prstDash val="solid"/>
          </a:ln>
        </p:spPr>
      </p:sp>
      <p:sp>
        <p:nvSpPr>
          <p:cNvPr id="7" name="Text 4"/>
          <p:cNvSpPr txBox="1"/>
          <p:nvPr/>
        </p:nvSpPr>
        <p:spPr>
          <a:xfrm>
            <a:off x="11176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16764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Counted: exact</a:t>
            </a:r>
            <a:endParaRPr lang="en-US" sz="2200" dirty="0"/>
          </a:p>
        </p:txBody>
      </p:sp>
      <p:sp>
        <p:nvSpPr>
          <p:cNvPr id="9" name="Text 6"/>
          <p:cNvSpPr txBox="1"/>
          <p:nvPr/>
        </p:nvSpPr>
        <p:spPr>
          <a:xfrm>
            <a:off x="11176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What, when and how many come straight from the detector and tracker. Counts are visits: each arrival is counted.</a:t>
            </a:r>
            <a:endParaRPr lang="en-US" sz="1500" dirty="0"/>
          </a:p>
        </p:txBody>
      </p:sp>
      <p:sp>
        <p:nvSpPr>
          <p:cNvPr id="10" name="Described: ranked"/>
          <p:cNvSpPr/>
          <p:nvPr/>
        </p:nvSpPr>
        <p:spPr>
          <a:xfrm>
            <a:off x="6197600" y="2501900"/>
            <a:ext cx="5181600" cy="2540000"/>
          </a:xfrm>
          <a:prstGeom prst="roundRect">
            <a:avLst>
              <a:gd name="adj" fmla="val 5000"/>
            </a:avLst>
          </a:prstGeom>
          <a:solidFill>
            <a:schemeClr val="accent4"/>
          </a:solidFill>
          <a:ln w="9525">
            <a:solidFill>
              <a:schemeClr val="accent5"/>
            </a:solidFill>
            <a:prstDash val="solid"/>
          </a:ln>
        </p:spPr>
      </p:sp>
      <p:sp>
        <p:nvSpPr>
          <p:cNvPr id="11" name="Described: ranked icon"/>
          <p:cNvSpPr/>
          <p:nvPr/>
        </p:nvSpPr>
        <p:spPr>
          <a:xfrm>
            <a:off x="6502400" y="2806700"/>
            <a:ext cx="406400" cy="406400"/>
          </a:xfrm>
          <a:prstGeom prst="ellipse">
            <a:avLst/>
          </a:prstGeom>
          <a:solidFill>
            <a:schemeClr val="accent3"/>
          </a:solidFill>
          <a:ln w="19050">
            <a:solidFill>
              <a:schemeClr val="accent2"/>
            </a:solidFill>
            <a:prstDash val="solid"/>
          </a:ln>
        </p:spPr>
      </p:sp>
      <p:sp>
        <p:nvSpPr>
          <p:cNvPr id="12" name="Text 9"/>
          <p:cNvSpPr txBox="1"/>
          <p:nvPr/>
        </p:nvSpPr>
        <p:spPr>
          <a:xfrm>
            <a:off x="65024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13" name="Text 10"/>
          <p:cNvSpPr txBox="1"/>
          <p:nvPr/>
        </p:nvSpPr>
        <p:spPr>
          <a:xfrm>
            <a:off x="70612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Described: ranked</a:t>
            </a:r>
            <a:endParaRPr lang="en-US" sz="2200" dirty="0"/>
          </a:p>
        </p:txBody>
      </p:sp>
      <p:sp>
        <p:nvSpPr>
          <p:cNvPr id="14" name="Text 11"/>
          <p:cNvSpPr txBox="1"/>
          <p:nvPr/>
        </p:nvSpPr>
        <p:spPr>
          <a:xfrm>
            <a:off x="65024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Descriptions like 'white van' or 'red jacket' are matched against what the cameras saw. Histor shows the closest matches with their frames, so you can confirm at a glance.</a:t>
            </a:r>
            <a:endParaRPr lang="en-US" sz="1500" dirty="0"/>
          </a:p>
        </p:txBody>
      </p:sp>
      <p:sp>
        <p:nvSpPr>
          <p:cNvPr id="15" name="Text 12"/>
          <p:cNvSpPr txBox="1"/>
          <p:nvPr/>
        </p:nvSpPr>
        <p:spPr>
          <a:xfrm>
            <a:off x="812800" y="5321300"/>
            <a:ext cx="10566400" cy="317500"/>
          </a:xfrm>
          <a:prstGeom prst="rect">
            <a:avLst/>
          </a:prstGeom>
          <a:noFill/>
          <a:ln/>
        </p:spPr>
        <p:txBody>
          <a:bodyPr wrap="square" lIns="0" tIns="0" rIns="0" bIns="0" rtlCol="0" anchor="t"/>
          <a:lstStyle/>
          <a:p>
            <a:pPr indent="0" marL="0">
              <a:buNone/>
            </a:pPr>
            <a:r>
              <a:rPr lang="en-US" sz="1600" dirty="0">
                <a:solidFill>
                  <a:schemeClr val="bg1"/>
                </a:solidFill>
              </a:rPr>
              <a:t>Either way, every answer lists the frames it looked at, so a person can check it in seconds.</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WHEN IT MATTERS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Tell me when it happens.</a:t>
            </a:r>
            <a:endParaRPr lang="en-US" sz="3600" dirty="0"/>
          </a:p>
        </p:txBody>
      </p:sp>
      <p:sp>
        <p:nvSpPr>
          <p:cNvPr id="5" name="alert-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Areas and lines</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Draw areas and lines on each camera. An alert fires when something enters, leaves, stays too long, crosses a line, or too many gather.</a:t>
            </a:r>
            <a:endParaRPr lang="en-US" sz="1400" dirty="0"/>
          </a:p>
        </p:txBody>
      </p:sp>
      <p:sp>
        <p:nvSpPr>
          <p:cNvPr id="9" name="alert-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Your objects, your rules</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Each rule picks what it watches: only people in the yard, only trucks at the gate. Every site gets its own rules.</a:t>
            </a:r>
            <a:endParaRPr lang="en-US" sz="1400" dirty="0"/>
          </a:p>
        </p:txBody>
      </p:sp>
      <p:sp>
        <p:nvSpPr>
          <p:cNvPr id="13" name="alert-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txBody>
          <a:bodyPr/>
          <a:p/>
        </p:txBody>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Sent where you need it</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By email, Telegram or straight into your own systems, with a snapshot of the moment. Repeats are held back, so nobody gets flooded.</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Next: </a:t>
            </a:r>
            <a:pPr indent="0" marL="0">
              <a:buNone/>
            </a:pPr>
            <a:r>
              <a:rPr lang="en-US" sz="1400" dirty="0">
                <a:solidFill>
                  <a:schemeClr val="bg2"/>
                </a:solidFill>
              </a:rPr>
              <a:t>our own fire and smoke detector (in training now), and alerts from a description ("a white van at the gate").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NEW IN OCTOBER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reads plates, hears alarms and checks itself.</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
        <p:nvSpPr>
          <p:cNvPr id="1001" name="new-card-01"/>
          <p:cNvSpPr/>
          <p:nvPr/>
        </p:nvSpPr>
        <p:spPr>
          <a:xfrm>
            <a:off x="813816"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2" name="Text 3"/>
          <p:cNvSpPr txBox="1"/>
          <p:nvPr/>
        </p:nvSpPr>
        <p:spPr>
          <a:xfrm>
            <a:off x="1042416"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1003" name="Text 4"/>
          <p:cNvSpPr txBox="1"/>
          <p:nvPr/>
        </p:nvSpPr>
        <p:spPr>
          <a:xfrm>
            <a:off x="1042416"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Sharper search</a:t>
            </a:r>
            <a:endParaRPr lang="en-US" sz="2000" dirty="0"/>
          </a:p>
        </p:txBody>
      </p:sp>
      <p:sp>
        <p:nvSpPr>
          <p:cNvPr id="1004" name="Text 5"/>
          <p:cNvSpPr txBox="1"/>
          <p:nvPr/>
        </p:nvSpPr>
        <p:spPr>
          <a:xfrm>
            <a:off x="1042416"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better search model finds descriptions more reliably, at ~30 ms per object.</a:t>
            </a:r>
            <a:endParaRPr lang="en-US" sz="1400" dirty="0"/>
          </a:p>
        </p:txBody>
      </p:sp>
      <p:sp>
        <p:nvSpPr>
          <p:cNvPr id="1005" name="new-card-02"/>
          <p:cNvSpPr/>
          <p:nvPr/>
        </p:nvSpPr>
        <p:spPr>
          <a:xfrm>
            <a:off x="2964484"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6" name="Text 3"/>
          <p:cNvSpPr txBox="1"/>
          <p:nvPr/>
        </p:nvSpPr>
        <p:spPr>
          <a:xfrm>
            <a:off x="3193084"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007" name="Text 4"/>
          <p:cNvSpPr txBox="1"/>
          <p:nvPr/>
        </p:nvSpPr>
        <p:spPr>
          <a:xfrm>
            <a:off x="3193084"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A second look</a:t>
            </a:r>
            <a:endParaRPr lang="en-US" sz="2000" dirty="0"/>
          </a:p>
        </p:txBody>
      </p:sp>
      <p:sp>
        <p:nvSpPr>
          <p:cNvPr id="1008" name="Text 5"/>
          <p:cNvSpPr txBox="1"/>
          <p:nvPr/>
        </p:nvSpPr>
        <p:spPr>
          <a:xfrm>
            <a:off x="3193084"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local vision model looks at the evidence frames: counts, signs, a second opinion.</a:t>
            </a:r>
            <a:endParaRPr lang="en-US" sz="1400" dirty="0"/>
          </a:p>
        </p:txBody>
      </p:sp>
      <p:sp>
        <p:nvSpPr>
          <p:cNvPr id="1009" name="new-card-03"/>
          <p:cNvSpPr/>
          <p:nvPr/>
        </p:nvSpPr>
        <p:spPr>
          <a:xfrm>
            <a:off x="5115153" y="2093976"/>
            <a:ext cx="1967788" cy="2798064"/>
          </a:xfrm>
          <a:prstGeom prst="roundRect">
            <a:avLst>
              <a:gd name="adj" fmla="val 4545"/>
            </a:avLst>
          </a:prstGeom>
          <a:solidFill>
            <a:schemeClr val="accent3"/>
          </a:solidFill>
          <a:ln w="19050">
            <a:solidFill>
              <a:schemeClr val="accent1"/>
            </a:solidFill>
            <a:prstDash val="solid"/>
          </a:ln>
        </p:spPr>
        <p:txBody>
          <a:bodyPr/>
          <a:p/>
        </p:txBody>
      </p:sp>
      <p:sp>
        <p:nvSpPr>
          <p:cNvPr id="1010" name="Text 3"/>
          <p:cNvSpPr txBox="1"/>
          <p:nvPr/>
        </p:nvSpPr>
        <p:spPr>
          <a:xfrm>
            <a:off x="5343753"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011" name="Text 4"/>
          <p:cNvSpPr txBox="1"/>
          <p:nvPr/>
        </p:nvSpPr>
        <p:spPr>
          <a:xfrm>
            <a:off x="5343753"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Number plates</a:t>
            </a:r>
            <a:endParaRPr lang="en-US" sz="2000" dirty="0"/>
          </a:p>
        </p:txBody>
      </p:sp>
      <p:sp>
        <p:nvSpPr>
          <p:cNvPr id="1012" name="Text 5"/>
          <p:cNvSpPr txBox="1"/>
          <p:nvPr/>
        </p:nvSpPr>
        <p:spPr>
          <a:xfrm>
            <a:off x="5343753"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Every vehicle's plate is read and searchable. A plate on a watchlist raises an alert.</a:t>
            </a:r>
            <a:endParaRPr lang="en-US" sz="1400" dirty="0"/>
          </a:p>
        </p:txBody>
      </p:sp>
      <p:sp>
        <p:nvSpPr>
          <p:cNvPr id="1013" name="new-card-04"/>
          <p:cNvSpPr/>
          <p:nvPr/>
        </p:nvSpPr>
        <p:spPr>
          <a:xfrm>
            <a:off x="7265822"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4" name="Text 3"/>
          <p:cNvSpPr txBox="1"/>
          <p:nvPr/>
        </p:nvSpPr>
        <p:spPr>
          <a:xfrm>
            <a:off x="7494422"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04</a:t>
            </a:r>
            <a:endParaRPr lang="en-US" sz="1200" dirty="0"/>
          </a:p>
        </p:txBody>
      </p:sp>
      <p:sp>
        <p:nvSpPr>
          <p:cNvPr id="1015" name="Text 4"/>
          <p:cNvSpPr txBox="1"/>
          <p:nvPr/>
        </p:nvSpPr>
        <p:spPr>
          <a:xfrm>
            <a:off x="7494422"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Sounds</a:t>
            </a:r>
            <a:endParaRPr lang="en-US" sz="2000" dirty="0"/>
          </a:p>
        </p:txBody>
      </p:sp>
      <p:sp>
        <p:nvSpPr>
          <p:cNvPr id="1016" name="Text 5"/>
          <p:cNvSpPr txBox="1"/>
          <p:nvPr/>
        </p:nvSpPr>
        <p:spPr>
          <a:xfrm>
            <a:off x="7494422"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Smoke alarms, breaking glass, gunshots, screams and sirens, from the camera microphones.</a:t>
            </a:r>
            <a:endParaRPr lang="en-US" sz="1400" dirty="0"/>
          </a:p>
        </p:txBody>
      </p:sp>
      <p:sp>
        <p:nvSpPr>
          <p:cNvPr id="1017" name="new-card-05"/>
          <p:cNvSpPr/>
          <p:nvPr/>
        </p:nvSpPr>
        <p:spPr>
          <a:xfrm>
            <a:off x="9416491"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8" name="Text 3"/>
          <p:cNvSpPr txBox="1"/>
          <p:nvPr/>
        </p:nvSpPr>
        <p:spPr>
          <a:xfrm>
            <a:off x="9645091"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05</a:t>
            </a:r>
            <a:endParaRPr lang="en-US" sz="1200" dirty="0"/>
          </a:p>
        </p:txBody>
      </p:sp>
      <p:sp>
        <p:nvSpPr>
          <p:cNvPr id="1019" name="Text 4"/>
          <p:cNvSpPr txBox="1"/>
          <p:nvPr/>
        </p:nvSpPr>
        <p:spPr>
          <a:xfrm>
            <a:off x="9645091"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Camera health</a:t>
            </a:r>
            <a:endParaRPr lang="en-US" sz="2000" dirty="0"/>
          </a:p>
        </p:txBody>
      </p:sp>
      <p:sp>
        <p:nvSpPr>
          <p:cNvPr id="1020" name="Text 5"/>
          <p:cNvSpPr txBox="1"/>
          <p:nvPr/>
        </p:nvSpPr>
        <p:spPr>
          <a:xfrm>
            <a:off x="9645091"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Covered, dark, blurred, turned or frozen cameras raise an alert. So do bags left behind and crowds.</a:t>
            </a:r>
            <a:endParaRPr lang="en-US" sz="1400" dirty="0"/>
          </a:p>
        </p:txBody>
      </p:sp>
      <p:sp>
        <p:nvSpPr>
          <p:cNvPr id="1021" name="Text 14"/>
          <p:cNvSpPr txBox="1"/>
          <p:nvPr/>
        </p:nvSpPr>
        <p:spPr>
          <a:xfrm>
            <a:off x="813816" y="5138928"/>
            <a:ext cx="10570464" cy="566928"/>
          </a:xfrm>
          <a:prstGeom prst="rect">
            <a:avLst/>
          </a:prstGeom>
          <a:noFill/>
          <a:ln/>
        </p:spPr>
        <p:txBody>
          <a:bodyPr wrap="square" lIns="0" tIns="0" rIns="0" bIns="0" rtlCol="0" anchor="t"/>
          <a:lstStyle/>
          <a:p>
            <a:pPr indent="0" marL="0">
              <a:buNone/>
            </a:pPr>
            <a:r>
              <a:rPr lang="en-US" sz="1400" b="1" dirty="0">
                <a:solidFill>
                  <a:schemeClr val="bg1"/>
                </a:solidFill>
              </a:rPr>
              <a:t>Same server, same rules: </a:t>
            </a:r>
            <a:r>
              <a:rPr lang="en-US" sz="1400" dirty="0" b="0">
                <a:solidFill>
                  <a:schemeClr val="bg2"/>
                </a:solidFill>
              </a:rPr>
              <a:t>all of it runs on site with permissively licensed models. Plates and sounds stay off until the client approves them.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NUMBER PLATES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Which car was it? Ask for the plate.</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plate-crop" descr="plate_crop.png"/>
          <p:cNvPicPr>
            <a:picLocks noChangeAspect="1"/>
          </p:cNvPicPr>
          <p:nvPr/>
        </p:nvPicPr>
        <p:blipFill>
          <a:blip r:embed="rId2"/>
          <a:stretch>
            <a:fillRect/>
          </a:stretch>
        </p:blipFill>
        <p:spPr>
          <a:xfrm>
            <a:off x="813816" y="2103120"/>
            <a:ext cx="5212080" cy="1584328"/>
          </a:xfrm>
          <a:prstGeom prst="rect">
            <a:avLst/>
          </a:prstGeom>
        </p:spPr>
      </p:pic>
      <p:pic>
        <p:nvPicPr>
          <p:cNvPr id="27" name="plate-read" descr="plate_read.png"/>
          <p:cNvPicPr>
            <a:picLocks noChangeAspect="1"/>
          </p:cNvPicPr>
          <p:nvPr/>
        </p:nvPicPr>
        <p:blipFill>
          <a:blip r:embed="rId3"/>
          <a:stretch>
            <a:fillRect/>
          </a:stretch>
        </p:blipFill>
        <p:spPr>
          <a:xfrm>
            <a:off x="813816" y="3657600"/>
            <a:ext cx="5212080" cy="1882140"/>
          </a:xfrm>
          <a:prstGeom prst="rect">
            <a:avLst/>
          </a:prstGeom>
        </p:spPr>
      </p:pic>
      <p:sp>
        <p:nvSpPr>
          <p:cNvPr id="1022" name="Text 21"/>
          <p:cNvSpPr txBox="1"/>
          <p:nvPr/>
        </p:nvSpPr>
        <p:spPr>
          <a:xfrm>
            <a:off x="813816" y="5577840"/>
            <a:ext cx="521208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models on a synthetic plate</a:t>
            </a:r>
            <a:endParaRPr lang="en-US" sz="1200" dirty="0"/>
          </a:p>
        </p:txBody>
      </p:sp>
      <p:sp>
        <p:nvSpPr>
          <p:cNvPr id="1023" name="Text 2"/>
          <p:cNvSpPr txBox="1"/>
          <p:nvPr/>
        </p:nvSpPr>
        <p:spPr>
          <a:xfrm>
            <a:off x="6492240" y="2103120"/>
            <a:ext cx="4846320" cy="304800"/>
          </a:xfrm>
          <a:prstGeom prst="rect">
            <a:avLst/>
          </a:prstGeom>
          <a:noFill/>
          <a:ln/>
        </p:spPr>
        <p:txBody>
          <a:bodyPr wrap="square" lIns="0" tIns="0" rIns="0" bIns="0" rtlCol="0" anchor="t"/>
          <a:lstStyle/>
          <a:p>
            <a:pPr indent="0" marL="0">
              <a:buNone/>
            </a:pPr>
            <a:r>
              <a:rPr lang="en-US" sz="1700" b="1" dirty="0">
                <a:solidFill>
                  <a:schemeClr val="bg1"/>
                </a:solidFill>
              </a:rPr>
              <a:t>Find</a:t>
            </a:r>
            <a:endParaRPr lang="en-US" sz="1700" dirty="0"/>
          </a:p>
        </p:txBody>
      </p:sp>
      <p:sp>
        <p:nvSpPr>
          <p:cNvPr id="1024" name="Text 3"/>
          <p:cNvSpPr txBox="1"/>
          <p:nvPr/>
        </p:nvSpPr>
        <p:spPr>
          <a:xfrm>
            <a:off x="6492240" y="2432303"/>
            <a:ext cx="4846320" cy="502920"/>
          </a:xfrm>
          <a:prstGeom prst="rect">
            <a:avLst/>
          </a:prstGeom>
          <a:noFill/>
          <a:ln/>
        </p:spPr>
        <p:txBody>
          <a:bodyPr wrap="square" lIns="0" tIns="0" rIns="0" bIns="0" rtlCol="0" anchor="t"/>
          <a:lstStyle/>
          <a:p>
            <a:pPr indent="0" marL="0">
              <a:buNone/>
            </a:pPr>
            <a:r>
              <a:rPr lang="en-US" sz="1300" dirty="0">
                <a:solidFill>
                  <a:schemeClr val="bg2"/>
                </a:solidFill>
              </a:rPr>
              <a:t>A small model finds the plate on each tracked vehicle, about once a second.</a:t>
            </a:r>
            <a:endParaRPr lang="en-US" sz="1300" dirty="0"/>
          </a:p>
        </p:txBody>
      </p:sp>
      <p:sp>
        <p:nvSpPr>
          <p:cNvPr id="1025" name="Text 2"/>
          <p:cNvSpPr txBox="1"/>
          <p:nvPr/>
        </p:nvSpPr>
        <p:spPr>
          <a:xfrm>
            <a:off x="6492240" y="2999232"/>
            <a:ext cx="4846320" cy="304800"/>
          </a:xfrm>
          <a:prstGeom prst="rect">
            <a:avLst/>
          </a:prstGeom>
          <a:noFill/>
          <a:ln/>
        </p:spPr>
        <p:txBody>
          <a:bodyPr wrap="square" lIns="0" tIns="0" rIns="0" bIns="0" rtlCol="0" anchor="t"/>
          <a:lstStyle/>
          <a:p>
            <a:pPr indent="0" marL="0">
              <a:buNone/>
            </a:pPr>
            <a:r>
              <a:rPr lang="en-US" sz="1700" b="1" dirty="0">
                <a:solidFill>
                  <a:schemeClr val="bg1"/>
                </a:solidFill>
              </a:rPr>
              <a:t>Read</a:t>
            </a:r>
            <a:endParaRPr lang="en-US" sz="1700" dirty="0"/>
          </a:p>
        </p:txBody>
      </p:sp>
      <p:sp>
        <p:nvSpPr>
          <p:cNvPr id="1026" name="Text 3"/>
          <p:cNvSpPr txBox="1"/>
          <p:nvPr/>
        </p:nvSpPr>
        <p:spPr>
          <a:xfrm>
            <a:off x="6492240" y="3328415"/>
            <a:ext cx="4846320" cy="502920"/>
          </a:xfrm>
          <a:prstGeom prst="rect">
            <a:avLst/>
          </a:prstGeom>
          <a:noFill/>
          <a:ln/>
        </p:spPr>
        <p:txBody>
          <a:bodyPr wrap="square" lIns="0" tIns="0" rIns="0" bIns="0" rtlCol="0" anchor="t"/>
          <a:lstStyle/>
          <a:p>
            <a:pPr indent="0" marL="0">
              <a:buNone/>
            </a:pPr>
            <a:r>
              <a:rPr lang="en-US" sz="1300" dirty="0">
                <a:solidFill>
                  <a:schemeClr val="bg2"/>
                </a:solidFill>
              </a:rPr>
              <a:t>The reader turns it into text. Each character must be at least 60 % sure.</a:t>
            </a:r>
            <a:endParaRPr lang="en-US" sz="1300" dirty="0"/>
          </a:p>
        </p:txBody>
      </p:sp>
      <p:sp>
        <p:nvSpPr>
          <p:cNvPr id="1027" name="Text 2"/>
          <p:cNvSpPr txBox="1"/>
          <p:nvPr/>
        </p:nvSpPr>
        <p:spPr>
          <a:xfrm>
            <a:off x="6492240" y="3895344"/>
            <a:ext cx="4846320" cy="304800"/>
          </a:xfrm>
          <a:prstGeom prst="rect">
            <a:avLst/>
          </a:prstGeom>
          <a:noFill/>
          <a:ln/>
        </p:spPr>
        <p:txBody>
          <a:bodyPr wrap="square" lIns="0" tIns="0" rIns="0" bIns="0" rtlCol="0" anchor="t"/>
          <a:lstStyle/>
          <a:p>
            <a:pPr indent="0" marL="0">
              <a:buNone/>
            </a:pPr>
            <a:r>
              <a:rPr lang="en-US" sz="1700" b="1" dirty="0">
                <a:solidFill>
                  <a:schemeClr val="bg1"/>
                </a:solidFill>
              </a:rPr>
              <a:t>Vote</a:t>
            </a:r>
            <a:endParaRPr lang="en-US" sz="1700" dirty="0"/>
          </a:p>
        </p:txBody>
      </p:sp>
      <p:sp>
        <p:nvSpPr>
          <p:cNvPr id="1028" name="Text 3"/>
          <p:cNvSpPr txBox="1"/>
          <p:nvPr/>
        </p:nvSpPr>
        <p:spPr>
          <a:xfrm>
            <a:off x="6492240" y="4224528"/>
            <a:ext cx="4846320" cy="502920"/>
          </a:xfrm>
          <a:prstGeom prst="rect">
            <a:avLst/>
          </a:prstGeom>
          <a:noFill/>
          <a:ln/>
        </p:spPr>
        <p:txBody>
          <a:bodyPr wrap="square" lIns="0" tIns="0" rIns="0" bIns="0" rtlCol="0" anchor="t"/>
          <a:lstStyle/>
          <a:p>
            <a:pPr indent="0" marL="0">
              <a:buNone/>
            </a:pPr>
            <a:r>
              <a:rPr lang="en-US" sz="1300" dirty="0">
                <a:solidFill>
                  <a:schemeClr val="bg2"/>
                </a:solidFill>
              </a:rPr>
              <a:t>Several reads per vehicle are combined, so one bad frame never renames it.</a:t>
            </a:r>
            <a:endParaRPr lang="en-US" sz="1300" dirty="0"/>
          </a:p>
        </p:txBody>
      </p:sp>
      <p:sp>
        <p:nvSpPr>
          <p:cNvPr id="1029" name="Text 2"/>
          <p:cNvSpPr txBox="1"/>
          <p:nvPr/>
        </p:nvSpPr>
        <p:spPr>
          <a:xfrm>
            <a:off x="6492240" y="4791456"/>
            <a:ext cx="4846320" cy="304800"/>
          </a:xfrm>
          <a:prstGeom prst="rect">
            <a:avLst/>
          </a:prstGeom>
          <a:noFill/>
          <a:ln/>
        </p:spPr>
        <p:txBody>
          <a:bodyPr wrap="square" lIns="0" tIns="0" rIns="0" bIns="0" rtlCol="0" anchor="t"/>
          <a:lstStyle/>
          <a:p>
            <a:pPr indent="0" marL="0">
              <a:buNone/>
            </a:pPr>
            <a:r>
              <a:rPr lang="en-US" sz="1700" b="1" dirty="0">
                <a:solidFill>
                  <a:schemeClr val="bg1"/>
                </a:solidFill>
              </a:rPr>
              <a:t>Search and alert</a:t>
            </a:r>
            <a:endParaRPr lang="en-US" sz="1700" dirty="0"/>
          </a:p>
        </p:txBody>
      </p:sp>
      <p:sp>
        <p:nvSpPr>
          <p:cNvPr id="1030" name="Text 3"/>
          <p:cNvSpPr txBox="1"/>
          <p:nvPr/>
        </p:nvSpPr>
        <p:spPr>
          <a:xfrm>
            <a:off x="6492240" y="5120640"/>
            <a:ext cx="4846320" cy="502920"/>
          </a:xfrm>
          <a:prstGeom prst="rect">
            <a:avLst/>
          </a:prstGeom>
          <a:noFill/>
          <a:ln/>
        </p:spPr>
        <p:txBody>
          <a:bodyPr wrap="square" lIns="0" tIns="0" rIns="0" bIns="0" rtlCol="0" anchor="t"/>
          <a:lstStyle/>
          <a:p>
            <a:pPr indent="0" marL="0">
              <a:buNone/>
            </a:pPr>
            <a:r>
              <a:rPr lang="en-US" sz="1300" dirty="0">
                <a:solidFill>
                  <a:schemeClr val="bg2"/>
                </a:solidFill>
              </a:rPr>
              <a:t>"When did AB 123 CD come in?" Spaces and look-alikes (0/O, 8/B) don't matter. Watchlist plates raise an alert.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SOUNDS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hears the alarm, not the conversation.</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sound-scores" descr="sound_scores.png"/>
          <p:cNvPicPr>
            <a:picLocks noChangeAspect="1"/>
          </p:cNvPicPr>
          <p:nvPr/>
        </p:nvPicPr>
        <p:blipFill>
          <a:blip r:embed="rId2"/>
          <a:stretch>
            <a:fillRect/>
          </a:stretch>
        </p:blipFill>
        <p:spPr>
          <a:xfrm>
            <a:off x="813816" y="2148840"/>
            <a:ext cx="6400800" cy="2880360"/>
          </a:xfrm>
          <a:prstGeom prst="rect">
            <a:avLst/>
          </a:prstGeom>
        </p:spPr>
      </p:pic>
      <p:sp>
        <p:nvSpPr>
          <p:cNvPr id="1031" name="Text 21"/>
          <p:cNvSpPr txBox="1"/>
          <p:nvPr/>
        </p:nvSpPr>
        <p:spPr>
          <a:xfrm>
            <a:off x="813816" y="5074920"/>
            <a:ext cx="64008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 on a synthetic smoke-alarm pattern</a:t>
            </a:r>
            <a:endParaRPr lang="en-US" sz="1200" dirty="0"/>
          </a:p>
        </p:txBody>
      </p:sp>
      <p:sp>
        <p:nvSpPr>
          <p:cNvPr id="1032" name="Text 2"/>
          <p:cNvSpPr txBox="1"/>
          <p:nvPr/>
        </p:nvSpPr>
        <p:spPr>
          <a:xfrm>
            <a:off x="7589520" y="2148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hears</a:t>
            </a:r>
            <a:endParaRPr lang="en-US" sz="1700" dirty="0"/>
          </a:p>
        </p:txBody>
      </p:sp>
      <p:sp>
        <p:nvSpPr>
          <p:cNvPr id="1033" name="Text 3"/>
          <p:cNvSpPr txBox="1"/>
          <p:nvPr/>
        </p:nvSpPr>
        <p:spPr>
          <a:xfrm>
            <a:off x="7589520" y="2478024"/>
            <a:ext cx="3794760" cy="731520"/>
          </a:xfrm>
          <a:prstGeom prst="rect">
            <a:avLst/>
          </a:prstGeom>
          <a:noFill/>
          <a:ln/>
        </p:spPr>
        <p:txBody>
          <a:bodyPr wrap="square" lIns="0" tIns="0" rIns="0" bIns="0" rtlCol="0" anchor="t"/>
          <a:lstStyle/>
          <a:p>
            <a:pPr indent="0" marL="0">
              <a:buNone/>
            </a:pPr>
            <a:r>
              <a:rPr lang="en-US" sz="1300" dirty="0">
                <a:solidFill>
                  <a:schemeClr val="bg2"/>
                </a:solidFill>
              </a:rPr>
              <a:t>Smoke alarms, breaking glass, gunshots, explosions, screams, car alarms and sirens.</a:t>
            </a:r>
            <a:endParaRPr lang="en-US" sz="1300" dirty="0"/>
          </a:p>
        </p:txBody>
      </p:sp>
      <p:sp>
        <p:nvSpPr>
          <p:cNvPr id="1034" name="Text 2"/>
          <p:cNvSpPr txBox="1"/>
          <p:nvPr/>
        </p:nvSpPr>
        <p:spPr>
          <a:xfrm>
            <a:off x="7589520" y="3291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35" name="Text 3"/>
          <p:cNvSpPr txBox="1"/>
          <p:nvPr/>
        </p:nvSpPr>
        <p:spPr>
          <a:xfrm>
            <a:off x="7589520" y="3621024"/>
            <a:ext cx="3794760" cy="731520"/>
          </a:xfrm>
          <a:prstGeom prst="rect">
            <a:avLst/>
          </a:prstGeom>
          <a:noFill/>
          <a:ln/>
        </p:spPr>
        <p:txBody>
          <a:bodyPr wrap="square" lIns="0" tIns="0" rIns="0" bIns="0" rtlCol="0" anchor="t"/>
          <a:lstStyle/>
          <a:p>
            <a:pPr indent="0" marL="0">
              <a:buNone/>
            </a:pPr>
            <a:r>
              <a:rPr lang="en-US" sz="1300" dirty="0">
                <a:solidFill>
                  <a:schemeClr val="bg2"/>
                </a:solidFill>
              </a:rPr>
              <a:t>A score above 0.3 for about a second, then 30 s of rest: one alert, not a flood.</a:t>
            </a:r>
            <a:endParaRPr lang="en-US" sz="1300" dirty="0"/>
          </a:p>
        </p:txBody>
      </p:sp>
      <p:sp>
        <p:nvSpPr>
          <p:cNvPr id="1036" name="Text 2"/>
          <p:cNvSpPr txBox="1"/>
          <p:nvPr/>
        </p:nvSpPr>
        <p:spPr>
          <a:xfrm>
            <a:off x="7589520" y="4434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keeps</a:t>
            </a:r>
            <a:endParaRPr lang="en-US" sz="1700" dirty="0"/>
          </a:p>
        </p:txBody>
      </p:sp>
      <p:sp>
        <p:nvSpPr>
          <p:cNvPr id="1037" name="Text 3"/>
          <p:cNvSpPr txBox="1"/>
          <p:nvPr/>
        </p:nvSpPr>
        <p:spPr>
          <a:xfrm>
            <a:off x="7589520" y="4764024"/>
            <a:ext cx="3794760" cy="731520"/>
          </a:xfrm>
          <a:prstGeom prst="rect">
            <a:avLst/>
          </a:prstGeom>
          <a:noFill/>
          <a:ln/>
        </p:spPr>
        <p:txBody>
          <a:bodyPr wrap="square" lIns="0" tIns="0" rIns="0" bIns="0" rtlCol="0" anchor="t"/>
          <a:lstStyle/>
          <a:p>
            <a:pPr indent="0" marL="0">
              <a:buNone/>
            </a:pPr>
            <a:r>
              <a:rPr lang="en-US" sz="1300" dirty="0">
                <a:solidFill>
                  <a:schemeClr val="bg2"/>
                </a:solidFill>
              </a:rPr>
              <a:t>Only the event and a snapshot. The audio is never stored. Off until the client and local law allow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CAMERA HEALTH</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 camera that can't see raises its hand.</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tamper-strip" descr="tamper_strip.png"/>
          <p:cNvPicPr>
            <a:picLocks noChangeAspect="1"/>
          </p:cNvPicPr>
          <p:nvPr/>
        </p:nvPicPr>
        <p:blipFill>
          <a:blip r:embed="rId2"/>
          <a:stretch>
            <a:fillRect/>
          </a:stretch>
        </p:blipFill>
        <p:spPr>
          <a:xfrm>
            <a:off x="813816" y="2103120"/>
            <a:ext cx="10570464" cy="2009757"/>
          </a:xfrm>
          <a:prstGeom prst="rect">
            <a:avLst/>
          </a:prstGeom>
        </p:spPr>
      </p:pic>
      <p:sp>
        <p:nvSpPr>
          <p:cNvPr id="1038" name="health-card-0"/>
          <p:cNvSpPr/>
          <p:nvPr/>
        </p:nvSpPr>
        <p:spPr>
          <a:xfrm>
            <a:off x="813816"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39" name="Text 2"/>
          <p:cNvSpPr txBox="1"/>
          <p:nvPr/>
        </p:nvSpPr>
        <p:spPr>
          <a:xfrm>
            <a:off x="1042416"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checks</a:t>
            </a:r>
            <a:endParaRPr lang="en-US" sz="1700" dirty="0"/>
          </a:p>
        </p:txBody>
      </p:sp>
      <p:sp>
        <p:nvSpPr>
          <p:cNvPr id="1040" name="Text 3"/>
          <p:cNvSpPr txBox="1"/>
          <p:nvPr/>
        </p:nvSpPr>
        <p:spPr>
          <a:xfrm>
            <a:off x="1042416"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Covered, too dark, out of focus, turned away, or a frozen picture.</a:t>
            </a:r>
            <a:endParaRPr lang="en-US" sz="1300" dirty="0"/>
          </a:p>
        </p:txBody>
      </p:sp>
      <p:sp>
        <p:nvSpPr>
          <p:cNvPr id="1041" name="health-card-1"/>
          <p:cNvSpPr/>
          <p:nvPr/>
        </p:nvSpPr>
        <p:spPr>
          <a:xfrm>
            <a:off x="4407408"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2" name="Text 2"/>
          <p:cNvSpPr txBox="1"/>
          <p:nvPr/>
        </p:nvSpPr>
        <p:spPr>
          <a:xfrm>
            <a:off x="4636008"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43" name="Text 3"/>
          <p:cNvSpPr txBox="1"/>
          <p:nvPr/>
        </p:nvSpPr>
        <p:spPr>
          <a:xfrm>
            <a:off x="4636008"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Against the camera's own usual view, for 20 s, so people walking by or a cloud don't count.</a:t>
            </a:r>
            <a:endParaRPr lang="en-US" sz="1300" dirty="0"/>
          </a:p>
        </p:txBody>
      </p:sp>
      <p:sp>
        <p:nvSpPr>
          <p:cNvPr id="1044" name="health-card-2"/>
          <p:cNvSpPr/>
          <p:nvPr/>
        </p:nvSpPr>
        <p:spPr>
          <a:xfrm>
            <a:off x="8001000"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5" name="Text 2"/>
          <p:cNvSpPr txBox="1"/>
          <p:nvPr/>
        </p:nvSpPr>
        <p:spPr>
          <a:xfrm>
            <a:off x="8229600"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costs</a:t>
            </a:r>
            <a:endParaRPr lang="en-US" sz="1700" dirty="0"/>
          </a:p>
        </p:txBody>
      </p:sp>
      <p:sp>
        <p:nvSpPr>
          <p:cNvPr id="1046" name="Text 3"/>
          <p:cNvSpPr txBox="1"/>
          <p:nvPr/>
        </p:nvSpPr>
        <p:spPr>
          <a:xfrm>
            <a:off x="8229600"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No model: about 1 ms every 2 s per camera. On by default.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MORE RULES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Bags left behind, crowds, wrong way.</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crowd-zone" descr="crowd_zone.png"/>
          <p:cNvPicPr>
            <a:picLocks noChangeAspect="1"/>
          </p:cNvPicPr>
          <p:nvPr/>
        </p:nvPicPr>
        <p:blipFill>
          <a:blip r:embed="rId2"/>
          <a:stretch>
            <a:fillRect/>
          </a:stretch>
        </p:blipFill>
        <p:spPr>
          <a:xfrm>
            <a:off x="813816" y="2103120"/>
            <a:ext cx="4572000" cy="3429000"/>
          </a:xfrm>
          <a:prstGeom prst="rect">
            <a:avLst/>
          </a:prstGeom>
        </p:spPr>
      </p:pic>
      <p:sp>
        <p:nvSpPr>
          <p:cNvPr id="1047" name="Text 21"/>
          <p:cNvSpPr txBox="1"/>
          <p:nvPr/>
        </p:nvSpPr>
        <p:spPr>
          <a:xfrm>
            <a:off x="813816" y="5577840"/>
            <a:ext cx="45720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detections, sample street video</a:t>
            </a:r>
            <a:endParaRPr lang="en-US" sz="1200" dirty="0"/>
          </a:p>
        </p:txBody>
      </p:sp>
      <p:sp>
        <p:nvSpPr>
          <p:cNvPr id="1048" name="Text 2"/>
          <p:cNvSpPr txBox="1"/>
          <p:nvPr/>
        </p:nvSpPr>
        <p:spPr>
          <a:xfrm>
            <a:off x="6035040" y="2103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Too many in one area</a:t>
            </a:r>
            <a:endParaRPr lang="en-US" sz="1700" dirty="0"/>
          </a:p>
        </p:txBody>
      </p:sp>
      <p:sp>
        <p:nvSpPr>
          <p:cNvPr id="1049" name="Text 3"/>
          <p:cNvSpPr txBox="1"/>
          <p:nvPr/>
        </p:nvSpPr>
        <p:spPr>
          <a:xfrm>
            <a:off x="6035040" y="2432303"/>
            <a:ext cx="5349240" cy="731520"/>
          </a:xfrm>
          <a:prstGeom prst="rect">
            <a:avLst/>
          </a:prstGeom>
          <a:noFill/>
          <a:ln/>
        </p:spPr>
        <p:txBody>
          <a:bodyPr wrap="square" lIns="0" tIns="0" rIns="0" bIns="0" rtlCol="0" anchor="t"/>
          <a:lstStyle/>
          <a:p>
            <a:pPr indent="0" marL="0">
              <a:buNone/>
            </a:pPr>
            <a:r>
              <a:rPr lang="en-US" sz="1300" dirty="0">
                <a:solidFill>
                  <a:schemeClr val="bg2"/>
                </a:solidFill>
              </a:rPr>
              <a:t>An area with a limit: 6 people for 30 s at the till or on a path raises an alert.</a:t>
            </a:r>
            <a:endParaRPr lang="en-US" sz="1300" dirty="0"/>
          </a:p>
        </p:txBody>
      </p:sp>
      <p:sp>
        <p:nvSpPr>
          <p:cNvPr id="1050" name="Text 2"/>
          <p:cNvSpPr txBox="1"/>
          <p:nvPr/>
        </p:nvSpPr>
        <p:spPr>
          <a:xfrm>
            <a:off x="6035040" y="3246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Bag left behind</a:t>
            </a:r>
            <a:endParaRPr lang="en-US" sz="1700" dirty="0"/>
          </a:p>
        </p:txBody>
      </p:sp>
      <p:sp>
        <p:nvSpPr>
          <p:cNvPr id="1051" name="Text 3"/>
          <p:cNvSpPr txBox="1"/>
          <p:nvPr/>
        </p:nvSpPr>
        <p:spPr>
          <a:xfrm>
            <a:off x="6035040" y="3575303"/>
            <a:ext cx="5349240" cy="731520"/>
          </a:xfrm>
          <a:prstGeom prst="rect">
            <a:avLst/>
          </a:prstGeom>
          <a:noFill/>
          <a:ln/>
        </p:spPr>
        <p:txBody>
          <a:bodyPr wrap="square" lIns="0" tIns="0" rIns="0" bIns="0" rtlCol="0" anchor="t"/>
          <a:lstStyle/>
          <a:p>
            <a:pPr indent="0" marL="0">
              <a:buNone/>
            </a:pPr>
            <a:r>
              <a:rPr lang="en-US" sz="1300" dirty="0">
                <a:solidFill>
                  <a:schemeClr val="bg2"/>
                </a:solidFill>
              </a:rPr>
              <a:t>A backpack, handbag or suitcase that stays still with nobody near it for 60 s.</a:t>
            </a:r>
            <a:endParaRPr lang="en-US" sz="1300" dirty="0"/>
          </a:p>
        </p:txBody>
      </p:sp>
      <p:sp>
        <p:nvSpPr>
          <p:cNvPr id="1052" name="Text 2"/>
          <p:cNvSpPr txBox="1"/>
          <p:nvPr/>
        </p:nvSpPr>
        <p:spPr>
          <a:xfrm>
            <a:off x="6035040" y="4389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Wrong way</a:t>
            </a:r>
            <a:endParaRPr lang="en-US" sz="1700" dirty="0"/>
          </a:p>
        </p:txBody>
      </p:sp>
      <p:sp>
        <p:nvSpPr>
          <p:cNvPr id="1053" name="Text 3"/>
          <p:cNvSpPr txBox="1"/>
          <p:nvPr/>
        </p:nvSpPr>
        <p:spPr>
          <a:xfrm>
            <a:off x="6035040" y="4718304"/>
            <a:ext cx="5349240" cy="731520"/>
          </a:xfrm>
          <a:prstGeom prst="rect">
            <a:avLst/>
          </a:prstGeom>
          <a:noFill/>
          <a:ln/>
        </p:spPr>
        <p:txBody>
          <a:bodyPr wrap="square" lIns="0" tIns="0" rIns="0" bIns="0" rtlCol="0" anchor="t"/>
          <a:lstStyle/>
          <a:p>
            <a:pPr indent="0" marL="0">
              <a:buNone/>
            </a:pPr>
            <a:r>
              <a:rPr lang="en-US" sz="1300" dirty="0">
                <a:solidFill>
                  <a:schemeClr val="bg2"/>
                </a:solidFill>
              </a:rPr>
              <a:t>A one-way line: anything crossing it in the forbidden direction raises an alert.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 SECOND LOOK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When counting needs eyes, it looks.</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Find the moment</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Histor finds the right frames first, with the usual lookups.</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Look at it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 vision model reads those frames: counts, actions, signs.</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Stays on site</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It runs on your server, even with a cloud chat model. Images never leave.</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How many people were on the path at 14:12?</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Six people on the path, walking in both directions. I looked at this frame:</a:t>
            </a:r>
            <a:endParaRPr lang="en-US" sz="15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the tool is built, this answer is not a live run</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pic>
        <p:nvPicPr>
          <p:cNvPr id="26" name="look-frame" descr="look_scene.png"/>
          <p:cNvPicPr>
            <a:picLocks noChangeAspect="1"/>
          </p:cNvPicPr>
          <p:nvPr/>
        </p:nvPicPr>
        <p:blipFill>
          <a:blip r:embed="rId2"/>
          <a:stretch>
            <a:fillRect/>
          </a:stretch>
        </p:blipFill>
        <p:spPr>
          <a:xfrm>
            <a:off x="5056632" y="3931920"/>
            <a:ext cx="2133600" cy="160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PRIVATE BY DESIGN</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footage stays in the building.</a:t>
            </a:r>
            <a:endParaRPr lang="en-US" sz="3600" dirty="0"/>
          </a:p>
        </p:txBody>
      </p:sp>
      <p:sp>
        <p:nvSpPr>
          <p:cNvPr id="5" name="privacy-point-0"/>
          <p:cNvSpPr/>
          <p:nvPr/>
        </p:nvSpPr>
        <p:spPr>
          <a:xfrm>
            <a:off x="812800" y="2133600"/>
            <a:ext cx="228600" cy="228600"/>
          </a:xfrm>
          <a:prstGeom prst="ellipse">
            <a:avLst/>
          </a:prstGeom>
          <a:solidFill>
            <a:schemeClr val="accent3"/>
          </a:solidFill>
          <a:ln w="19050">
            <a:solidFill>
              <a:schemeClr val="accent2"/>
            </a:solidFill>
            <a:prstDash val="solid"/>
          </a:ln>
        </p:spPr>
        <p:txBody>
          <a:bodyPr/>
          <a:p/>
        </p:txBody>
      </p:sp>
      <p:sp>
        <p:nvSpPr>
          <p:cNvPr id="6" name="Text 3"/>
          <p:cNvSpPr txBox="1"/>
          <p:nvPr/>
        </p:nvSpPr>
        <p:spPr>
          <a:xfrm>
            <a:off x="1244600" y="2095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Runs on your own server.</a:t>
            </a:r>
            <a:pPr indent="0" marL="0">
              <a:buNone/>
            </a:pPr>
            <a:r>
              <a:rPr lang="en-US" sz="1500" dirty="0">
                <a:solidFill>
                  <a:schemeClr val="bg2"/>
                </a:solidFill>
              </a:rPr>
              <a:t> Cameras stay on your network.</a:t>
            </a:r>
            <a:endParaRPr lang="en-US" sz="1500" dirty="0"/>
          </a:p>
        </p:txBody>
      </p:sp>
      <p:sp>
        <p:nvSpPr>
          <p:cNvPr id="7" name="privacy-point-1"/>
          <p:cNvSpPr/>
          <p:nvPr/>
        </p:nvSpPr>
        <p:spPr>
          <a:xfrm>
            <a:off x="812800" y="2959100"/>
            <a:ext cx="228600" cy="228600"/>
          </a:xfrm>
          <a:prstGeom prst="ellipse">
            <a:avLst/>
          </a:prstGeom>
          <a:solidFill>
            <a:schemeClr val="accent3"/>
          </a:solidFill>
          <a:ln w="19050">
            <a:solidFill>
              <a:schemeClr val="accent2"/>
            </a:solidFill>
            <a:prstDash val="solid"/>
          </a:ln>
        </p:spPr>
        <p:txBody>
          <a:bodyPr/>
          <a:p/>
        </p:txBody>
      </p:sp>
      <p:sp>
        <p:nvSpPr>
          <p:cNvPr id="8" name="Text 5"/>
          <p:cNvSpPr txBox="1"/>
          <p:nvPr/>
        </p:nvSpPr>
        <p:spPr>
          <a:xfrm>
            <a:off x="1244600" y="2921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One memory per site, on your machine.</a:t>
            </a:r>
            <a:pPr indent="0" marL="0">
              <a:buNone/>
            </a:pPr>
            <a:r>
              <a:rPr lang="en-US" sz="1500" dirty="0">
                <a:solidFill>
                  <a:schemeClr val="bg2"/>
                </a:solidFill>
              </a:rPr>
              <a:t> You set how long it is kept: 30 days by default.</a:t>
            </a:r>
            <a:endParaRPr lang="en-US" sz="1500" dirty="0"/>
          </a:p>
        </p:txBody>
      </p:sp>
      <p:sp>
        <p:nvSpPr>
          <p:cNvPr id="9" name="privacy-point-2"/>
          <p:cNvSpPr/>
          <p:nvPr/>
        </p:nvSpPr>
        <p:spPr>
          <a:xfrm>
            <a:off x="812800" y="3784600"/>
            <a:ext cx="228600" cy="228600"/>
          </a:xfrm>
          <a:prstGeom prst="ellipse">
            <a:avLst/>
          </a:prstGeom>
          <a:solidFill>
            <a:schemeClr val="accent3"/>
          </a:solidFill>
          <a:ln w="19050">
            <a:solidFill>
              <a:schemeClr val="accent2"/>
            </a:solidFill>
            <a:prstDash val="solid"/>
          </a:ln>
        </p:spPr>
        <p:txBody>
          <a:bodyPr/>
          <a:p/>
        </p:txBody>
      </p:sp>
      <p:sp>
        <p:nvSpPr>
          <p:cNvPr id="10" name="Text 7"/>
          <p:cNvSpPr txBox="1"/>
          <p:nvPr/>
        </p:nvSpPr>
        <p:spPr>
          <a:xfrm>
            <a:off x="1244600" y="3746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The language model runs locally by default.</a:t>
            </a:r>
            <a:pPr indent="0" marL="0">
              <a:buNone/>
            </a:pPr>
            <a:r>
              <a:rPr lang="en-US" sz="1500" dirty="0">
                <a:solidFill>
                  <a:schemeClr val="bg2"/>
                </a:solidFill>
              </a:rPr>
              <a:t> Nothing leaves the site.</a:t>
            </a:r>
            <a:endParaRPr lang="en-US" sz="1500" dirty="0"/>
          </a:p>
        </p:txBody>
      </p:sp>
      <p:sp>
        <p:nvSpPr>
          <p:cNvPr id="11" name="privacy-point-3"/>
          <p:cNvSpPr/>
          <p:nvPr/>
        </p:nvSpPr>
        <p:spPr>
          <a:xfrm>
            <a:off x="812800" y="4610100"/>
            <a:ext cx="228600" cy="228600"/>
          </a:xfrm>
          <a:prstGeom prst="ellipse">
            <a:avLst/>
          </a:prstGeom>
          <a:solidFill>
            <a:schemeClr val="accent3"/>
          </a:solidFill>
          <a:ln w="19050">
            <a:solidFill>
              <a:schemeClr val="accent2"/>
            </a:solidFill>
            <a:prstDash val="solid"/>
          </a:ln>
        </p:spPr>
        <p:txBody>
          <a:bodyPr/>
          <a:p/>
        </p:txBody>
      </p:sp>
      <p:sp>
        <p:nvSpPr>
          <p:cNvPr id="12" name="Text 9"/>
          <p:cNvSpPr txBox="1"/>
          <p:nvPr/>
        </p:nvSpPr>
        <p:spPr>
          <a:xfrm>
            <a:off x="1244600" y="4572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Face search, plates and listening are off</a:t>
            </a:r>
            <a:r>
              <a:rPr lang="en-US" sz="1500" dirty="0" b="0">
                <a:solidFill>
                  <a:schemeClr val="bg2"/>
                </a:solidFill>
              </a:rPr>
              <a:t> unless you approve them.</a:t>
            </a:r>
            <a:endParaRPr lang="en-US" sz="1500" dirty="0"/>
          </a:p>
        </p:txBody>
      </p:sp>
      <p:sp>
        <p:nvSpPr>
          <p:cNvPr id="13" name="Text 10"/>
          <p:cNvSpPr txBox="1"/>
          <p:nvPr/>
        </p:nvSpPr>
        <p:spPr>
          <a:xfrm>
            <a:off x="6807200" y="2095500"/>
            <a:ext cx="4572000" cy="2286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YOU CHOOSE THE MODEL</a:t>
            </a:r>
            <a:endParaRPr lang="en-US" sz="1200" dirty="0"/>
          </a:p>
        </p:txBody>
      </p:sp>
      <p:sp>
        <p:nvSpPr>
          <p:cNvPr id="14" name="Local · default"/>
          <p:cNvSpPr/>
          <p:nvPr/>
        </p:nvSpPr>
        <p:spPr>
          <a:xfrm>
            <a:off x="6807200" y="2425700"/>
            <a:ext cx="4572000" cy="952500"/>
          </a:xfrm>
          <a:prstGeom prst="roundRect">
            <a:avLst>
              <a:gd name="adj" fmla="val 13333"/>
            </a:avLst>
          </a:prstGeom>
          <a:solidFill>
            <a:schemeClr val="accent3"/>
          </a:solidFill>
          <a:ln w="19050">
            <a:solidFill>
              <a:schemeClr val="accent1"/>
            </a:solidFill>
            <a:prstDash val="solid"/>
          </a:ln>
        </p:spPr>
        <p:txBody>
          <a:bodyPr/>
          <a:p/>
        </p:txBody>
      </p:sp>
      <p:sp>
        <p:nvSpPr>
          <p:cNvPr id="15" name="Text 12"/>
          <p:cNvSpPr txBox="1"/>
          <p:nvPr/>
        </p:nvSpPr>
        <p:spPr>
          <a:xfrm>
            <a:off x="7010400" y="25654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 default</a:t>
            </a:r>
            <a:endParaRPr lang="en-US" sz="1600" dirty="0"/>
          </a:p>
        </p:txBody>
      </p:sp>
      <p:sp>
        <p:nvSpPr>
          <p:cNvPr id="16" name="Text 13"/>
          <p:cNvSpPr txBox="1"/>
          <p:nvPr/>
        </p:nvSpPr>
        <p:spPr>
          <a:xfrm>
            <a:off x="7010400" y="2870200"/>
            <a:ext cx="4165600" cy="444500"/>
          </a:xfrm>
          <a:prstGeom prst="rect">
            <a:avLst/>
          </a:prstGeom>
          <a:noFill/>
          <a:ln/>
        </p:spPr>
        <p:txBody>
          <a:bodyPr wrap="square" lIns="0" tIns="0" rIns="0" bIns="0" rtlCol="0" anchor="t"/>
          <a:lstStyle/>
          <a:p>
            <a:pPr indent="0" marL="0">
              <a:buNone/>
            </a:pPr>
            <a:r>
              <a:rPr lang="en-US" sz="1300" dirty="0">
                <a:solidFill>
                  <a:srgbClr val="C7D3EA"/>
                </a:solidFill>
              </a:rPr>
              <a:t>Runs on the server's CPU. Nothing leaves the site.</a:t>
            </a:r>
            <a:endParaRPr lang="en-US" sz="1300" dirty="0"/>
          </a:p>
        </p:txBody>
      </p:sp>
      <p:sp>
        <p:nvSpPr>
          <p:cNvPr id="17" name="Local, larger"/>
          <p:cNvSpPr/>
          <p:nvPr/>
        </p:nvSpPr>
        <p:spPr>
          <a:xfrm>
            <a:off x="6807200" y="34798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18" name="Text 15"/>
          <p:cNvSpPr txBox="1"/>
          <p:nvPr/>
        </p:nvSpPr>
        <p:spPr>
          <a:xfrm>
            <a:off x="7010400" y="36195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larger</a:t>
            </a:r>
            <a:endParaRPr lang="en-US" sz="1600" dirty="0"/>
          </a:p>
        </p:txBody>
      </p:sp>
      <p:sp>
        <p:nvSpPr>
          <p:cNvPr id="19" name="Text 16"/>
          <p:cNvSpPr txBox="1"/>
          <p:nvPr/>
        </p:nvSpPr>
        <p:spPr>
          <a:xfrm>
            <a:off x="7010400" y="3924300"/>
            <a:ext cx="4165600" cy="444500"/>
          </a:xfrm>
          <a:prstGeom prst="rect">
            <a:avLst/>
          </a:prstGeom>
          <a:noFill/>
          <a:ln/>
        </p:spPr>
        <p:txBody>
          <a:bodyPr wrap="square" lIns="0" tIns="0" rIns="0" bIns="0" rtlCol="0" anchor="t"/>
          <a:lstStyle/>
          <a:p>
            <a:pPr indent="0" marL="0">
              <a:buNone/>
            </a:pPr>
            <a:r>
              <a:rPr lang="en-US" sz="1300" dirty="0">
                <a:solidFill>
                  <a:schemeClr val="bg2"/>
                </a:solidFill>
              </a:rPr>
              <a:t>Better answers with about 20 GB of RAM or a GPU. Still on site.</a:t>
            </a:r>
            <a:endParaRPr lang="en-US" sz="1300" dirty="0"/>
          </a:p>
        </p:txBody>
      </p:sp>
      <p:sp>
        <p:nvSpPr>
          <p:cNvPr id="20" name="Cloud · only if you opt in"/>
          <p:cNvSpPr/>
          <p:nvPr/>
        </p:nvSpPr>
        <p:spPr>
          <a:xfrm>
            <a:off x="6807200" y="45339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21" name="Text 18"/>
          <p:cNvSpPr txBox="1"/>
          <p:nvPr/>
        </p:nvSpPr>
        <p:spPr>
          <a:xfrm>
            <a:off x="7010400" y="46736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Cloud · only if you opt in</a:t>
            </a:r>
            <a:endParaRPr lang="en-US" sz="1600" dirty="0"/>
          </a:p>
        </p:txBody>
      </p:sp>
      <p:sp>
        <p:nvSpPr>
          <p:cNvPr id="22" name="Text 19"/>
          <p:cNvSpPr txBox="1"/>
          <p:nvPr/>
        </p:nvSpPr>
        <p:spPr>
          <a:xfrm>
            <a:off x="7010400" y="4978400"/>
            <a:ext cx="4165600" cy="444500"/>
          </a:xfrm>
          <a:prstGeom prst="rect">
            <a:avLst/>
          </a:prstGeom>
          <a:noFill/>
          <a:ln/>
        </p:spPr>
        <p:txBody>
          <a:bodyPr wrap="square" lIns="0" tIns="0" rIns="0" bIns="0" rtlCol="0" anchor="t"/>
          <a:lstStyle/>
          <a:p>
            <a:pPr indent="0" marL="0">
              <a:buNone/>
            </a:pPr>
            <a:r>
              <a:rPr lang="en-US" sz="1300" dirty="0">
                <a:solidFill>
                  <a:schemeClr val="bg2"/>
                </a:solidFill>
              </a:rPr>
              <a:t>Sends the question and text search results. Never images or video.</a:t>
            </a:r>
            <a:endParaRPr lang="en-US" sz="13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ON SITE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One server. No GPU required.</a:t>
            </a:r>
            <a:endParaRPr lang="en-US" sz="3600" dirty="0"/>
          </a:p>
        </p:txBody>
      </p:sp>
      <p:sp>
        <p:nvSpPr>
          <p:cNvPr id="5" name="cameras"/>
          <p:cNvSpPr/>
          <p:nvPr/>
        </p:nvSpPr>
        <p:spPr>
          <a:xfrm>
            <a:off x="812800" y="2286000"/>
            <a:ext cx="2032000" cy="1905000"/>
          </a:xfrm>
          <a:prstGeom prst="roundRect">
            <a:avLst>
              <a:gd name="adj" fmla="val 6667"/>
            </a:avLst>
          </a:prstGeom>
          <a:solidFill>
            <a:schemeClr val="accent4"/>
          </a:solidFill>
          <a:ln w="9525">
            <a:solidFill>
              <a:schemeClr val="accent5"/>
            </a:solidFill>
            <a:prstDash val="solid"/>
          </a:ln>
        </p:spPr>
        <p:txBody>
          <a:bodyPr/>
          <a:p/>
        </p:txBody>
      </p:sp>
      <p:sp>
        <p:nvSpPr>
          <p:cNvPr id="6" name="Text 3"/>
          <p:cNvSpPr txBox="1"/>
          <p:nvPr/>
        </p:nvSpPr>
        <p:spPr>
          <a:xfrm>
            <a:off x="1016000" y="2489200"/>
            <a:ext cx="1625600" cy="304800"/>
          </a:xfrm>
          <a:prstGeom prst="rect">
            <a:avLst/>
          </a:prstGeom>
          <a:noFill/>
          <a:ln/>
        </p:spPr>
        <p:txBody>
          <a:bodyPr wrap="square" lIns="0" tIns="0" rIns="0" bIns="0" rtlCol="0" anchor="t"/>
          <a:lstStyle/>
          <a:p>
            <a:pPr indent="0" marL="0">
              <a:buNone/>
            </a:pPr>
            <a:r>
              <a:rPr lang="en-US" sz="1600" b="1" dirty="0">
                <a:solidFill>
                  <a:schemeClr val="bg1"/>
                </a:solidFill>
              </a:rPr>
              <a:t>IP cameras</a:t>
            </a:r>
            <a:endParaRPr lang="en-US" sz="1600" dirty="0"/>
          </a:p>
        </p:txBody>
      </p:sp>
      <p:sp>
        <p:nvSpPr>
          <p:cNvPr id="7" name="Text 4"/>
          <p:cNvSpPr txBox="1"/>
          <p:nvPr/>
        </p:nvSpPr>
        <p:spPr>
          <a:xfrm>
            <a:off x="1016000" y="2857500"/>
            <a:ext cx="1625600" cy="1206500"/>
          </a:xfrm>
          <a:prstGeom prst="rect">
            <a:avLst/>
          </a:prstGeom>
          <a:noFill/>
          <a:ln/>
        </p:spPr>
        <p:txBody>
          <a:bodyPr wrap="square" lIns="0" tIns="0" rIns="0" bIns="0" rtlCol="0" anchor="t"/>
          <a:lstStyle/>
          <a:p>
            <a:pPr indent="0" marL="0">
              <a:buNone/>
            </a:pPr>
            <a:r>
              <a:rPr lang="en-US" sz="1200" dirty="0">
                <a:solidFill>
                  <a:schemeClr val="bg2"/>
                </a:solidFill>
              </a:rPr>
              <a:t>Light stream for analysis. Full-quality stream recorded untouched.</a:t>
            </a:r>
            <a:endParaRPr lang="en-US" sz="1200" dirty="0"/>
          </a:p>
        </p:txBody>
      </p:sp>
      <p:sp>
        <p:nvSpPr>
          <p:cNvPr id="8" name="site-server"/>
          <p:cNvSpPr/>
          <p:nvPr/>
        </p:nvSpPr>
        <p:spPr>
          <a:xfrm>
            <a:off x="3302000" y="2032000"/>
            <a:ext cx="5842000" cy="2413000"/>
          </a:xfrm>
          <a:prstGeom prst="roundRect">
            <a:avLst>
              <a:gd name="adj" fmla="val 5263"/>
            </a:avLst>
          </a:prstGeom>
          <a:solidFill>
            <a:schemeClr val="accent3"/>
          </a:solidFill>
          <a:ln w="19050">
            <a:solidFill>
              <a:schemeClr val="accent1"/>
            </a:solidFill>
            <a:prstDash val="solid"/>
          </a:ln>
        </p:spPr>
        <p:txBody>
          <a:bodyPr/>
          <a:p/>
        </p:txBody>
      </p:sp>
      <p:sp>
        <p:nvSpPr>
          <p:cNvPr id="9" name="Text 6"/>
          <p:cNvSpPr txBox="1"/>
          <p:nvPr/>
        </p:nvSpPr>
        <p:spPr>
          <a:xfrm>
            <a:off x="3505200" y="2209800"/>
            <a:ext cx="3810000" cy="2286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SITE SERVER</a:t>
            </a:r>
            <a:endParaRPr lang="en-US" sz="1200" dirty="0"/>
          </a:p>
        </p:txBody>
      </p:sp>
      <p:sp>
        <p:nvSpPr>
          <p:cNvPr id="10" name="chip-0"/>
          <p:cNvSpPr/>
          <p:nvPr/>
        </p:nvSpPr>
        <p:spPr>
          <a:xfrm>
            <a:off x="3505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1" name="Text 8"/>
          <p:cNvSpPr txBox="1"/>
          <p:nvPr/>
        </p:nvSpPr>
        <p:spPr>
          <a:xfrm>
            <a:off x="3632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Detect and track</a:t>
            </a:r>
            <a:endParaRPr lang="en-US" sz="1300" dirty="0"/>
          </a:p>
        </p:txBody>
      </p:sp>
      <p:sp>
        <p:nvSpPr>
          <p:cNvPr id="12" name="chip-arrow-0"/>
          <p:cNvSpPr/>
          <p:nvPr/>
        </p:nvSpPr>
        <p:spPr>
          <a:xfrm>
            <a:off x="5118100" y="2921000"/>
            <a:ext cx="203200" cy="0"/>
          </a:xfrm>
          <a:prstGeom prst="line">
            <a:avLst/>
          </a:prstGeom>
          <a:noFill/>
          <a:ln w="25400">
            <a:solidFill>
              <a:schemeClr val="accent2"/>
            </a:solidFill>
            <a:prstDash val="solid"/>
            <a:tailEnd type="triangle"/>
          </a:ln>
        </p:spPr>
        <p:txBody>
          <a:bodyPr/>
          <a:p/>
        </p:txBody>
      </p:sp>
      <p:sp>
        <p:nvSpPr>
          <p:cNvPr id="13" name="chip-1"/>
          <p:cNvSpPr/>
          <p:nvPr/>
        </p:nvSpPr>
        <p:spPr>
          <a:xfrm>
            <a:off x="53467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4" name="Text 11"/>
          <p:cNvSpPr txBox="1"/>
          <p:nvPr/>
        </p:nvSpPr>
        <p:spPr>
          <a:xfrm>
            <a:off x="54737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Describe each sighting</a:t>
            </a:r>
            <a:endParaRPr lang="en-US" sz="1300" dirty="0"/>
          </a:p>
        </p:txBody>
      </p:sp>
      <p:sp>
        <p:nvSpPr>
          <p:cNvPr id="15" name="chip-arrow-1"/>
          <p:cNvSpPr/>
          <p:nvPr/>
        </p:nvSpPr>
        <p:spPr>
          <a:xfrm>
            <a:off x="6959600" y="2921000"/>
            <a:ext cx="203200" cy="0"/>
          </a:xfrm>
          <a:prstGeom prst="line">
            <a:avLst/>
          </a:prstGeom>
          <a:noFill/>
          <a:ln w="25400">
            <a:solidFill>
              <a:schemeClr val="accent2"/>
            </a:solidFill>
            <a:prstDash val="solid"/>
            <a:tailEnd type="triangle"/>
          </a:ln>
        </p:spPr>
        <p:txBody>
          <a:bodyPr/>
          <a:p/>
        </p:txBody>
      </p:sp>
      <p:sp>
        <p:nvSpPr>
          <p:cNvPr id="16" name="chip-2"/>
          <p:cNvSpPr/>
          <p:nvPr/>
        </p:nvSpPr>
        <p:spPr>
          <a:xfrm>
            <a:off x="7188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7" name="Text 14"/>
          <p:cNvSpPr txBox="1"/>
          <p:nvPr/>
        </p:nvSpPr>
        <p:spPr>
          <a:xfrm>
            <a:off x="7315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Memory store</a:t>
            </a:r>
            <a:endParaRPr lang="en-US" sz="1300" dirty="0"/>
          </a:p>
        </p:txBody>
      </p:sp>
      <p:sp>
        <p:nvSpPr>
          <p:cNvPr id="18" name="chip-llm"/>
          <p:cNvSpPr/>
          <p:nvPr/>
        </p:nvSpPr>
        <p:spPr>
          <a:xfrm>
            <a:off x="3505200" y="3479800"/>
            <a:ext cx="5435600" cy="762000"/>
          </a:xfrm>
          <a:prstGeom prst="roundRect">
            <a:avLst>
              <a:gd name="adj" fmla="val 10000"/>
            </a:avLst>
          </a:prstGeom>
          <a:solidFill>
            <a:srgbClr val="1B2F6E"/>
          </a:solidFill>
          <a:ln w="12700">
            <a:solidFill>
              <a:srgbClr val="1B2F6E"/>
            </a:solidFill>
            <a:prstDash val="solid"/>
          </a:ln>
        </p:spPr>
        <p:txBody>
          <a:bodyPr/>
          <a:p/>
        </p:txBody>
      </p:sp>
      <p:sp>
        <p:nvSpPr>
          <p:cNvPr id="19" name="Text 16"/>
          <p:cNvSpPr txBox="1"/>
          <p:nvPr/>
        </p:nvSpPr>
        <p:spPr>
          <a:xfrm>
            <a:off x="3632200" y="3479800"/>
            <a:ext cx="5181600" cy="762000"/>
          </a:xfrm>
          <a:prstGeom prst="rect">
            <a:avLst/>
          </a:prstGeom>
          <a:noFill/>
          <a:ln/>
        </p:spPr>
        <p:txBody>
          <a:bodyPr wrap="square" lIns="0" tIns="0" rIns="0" bIns="0" rtlCol="0" anchor="ctr"/>
          <a:lstStyle/>
          <a:p>
            <a:pPr indent="0" marL="0">
              <a:buNone/>
            </a:pPr>
            <a:r>
              <a:rPr lang="en-US" sz="1300" dirty="0">
                <a:solidFill>
                  <a:schemeClr val="bg1"/>
                </a:solidFill>
              </a:rPr>
              <a:t>Local language model: turns questions into lookups and writes the answer</a:t>
            </a:r>
            <a:endParaRPr lang="en-US" sz="1300" dirty="0"/>
          </a:p>
        </p:txBody>
      </p:sp>
      <p:sp>
        <p:nvSpPr>
          <p:cNvPr id="20" name="team"/>
          <p:cNvSpPr/>
          <p:nvPr/>
        </p:nvSpPr>
        <p:spPr>
          <a:xfrm>
            <a:off x="9601200" y="2286000"/>
            <a:ext cx="1778000" cy="1905000"/>
          </a:xfrm>
          <a:prstGeom prst="roundRect">
            <a:avLst>
              <a:gd name="adj" fmla="val 7143"/>
            </a:avLst>
          </a:prstGeom>
          <a:solidFill>
            <a:schemeClr val="accent4"/>
          </a:solidFill>
          <a:ln w="9525">
            <a:solidFill>
              <a:schemeClr val="accent5"/>
            </a:solidFill>
            <a:prstDash val="solid"/>
          </a:ln>
        </p:spPr>
        <p:txBody>
          <a:bodyPr/>
          <a:p/>
        </p:txBody>
      </p:sp>
      <p:sp>
        <p:nvSpPr>
          <p:cNvPr id="21" name="Text 18"/>
          <p:cNvSpPr txBox="1"/>
          <p:nvPr/>
        </p:nvSpPr>
        <p:spPr>
          <a:xfrm>
            <a:off x="9804400" y="2489200"/>
            <a:ext cx="1371600" cy="304800"/>
          </a:xfrm>
          <a:prstGeom prst="rect">
            <a:avLst/>
          </a:prstGeom>
          <a:noFill/>
          <a:ln/>
        </p:spPr>
        <p:txBody>
          <a:bodyPr wrap="square" lIns="0" tIns="0" rIns="0" bIns="0" rtlCol="0" anchor="t"/>
          <a:lstStyle/>
          <a:p>
            <a:pPr indent="0" marL="0">
              <a:buNone/>
            </a:pPr>
            <a:r>
              <a:rPr lang="en-US" sz="1600" b="1" dirty="0">
                <a:solidFill>
                  <a:schemeClr val="bg1"/>
                </a:solidFill>
              </a:rPr>
              <a:t>Your team</a:t>
            </a:r>
            <a:endParaRPr lang="en-US" sz="1600" dirty="0"/>
          </a:p>
        </p:txBody>
      </p:sp>
      <p:sp>
        <p:nvSpPr>
          <p:cNvPr id="22" name="Text 19"/>
          <p:cNvSpPr txBox="1"/>
          <p:nvPr/>
        </p:nvSpPr>
        <p:spPr>
          <a:xfrm>
            <a:off x="9804400" y="2857500"/>
            <a:ext cx="1371600" cy="1206500"/>
          </a:xfrm>
          <a:prstGeom prst="rect">
            <a:avLst/>
          </a:prstGeom>
          <a:noFill/>
          <a:ln/>
        </p:spPr>
        <p:txBody>
          <a:bodyPr wrap="square" lIns="0" tIns="0" rIns="0" bIns="0" rtlCol="0" anchor="t"/>
          <a:lstStyle/>
          <a:p>
            <a:pPr indent="0" marL="0">
              <a:buNone/>
            </a:pPr>
            <a:r>
              <a:rPr lang="en-US" sz="1200" dirty="0">
                <a:solidFill>
                  <a:schemeClr val="bg2"/>
                </a:solidFill>
              </a:rPr>
              <a:t>Asks in chat, sees the evidence.</a:t>
            </a:r>
            <a:endParaRPr lang="en-US" sz="1200" dirty="0"/>
          </a:p>
        </p:txBody>
      </p:sp>
      <p:sp>
        <p:nvSpPr>
          <p:cNvPr id="23" name="arrow-in"/>
          <p:cNvSpPr/>
          <p:nvPr/>
        </p:nvSpPr>
        <p:spPr>
          <a:xfrm>
            <a:off x="2895600" y="3238500"/>
            <a:ext cx="355600" cy="0"/>
          </a:xfrm>
          <a:prstGeom prst="line">
            <a:avLst/>
          </a:prstGeom>
          <a:noFill/>
          <a:ln w="38100">
            <a:solidFill>
              <a:schemeClr val="accent1"/>
            </a:solidFill>
            <a:prstDash val="solid"/>
            <a:tailEnd type="triangle"/>
          </a:ln>
        </p:spPr>
        <p:txBody>
          <a:bodyPr/>
          <a:p/>
        </p:txBody>
      </p:sp>
      <p:sp>
        <p:nvSpPr>
          <p:cNvPr id="24" name="arrow-out"/>
          <p:cNvSpPr/>
          <p:nvPr/>
        </p:nvSpPr>
        <p:spPr>
          <a:xfrm>
            <a:off x="9194800" y="3238500"/>
            <a:ext cx="355600" cy="0"/>
          </a:xfrm>
          <a:prstGeom prst="line">
            <a:avLst/>
          </a:prstGeom>
          <a:noFill/>
          <a:ln w="38100">
            <a:solidFill>
              <a:schemeClr val="accent1"/>
            </a:solidFill>
            <a:prstDash val="solid"/>
            <a:headEnd type="triangle"/>
            <a:tailEnd type="triangle"/>
          </a:ln>
        </p:spPr>
        <p:txBody>
          <a:bodyPr/>
          <a:p/>
        </p:txBody>
      </p:sp>
      <p:sp>
        <p:nvSpPr>
          <p:cNvPr id="25" name="stat-rule-0"/>
          <p:cNvSpPr/>
          <p:nvPr/>
        </p:nvSpPr>
        <p:spPr>
          <a:xfrm>
            <a:off x="812800" y="4699000"/>
            <a:ext cx="2489200" cy="0"/>
          </a:xfrm>
          <a:prstGeom prst="line">
            <a:avLst/>
          </a:prstGeom>
          <a:noFill/>
          <a:ln w="19050">
            <a:solidFill>
              <a:schemeClr val="accent1"/>
            </a:solidFill>
            <a:prstDash val="solid"/>
          </a:ln>
        </p:spPr>
        <p:txBody>
          <a:bodyPr/>
          <a:p/>
        </p:txBody>
      </p:sp>
      <p:sp>
        <p:nvSpPr>
          <p:cNvPr id="26" name="Text 23"/>
          <p:cNvSpPr txBox="1"/>
          <p:nvPr/>
        </p:nvSpPr>
        <p:spPr>
          <a:xfrm>
            <a:off x="8128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~30 ms</a:t>
            </a:r>
            <a:endParaRPr lang="en-US" sz="3600" dirty="0"/>
          </a:p>
        </p:txBody>
      </p:sp>
      <p:sp>
        <p:nvSpPr>
          <p:cNvPr id="27" name="Text 24"/>
          <p:cNvSpPr txBox="1"/>
          <p:nvPr/>
        </p:nvSpPr>
        <p:spPr>
          <a:xfrm>
            <a:off x="8128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to describe one object on a laptop CPU</a:t>
            </a:r>
            <a:endParaRPr lang="en-US" sz="1200" dirty="0"/>
          </a:p>
        </p:txBody>
      </p:sp>
      <p:sp>
        <p:nvSpPr>
          <p:cNvPr id="28" name="stat-rule-1"/>
          <p:cNvSpPr/>
          <p:nvPr/>
        </p:nvSpPr>
        <p:spPr>
          <a:xfrm>
            <a:off x="3505200" y="4699000"/>
            <a:ext cx="2489200" cy="0"/>
          </a:xfrm>
          <a:prstGeom prst="line">
            <a:avLst/>
          </a:prstGeom>
          <a:noFill/>
          <a:ln w="19050">
            <a:solidFill>
              <a:schemeClr val="accent1"/>
            </a:solidFill>
            <a:prstDash val="solid"/>
          </a:ln>
        </p:spPr>
        <p:txBody>
          <a:bodyPr/>
          <a:p/>
        </p:txBody>
      </p:sp>
      <p:sp>
        <p:nvSpPr>
          <p:cNvPr id="29" name="Text 26"/>
          <p:cNvSpPr txBox="1"/>
          <p:nvPr/>
        </p:nvSpPr>
        <p:spPr>
          <a:xfrm>
            <a:off x="35052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2 KB</a:t>
            </a:r>
            <a:endParaRPr lang="en-US" sz="3600" dirty="0"/>
          </a:p>
        </p:txBody>
      </p:sp>
      <p:sp>
        <p:nvSpPr>
          <p:cNvPr id="30" name="Text 27"/>
          <p:cNvSpPr txBox="1"/>
          <p:nvPr/>
        </p:nvSpPr>
        <p:spPr>
          <a:xfrm>
            <a:off x="35052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search vector per sighting, plus a small thumbnail</a:t>
            </a:r>
            <a:endParaRPr lang="en-US" sz="1200" dirty="0"/>
          </a:p>
        </p:txBody>
      </p:sp>
      <p:sp>
        <p:nvSpPr>
          <p:cNvPr id="31" name="stat-rule-2"/>
          <p:cNvSpPr/>
          <p:nvPr/>
        </p:nvSpPr>
        <p:spPr>
          <a:xfrm>
            <a:off x="6197600" y="4699000"/>
            <a:ext cx="2489200" cy="0"/>
          </a:xfrm>
          <a:prstGeom prst="line">
            <a:avLst/>
          </a:prstGeom>
          <a:noFill/>
          <a:ln w="19050">
            <a:solidFill>
              <a:schemeClr val="accent1"/>
            </a:solidFill>
            <a:prstDash val="solid"/>
          </a:ln>
        </p:spPr>
        <p:txBody>
          <a:bodyPr/>
          <a:p/>
        </p:txBody>
      </p:sp>
      <p:sp>
        <p:nvSpPr>
          <p:cNvPr id="32" name="Text 29"/>
          <p:cNvSpPr txBox="1"/>
          <p:nvPr/>
        </p:nvSpPr>
        <p:spPr>
          <a:xfrm>
            <a:off x="61976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80</a:t>
            </a:r>
            <a:endParaRPr lang="en-US" sz="3600" dirty="0"/>
          </a:p>
        </p:txBody>
      </p:sp>
      <p:sp>
        <p:nvSpPr>
          <p:cNvPr id="33" name="Text 30"/>
          <p:cNvSpPr txBox="1"/>
          <p:nvPr/>
        </p:nvSpPr>
        <p:spPr>
          <a:xfrm>
            <a:off x="61976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object types, plus the whole scene every few seconds</a:t>
            </a:r>
            <a:endParaRPr lang="en-US" sz="1200" dirty="0"/>
          </a:p>
        </p:txBody>
      </p:sp>
      <p:sp>
        <p:nvSpPr>
          <p:cNvPr id="34" name="stat-rule-3"/>
          <p:cNvSpPr/>
          <p:nvPr/>
        </p:nvSpPr>
        <p:spPr>
          <a:xfrm>
            <a:off x="8890000" y="4699000"/>
            <a:ext cx="2489200" cy="0"/>
          </a:xfrm>
          <a:prstGeom prst="line">
            <a:avLst/>
          </a:prstGeom>
          <a:noFill/>
          <a:ln w="19050">
            <a:solidFill>
              <a:schemeClr val="accent1"/>
            </a:solidFill>
            <a:prstDash val="solid"/>
          </a:ln>
        </p:spPr>
        <p:txBody>
          <a:bodyPr/>
          <a:p/>
        </p:txBody>
      </p:sp>
      <p:sp>
        <p:nvSpPr>
          <p:cNvPr id="35" name="Text 32"/>
          <p:cNvSpPr txBox="1"/>
          <p:nvPr/>
        </p:nvSpPr>
        <p:spPr>
          <a:xfrm>
            <a:off x="88900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0</a:t>
            </a:r>
            <a:endParaRPr lang="en-US" sz="3600" dirty="0"/>
          </a:p>
        </p:txBody>
      </p:sp>
      <p:sp>
        <p:nvSpPr>
          <p:cNvPr id="36" name="Text 33"/>
          <p:cNvSpPr txBox="1"/>
          <p:nvPr/>
        </p:nvSpPr>
        <p:spPr>
          <a:xfrm>
            <a:off x="88900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frames of video sent off site</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IT FITS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Any site with cameras and questions.</a:t>
            </a:r>
            <a:endParaRPr lang="en-US" sz="3600" dirty="0"/>
          </a:p>
        </p:txBody>
      </p:sp>
      <p:sp>
        <p:nvSpPr>
          <p:cNvPr id="5" name="Gates and car parks"/>
          <p:cNvSpPr/>
          <p:nvPr/>
        </p:nvSpPr>
        <p:spPr>
          <a:xfrm>
            <a:off x="812800" y="2095500"/>
            <a:ext cx="5181600" cy="1511300"/>
          </a:xfrm>
          <a:prstGeom prst="roundRect">
            <a:avLst>
              <a:gd name="adj" fmla="val 8403"/>
            </a:avLst>
          </a:prstGeom>
          <a:solidFill>
            <a:schemeClr val="accent4"/>
          </a:solidFill>
          <a:ln w="9525">
            <a:solidFill>
              <a:schemeClr val="accent5"/>
            </a:solidFill>
            <a:prstDash val="solid"/>
          </a:ln>
        </p:spPr>
      </p:sp>
      <p:sp>
        <p:nvSpPr>
          <p:cNvPr id="6" name="Text 3"/>
          <p:cNvSpPr txBox="1"/>
          <p:nvPr/>
        </p:nvSpPr>
        <p:spPr>
          <a:xfrm>
            <a:off x="10668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Gates and car parks</a:t>
            </a:r>
            <a:endParaRPr lang="en-US" sz="2000" dirty="0"/>
          </a:p>
        </p:txBody>
      </p:sp>
      <p:sp>
        <p:nvSpPr>
          <p:cNvPr id="7" name="Text 4"/>
          <p:cNvSpPr txBox="1"/>
          <p:nvPr/>
        </p:nvSpPr>
        <p:spPr>
          <a:xfrm>
            <a:off x="10668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"How many trucks came in this morning?"</a:t>
            </a:r>
            <a:endParaRPr lang="en-US" sz="1500" dirty="0"/>
          </a:p>
        </p:txBody>
      </p:sp>
      <p:sp>
        <p:nvSpPr>
          <p:cNvPr id="8" name="Warehouses and yards"/>
          <p:cNvSpPr/>
          <p:nvPr/>
        </p:nvSpPr>
        <p:spPr>
          <a:xfrm>
            <a:off x="6197600" y="2095500"/>
            <a:ext cx="5181600" cy="1511300"/>
          </a:xfrm>
          <a:prstGeom prst="roundRect">
            <a:avLst>
              <a:gd name="adj" fmla="val 8403"/>
            </a:avLst>
          </a:prstGeom>
          <a:solidFill>
            <a:schemeClr val="accent4"/>
          </a:solidFill>
          <a:ln w="9525">
            <a:solidFill>
              <a:schemeClr val="accent5"/>
            </a:solidFill>
            <a:prstDash val="solid"/>
          </a:ln>
        </p:spPr>
      </p:sp>
      <p:sp>
        <p:nvSpPr>
          <p:cNvPr id="9" name="Text 6"/>
          <p:cNvSpPr txBox="1"/>
          <p:nvPr/>
        </p:nvSpPr>
        <p:spPr>
          <a:xfrm>
            <a:off x="64516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Warehouses and yards</a:t>
            </a:r>
            <a:endParaRPr lang="en-US" sz="2000" dirty="0"/>
          </a:p>
        </p:txBody>
      </p:sp>
      <p:sp>
        <p:nvSpPr>
          <p:cNvPr id="10" name="Text 7"/>
          <p:cNvSpPr txBox="1"/>
          <p:nvPr/>
        </p:nvSpPr>
        <p:spPr>
          <a:xfrm>
            <a:off x="64516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anyone at the loading bay camera yesterday evening?"</a:t>
            </a:r>
            <a:endParaRPr lang="en-US" sz="1500" dirty="0"/>
          </a:p>
        </p:txBody>
      </p:sp>
      <p:sp>
        <p:nvSpPr>
          <p:cNvPr id="11" name="Campuses and public spaces"/>
          <p:cNvSpPr/>
          <p:nvPr/>
        </p:nvSpPr>
        <p:spPr>
          <a:xfrm>
            <a:off x="812800" y="3810000"/>
            <a:ext cx="5181600" cy="1511300"/>
          </a:xfrm>
          <a:prstGeom prst="roundRect">
            <a:avLst>
              <a:gd name="adj" fmla="val 8403"/>
            </a:avLst>
          </a:prstGeom>
          <a:solidFill>
            <a:schemeClr val="accent4"/>
          </a:solidFill>
          <a:ln w="9525">
            <a:solidFill>
              <a:schemeClr val="accent5"/>
            </a:solidFill>
            <a:prstDash val="solid"/>
          </a:ln>
        </p:spPr>
      </p:sp>
      <p:sp>
        <p:nvSpPr>
          <p:cNvPr id="12" name="Text 9"/>
          <p:cNvSpPr txBox="1"/>
          <p:nvPr/>
        </p:nvSpPr>
        <p:spPr>
          <a:xfrm>
            <a:off x="10668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Campuses and public spaces</a:t>
            </a:r>
            <a:endParaRPr lang="en-US" sz="2000" dirty="0"/>
          </a:p>
        </p:txBody>
      </p:sp>
      <p:sp>
        <p:nvSpPr>
          <p:cNvPr id="13" name="Text 10"/>
          <p:cNvSpPr txBox="1"/>
          <p:nvPr/>
        </p:nvSpPr>
        <p:spPr>
          <a:xfrm>
            <a:off x="10668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"When did a bag first appear by the bench?"</a:t>
            </a:r>
            <a:endParaRPr lang="en-US" sz="1500" dirty="0"/>
          </a:p>
        </p:txBody>
      </p:sp>
      <p:sp>
        <p:nvSpPr>
          <p:cNvPr id="14" name="Construction sites"/>
          <p:cNvSpPr/>
          <p:nvPr/>
        </p:nvSpPr>
        <p:spPr>
          <a:xfrm>
            <a:off x="6197600" y="3810000"/>
            <a:ext cx="5181600" cy="1511300"/>
          </a:xfrm>
          <a:prstGeom prst="roundRect">
            <a:avLst>
              <a:gd name="adj" fmla="val 8403"/>
            </a:avLst>
          </a:prstGeom>
          <a:solidFill>
            <a:schemeClr val="accent4"/>
          </a:solidFill>
          <a:ln w="9525">
            <a:solidFill>
              <a:schemeClr val="accent5"/>
            </a:solidFill>
            <a:prstDash val="solid"/>
          </a:ln>
        </p:spPr>
      </p:sp>
      <p:sp>
        <p:nvSpPr>
          <p:cNvPr id="15" name="Text 12"/>
          <p:cNvSpPr txBox="1"/>
          <p:nvPr/>
        </p:nvSpPr>
        <p:spPr>
          <a:xfrm>
            <a:off x="64516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Construction sites</a:t>
            </a:r>
            <a:endParaRPr lang="en-US" sz="2000" dirty="0"/>
          </a:p>
        </p:txBody>
      </p:sp>
      <p:sp>
        <p:nvSpPr>
          <p:cNvPr id="16" name="Text 13"/>
          <p:cNvSpPr txBox="1"/>
          <p:nvPr/>
        </p:nvSpPr>
        <p:spPr>
          <a:xfrm>
            <a:off x="64516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there a white van at the gate yesterday evening?"</a:t>
            </a:r>
            <a:endParaRPr lang="en-US" sz="15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HISTOR IS TODAY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Working now, and what comes next.</a:t>
            </a:r>
            <a:endParaRPr lang="en-US" sz="3600" dirty="0"/>
          </a:p>
        </p:txBody>
      </p:sp>
      <p:sp>
        <p:nvSpPr>
          <p:cNvPr id="5" name="Working now"/>
          <p:cNvSpPr/>
          <p:nvPr/>
        </p:nvSpPr>
        <p:spPr>
          <a:xfrm>
            <a:off x="812800" y="2095500"/>
            <a:ext cx="5181600" cy="3429000"/>
          </a:xfrm>
          <a:prstGeom prst="roundRect">
            <a:avLst>
              <a:gd name="adj" fmla="val 3704"/>
            </a:avLst>
          </a:prstGeom>
          <a:solidFill>
            <a:schemeClr val="accent3"/>
          </a:solidFill>
          <a:ln w="19050">
            <a:solidFill>
              <a:schemeClr val="accent1"/>
            </a:solidFill>
            <a:prstDash val="solid"/>
          </a:ln>
        </p:spPr>
        <p:txBody>
          <a:bodyPr/>
          <a:p/>
        </p:txBody>
      </p:sp>
      <p:sp>
        <p:nvSpPr>
          <p:cNvPr id="6" name="Text 3"/>
          <p:cNvSpPr txBox="1"/>
          <p:nvPr/>
        </p:nvSpPr>
        <p:spPr>
          <a:xfrm>
            <a:off x="10922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Working now</a:t>
            </a:r>
            <a:endParaRPr lang="en-US" sz="2000" dirty="0"/>
          </a:p>
        </p:txBody>
      </p:sp>
      <p:sp>
        <p:nvSpPr>
          <p:cNvPr id="7" name="Text 4"/>
          <p:cNvSpPr txBox="1"/>
          <p:nvPr/>
        </p:nvSpPr>
        <p:spPr>
          <a:xfrm>
            <a:off x="10922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C7D3EA"/>
                </a:solidFill>
              </a:rPr>
              <a:t>Recording, indexing and plain-language questions</a:t>
            </a:r>
            <a:endParaRPr lang="en-US" sz="1400" dirty="0"/>
          </a:p>
          <a:p>
            <a:pPr marL="228600" indent="-228600">
              <a:spcAft>
                <a:spcPts val="600"/>
              </a:spcAft>
              <a:buSzPct val="100000"/>
              <a:buChar char="•"/>
            </a:pPr>
            <a:r>
              <a:rPr lang="en-US" sz="1400" dirty="0">
                <a:solidFill>
                  <a:srgbClr val="C7D3EA"/>
                </a:solidFill>
              </a:rPr>
              <a:t>Chat, local or cloud, with evidence frames</a:t>
            </a:r>
            <a:endParaRPr lang="en-US" sz="1400" dirty="0"/>
          </a:p>
          <a:p>
            <a:pPr marL="228600" indent="-228600">
              <a:spcAft>
                <a:spcPts val="600"/>
              </a:spcAft>
              <a:buSzPct val="100000"/>
              <a:buChar char="•"/>
            </a:pPr>
            <a:r>
              <a:rPr lang="en-US" sz="1400" dirty="0">
                <a:solidFill>
                  <a:srgbClr val="C7D3EA"/>
                </a:solidFill>
              </a:rPr>
              <a:t>Alerts: areas, lines, crowds, bags, camera health</a:t>
            </a:r>
            <a:endParaRPr lang="en-US" sz="1400" dirty="0"/>
          </a:p>
          <a:p>
            <a:pPr marL="228600" indent="-228600">
              <a:spcAft>
                <a:spcPts val="600"/>
              </a:spcAft>
              <a:buSzPct val="100000"/>
              <a:buChar char="•"/>
            </a:pPr>
            <a:r>
              <a:rPr lang="en-US" sz="1400" dirty="0">
                <a:solidFill>
                  <a:srgbClr val="C7D3EA"/>
                </a:solidFill>
              </a:rPr>
              <a:t>Alerts checked by a local vision model</a:t>
            </a:r>
            <a:endParaRPr lang="en-US" sz="1400" dirty="0"/>
          </a:p>
          <a:p>
            <a:pPr marL="228600" indent="-228600">
              <a:spcAft>
                <a:spcPts val="600"/>
              </a:spcAft>
              <a:buSzPct val="100000"/>
              <a:buChar char="•"/>
            </a:pPr>
            <a:r>
              <a:rPr lang="en-US" sz="1400" dirty="0">
                <a:solidFill>
                  <a:srgbClr val="C7D3EA"/>
                </a:solidFill>
              </a:rPr>
              <a:t>Dashboard with live alerts, and Telegram</a:t>
            </a:r>
            <a:endParaRPr lang="en-US" sz="1400" dirty="0"/>
          </a:p>
          <a:p>
            <a:pPr marL="228600" indent="-228600">
              <a:spcAft>
                <a:spcPts val="600"/>
              </a:spcAft>
              <a:buSzPct val="100000"/>
              <a:buChar char="•"/>
            </a:pPr>
            <a:r>
              <a:rPr lang="en-US" sz="1400" dirty="0">
                <a:solidFill>
                  <a:srgbClr val="C7D3EA"/>
                </a:solidFill>
              </a:rPr>
              <a:t>Person-down alerts; plates and sounds (opt-in)</a:t>
            </a:r>
            <a:endParaRPr lang="en-US" sz="1400" dirty="0"/>
          </a:p>
        </p:txBody>
      </p:sp>
      <p:sp>
        <p:nvSpPr>
          <p:cNvPr id="8" name="Next"/>
          <p:cNvSpPr/>
          <p:nvPr/>
        </p:nvSpPr>
        <p:spPr>
          <a:xfrm>
            <a:off x="6197600" y="2095500"/>
            <a:ext cx="5181600" cy="3429000"/>
          </a:xfrm>
          <a:prstGeom prst="roundRect">
            <a:avLst>
              <a:gd name="adj" fmla="val 3704"/>
            </a:avLst>
          </a:prstGeom>
          <a:solidFill>
            <a:schemeClr val="accent4"/>
          </a:solidFill>
          <a:ln w="9525">
            <a:solidFill>
              <a:schemeClr val="accent5"/>
            </a:solidFill>
            <a:prstDash val="solid"/>
          </a:ln>
        </p:spPr>
        <p:txBody>
          <a:bodyPr/>
          <a:p/>
        </p:txBody>
      </p:sp>
      <p:sp>
        <p:nvSpPr>
          <p:cNvPr id="9" name="Text 6"/>
          <p:cNvSpPr txBox="1"/>
          <p:nvPr/>
        </p:nvSpPr>
        <p:spPr>
          <a:xfrm>
            <a:off x="64770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Next</a:t>
            </a:r>
            <a:endParaRPr lang="en-US" sz="2000" dirty="0"/>
          </a:p>
        </p:txBody>
      </p:sp>
      <p:sp>
        <p:nvSpPr>
          <p:cNvPr id="10" name="Text 7"/>
          <p:cNvSpPr txBox="1"/>
          <p:nvPr/>
        </p:nvSpPr>
        <p:spPr>
          <a:xfrm>
            <a:off x="64770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bg2"/>
                </a:solidFill>
              </a:rPr>
              <a:t>Our own fire and smoke detector (in training now)</a:t>
            </a:r>
            <a:endParaRPr lang="en-US" sz="1400" dirty="0"/>
          </a:p>
          <a:p>
            <a:pPr marL="228600" indent="-228600">
              <a:spcAft>
                <a:spcPts val="600"/>
              </a:spcAft>
              <a:buSzPct val="100000"/>
              <a:buChar char="•"/>
            </a:pPr>
            <a:r>
              <a:rPr lang="en-US" sz="1400" dirty="0">
                <a:solidFill>
                  <a:schemeClr val="bg2"/>
                </a:solidFill>
              </a:rPr>
              <a:t>Our own plate finder (fully permissive licence)</a:t>
            </a:r>
            <a:endParaRPr lang="en-US" sz="1400" dirty="0"/>
          </a:p>
          <a:p>
            <a:pPr marL="228600" indent="-228600">
              <a:spcAft>
                <a:spcPts val="600"/>
              </a:spcAft>
              <a:buSzPct val="100000"/>
              <a:buChar char="•"/>
            </a:pPr>
            <a:r>
              <a:rPr lang="en-US" sz="1400" dirty="0">
                <a:solidFill>
                  <a:schemeClr val="bg2"/>
                </a:solidFill>
              </a:rPr>
              <a:t>Person-down, plates and sounds checked on a pilot site</a:t>
            </a:r>
            <a:endParaRPr lang="en-US" sz="1400" dirty="0"/>
          </a:p>
          <a:p>
            <a:pPr marL="228600" indent="-228600">
              <a:spcAft>
                <a:spcPts val="600"/>
              </a:spcAft>
              <a:buSzPct val="100000"/>
              <a:buChar char="•"/>
            </a:pPr>
            <a:r>
              <a:rPr lang="en-US" sz="1400" dirty="0">
                <a:solidFill>
                  <a:schemeClr val="bg2"/>
                </a:solidFill>
              </a:rPr>
              <a:t>False alarms per day measured at a pilot site</a:t>
            </a:r>
            <a:endParaRPr lang="en-US" sz="1400" dirty="0"/>
          </a:p>
          <a:p>
            <a:pPr marL="228600" indent="-228600">
              <a:spcAft>
                <a:spcPts val="600"/>
              </a:spcAft>
              <a:buSzPct val="100000"/>
              <a:buChar char="•"/>
            </a:pPr>
            <a:r>
              <a:rPr lang="en-US" sz="1400" dirty="0">
                <a:solidFill>
                  <a:schemeClr val="bg2"/>
                </a:solidFill>
              </a:rPr>
              <a:t>Following one visit across several cameras</a:t>
            </a:r>
            <a:endParaRPr lang="en-US" sz="1400" dirty="0"/>
          </a:p>
          <a:p>
            <a:pPr marL="228600" indent="-228600">
              <a:spcAft>
                <a:spcPts val="600"/>
              </a:spcAft>
              <a:buSzPct val="100000"/>
              <a:buChar char="•"/>
            </a:pPr>
            <a:r>
              <a:rPr lang="en-US" sz="1400" dirty="0">
                <a:solidFill>
                  <a:schemeClr val="bg2"/>
                </a:solidFill>
              </a:rPr>
              <a:t>Mobile push, WhatsApp and SMS alerts</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TRY IT</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See it on</a:t>
            </a:r>
            <a:endParaRPr lang="en-US" sz="6000" dirty="0"/>
          </a:p>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your own footage.</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A short pilot on a few of your cameras, or on a sample of your recorded video: you ask your questions, and then you decide.</a:t>
            </a:r>
            <a:endParaRPr lang="en-US" sz="1800" dirty="0"/>
          </a:p>
        </p:txBody>
      </p:sp>
      <p:sp>
        <p:nvSpPr>
          <p:cNvPr id="6" name="Text 3"/>
          <p:cNvSpPr txBox="1"/>
          <p:nvPr/>
        </p:nvSpPr>
        <p:spPr>
          <a:xfrm>
            <a:off x="812800" y="5080000"/>
            <a:ext cx="7493000" cy="317500"/>
          </a:xfrm>
          <a:prstGeom prst="rect">
            <a:avLst/>
          </a:prstGeom>
          <a:noFill/>
          <a:ln/>
        </p:spPr>
        <p:txBody>
          <a:bodyPr wrap="square" lIns="0" tIns="0" rIns="0" bIns="0" rtlCol="0" anchor="t"/>
          <a:lstStyle/>
          <a:p>
            <a:pPr indent="0" marL="0">
              <a:buNone/>
            </a:pPr>
            <a:r>
              <a:rPr lang="en-US" sz="1600" dirty="0">
                <a:solidFill>
                  <a:schemeClr val="bg1"/>
                </a:solidFill>
              </a:rPr>
              <a:t>www.mobius-tensors.com · +961 3 004 362</a:t>
            </a:r>
            <a:endParaRPr lang="en-US" sz="1600" dirty="0"/>
          </a:p>
        </p:txBody>
      </p:sp>
      <p:pic>
        <p:nvPicPr>
          <p:cNvPr id="7" name="Mobius Tensors logo" descr="Mobius Tensors"/>
          <p:cNvPicPr>
            <a:picLocks noChangeAspect="1"/>
          </p:cNvPicPr>
          <p:nvPr/>
        </p:nvPicPr>
        <p:blipFill>
          <a:blip r:embed="rIdMT"/>
          <a:stretch>
            <a:fillRect/>
          </a:stretch>
        </p:blipFill>
        <p:spPr>
          <a:xfrm>
            <a:off x="9179200" y="5629221"/>
            <a:ext cx="2200000" cy="40677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amera to alert">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WATCHES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From camera to alert in four steps.</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Connect circle"/>
          <p:cNvSpPr/>
          <p:nvPr/>
        </p:nvSpPr>
        <p:spPr>
          <a:xfrm>
            <a:off x="812902" y="2103120"/>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6" name="Connect icon" descr="plug icon"/>
          <p:cNvPicPr>
            <a:picLocks noChangeAspect="1"/>
          </p:cNvPicPr>
          <p:nvPr/>
        </p:nvPicPr>
        <p:blipFill>
          <a:blip r:embed="rId2"/>
          <a:stretch>
            <a:fillRect/>
          </a:stretch>
        </p:blipFill>
        <p:spPr>
          <a:xfrm>
            <a:off x="917509" y="2207727"/>
            <a:ext cx="266273" cy="266273"/>
          </a:xfrm>
          <a:prstGeom prst="rect">
            <a:avLst/>
          </a:prstGeom>
        </p:spPr>
      </p:pic>
      <p:sp>
        <p:nvSpPr>
          <p:cNvPr id="7" name="Heading"/>
          <p:cNvSpPr txBox="1"/>
          <p:nvPr/>
        </p:nvSpPr>
        <p:spPr>
          <a:xfrm>
            <a:off x="1544422" y="2084832"/>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1  Connect</a:t>
            </a:r>
            <a:endParaRPr lang="en-US" sz="1700" dirty="0"/>
          </a:p>
        </p:txBody>
      </p:sp>
      <p:sp>
        <p:nvSpPr>
          <p:cNvPr id="8" name="Body"/>
          <p:cNvSpPr txBox="1"/>
          <p:nvPr/>
        </p:nvSpPr>
        <p:spPr>
          <a:xfrm>
            <a:off x="1544422" y="2395728"/>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We plug into your existing IP cameras: Hikvision, Dahua, Reolink, Uniview, Axis or any RTSP camera.</a:t>
            </a:r>
            <a:endParaRPr lang="en-US" sz="1300" dirty="0"/>
          </a:p>
        </p:txBody>
      </p:sp>
      <p:sp>
        <p:nvSpPr>
          <p:cNvPr id="9" name="Detect circle"/>
          <p:cNvSpPr/>
          <p:nvPr/>
        </p:nvSpPr>
        <p:spPr>
          <a:xfrm>
            <a:off x="812902" y="2990088"/>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0" name="Detect icon" descr="eye icon"/>
          <p:cNvPicPr>
            <a:picLocks noChangeAspect="1"/>
          </p:cNvPicPr>
          <p:nvPr/>
        </p:nvPicPr>
        <p:blipFill>
          <a:blip r:embed="rId3"/>
          <a:stretch>
            <a:fillRect/>
          </a:stretch>
        </p:blipFill>
        <p:spPr>
          <a:xfrm>
            <a:off x="917509" y="3094695"/>
            <a:ext cx="266273" cy="266273"/>
          </a:xfrm>
          <a:prstGeom prst="rect">
            <a:avLst/>
          </a:prstGeom>
        </p:spPr>
      </p:pic>
      <p:sp>
        <p:nvSpPr>
          <p:cNvPr id="11" name="Heading"/>
          <p:cNvSpPr txBox="1"/>
          <p:nvPr/>
        </p:nvSpPr>
        <p:spPr>
          <a:xfrm>
            <a:off x="1544422" y="2971800"/>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2  Detect</a:t>
            </a:r>
            <a:endParaRPr lang="en-US" sz="1700" dirty="0"/>
          </a:p>
        </p:txBody>
      </p:sp>
      <p:sp>
        <p:nvSpPr>
          <p:cNvPr id="12" name="Body"/>
          <p:cNvSpPr txBox="1"/>
          <p:nvPr/>
        </p:nvSpPr>
        <p:spPr>
          <a:xfrm>
            <a:off x="1544422" y="3282696"/>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AI spots people, vehicles, bags and plates in real time, and follows each one across the frame.</a:t>
            </a:r>
            <a:endParaRPr lang="en-US" sz="1300" dirty="0"/>
          </a:p>
        </p:txBody>
      </p:sp>
      <p:sp>
        <p:nvSpPr>
          <p:cNvPr id="13" name="Decide circle"/>
          <p:cNvSpPr/>
          <p:nvPr/>
        </p:nvSpPr>
        <p:spPr>
          <a:xfrm>
            <a:off x="812902" y="3877056"/>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4" name="Decide icon" descr="gear icon"/>
          <p:cNvPicPr>
            <a:picLocks noChangeAspect="1"/>
          </p:cNvPicPr>
          <p:nvPr/>
        </p:nvPicPr>
        <p:blipFill>
          <a:blip r:embed="rId4"/>
          <a:stretch>
            <a:fillRect/>
          </a:stretch>
        </p:blipFill>
        <p:spPr>
          <a:xfrm>
            <a:off x="917509" y="3981663"/>
            <a:ext cx="266273" cy="266273"/>
          </a:xfrm>
          <a:prstGeom prst="rect">
            <a:avLst/>
          </a:prstGeom>
        </p:spPr>
      </p:pic>
      <p:sp>
        <p:nvSpPr>
          <p:cNvPr id="15" name="Heading"/>
          <p:cNvSpPr txBox="1"/>
          <p:nvPr/>
        </p:nvSpPr>
        <p:spPr>
          <a:xfrm>
            <a:off x="1544422" y="3858768"/>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3  Decide</a:t>
            </a:r>
            <a:endParaRPr lang="en-US" sz="1700" dirty="0"/>
          </a:p>
        </p:txBody>
      </p:sp>
      <p:sp>
        <p:nvSpPr>
          <p:cNvPr id="16" name="Body"/>
          <p:cNvSpPr txBox="1"/>
          <p:nvPr/>
        </p:nvSpPr>
        <p:spPr>
          <a:xfrm>
            <a:off x="1544422" y="4169664"/>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Your rules: which area, which hours, how long someone may stay before it counts.</a:t>
            </a:r>
            <a:endParaRPr lang="en-US" sz="1300" dirty="0"/>
          </a:p>
        </p:txBody>
      </p:sp>
      <p:sp>
        <p:nvSpPr>
          <p:cNvPr id="17" name="Alert circle"/>
          <p:cNvSpPr/>
          <p:nvPr/>
        </p:nvSpPr>
        <p:spPr>
          <a:xfrm>
            <a:off x="812902" y="4764024"/>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8" name="Alert icon" descr="bell icon"/>
          <p:cNvPicPr>
            <a:picLocks noChangeAspect="1"/>
          </p:cNvPicPr>
          <p:nvPr/>
        </p:nvPicPr>
        <p:blipFill>
          <a:blip r:embed="rId5"/>
          <a:stretch>
            <a:fillRect/>
          </a:stretch>
        </p:blipFill>
        <p:spPr>
          <a:xfrm>
            <a:off x="917509" y="4868631"/>
            <a:ext cx="266273" cy="266273"/>
          </a:xfrm>
          <a:prstGeom prst="rect">
            <a:avLst/>
          </a:prstGeom>
        </p:spPr>
      </p:pic>
      <p:sp>
        <p:nvSpPr>
          <p:cNvPr id="19" name="Heading"/>
          <p:cNvSpPr txBox="1"/>
          <p:nvPr/>
        </p:nvSpPr>
        <p:spPr>
          <a:xfrm>
            <a:off x="1544422" y="4745736"/>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4  Alert</a:t>
            </a:r>
            <a:endParaRPr lang="en-US" sz="1700" dirty="0"/>
          </a:p>
        </p:txBody>
      </p:sp>
      <p:sp>
        <p:nvSpPr>
          <p:cNvPr id="20" name="Body"/>
          <p:cNvSpPr txBox="1"/>
          <p:nvPr/>
        </p:nvSpPr>
        <p:spPr>
          <a:xfrm>
            <a:off x="1544422" y="5056632"/>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The event with a snapshot: on the dashboard, by email or Telegram, or in your own security system.</a:t>
            </a:r>
            <a:endParaRPr lang="en-US" sz="1300" dirty="0"/>
          </a:p>
        </p:txBody>
      </p:sp>
      <p:pic>
        <p:nvPicPr>
          <p:cNvPr id="21" name="detection-output" descr="Detector output: two people boxed with confidence scores"/>
          <p:cNvPicPr>
            <a:picLocks noChangeAspect="1"/>
          </p:cNvPicPr>
          <p:nvPr/>
        </p:nvPicPr>
        <p:blipFill>
          <a:blip r:embed="rId6"/>
          <a:stretch>
            <a:fillRect/>
          </a:stretch>
        </p:blipFill>
        <p:spPr>
          <a:xfrm>
            <a:off x="6898234" y="2103120"/>
            <a:ext cx="4480560" cy="3360420"/>
          </a:xfrm>
          <a:prstGeom prst="rect">
            <a:avLst/>
          </a:prstGeom>
        </p:spPr>
      </p:pic>
      <p:sp>
        <p:nvSpPr>
          <p:cNvPr id="22" name="Caption"/>
          <p:cNvSpPr txBox="1"/>
          <p:nvPr/>
        </p:nvSpPr>
        <p:spPr>
          <a:xfrm>
            <a:off x="6898234" y="5554980"/>
            <a:ext cx="4480560" cy="219456"/>
          </a:xfrm>
          <a:prstGeom prst="rect">
            <a:avLst/>
          </a:prstGeom>
          <a:noFill/>
          <a:ln/>
        </p:spPr>
        <p:txBody>
          <a:bodyPr wrap="square" lIns="0" tIns="0" rIns="0" bIns="0" rtlCol="0" anchor="t"/>
          <a:lstStyle/>
          <a:p>
            <a:pPr algn="l" indent="0" marL="0">
              <a:buNone/>
            </a:pPr>
            <a:r>
              <a:rPr lang="en-US" sz="1200" spc="100" kern="0" dirty="0">
                <a:solidFill>
                  <a:srgbClr val="7E8BA6"/>
                </a:solidFill>
                <a:latin typeface="Consolas" pitchFamily="34" charset="0"/>
                <a:ea typeface="Consolas" pitchFamily="34" charset="-122"/>
                <a:cs typeface="Consolas" pitchFamily="34" charset="-120"/>
              </a:rPr>
              <a:t>Real detector output, sample video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Alert checking">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FEWER FALSE ALARMS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 second look before anyone is called.</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Label"/>
          <p:cNvSpPr txBox="1"/>
          <p:nvPr/>
        </p:nvSpPr>
        <p:spPr>
          <a:xfrm>
            <a:off x="812902" y="2103120"/>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6" name="Heading"/>
          <p:cNvSpPr txBox="1"/>
          <p:nvPr/>
        </p:nvSpPr>
        <p:spPr>
          <a:xfrm>
            <a:off x="812902" y="2350008"/>
            <a:ext cx="5120640" cy="292608"/>
          </a:xfrm>
          <a:prstGeom prst="rect">
            <a:avLst/>
          </a:prstGeom>
          <a:noFill/>
          <a:ln/>
        </p:spPr>
        <p:txBody>
          <a:bodyPr wrap="square" lIns="0" tIns="0" rIns="0" bIns="0" rtlCol="0" anchor="t"/>
          <a:lstStyle/>
          <a:p>
            <a:pPr algn="l" indent="0" marL="0">
              <a:buNone/>
            </a:pPr>
            <a:r>
              <a:rPr lang="en-US" sz="1700" b="1" dirty="0">
                <a:solidFill>
                  <a:schemeClr val="bg1"/>
                </a:solidFill>
              </a:rPr>
              <a:t>Stored at once</a:t>
            </a:r>
            <a:endParaRPr lang="en-US" sz="1700" dirty="0"/>
          </a:p>
        </p:txBody>
      </p:sp>
      <p:sp>
        <p:nvSpPr>
          <p:cNvPr id="7" name="Body"/>
          <p:cNvSpPr txBox="1"/>
          <p:nvPr/>
        </p:nvSpPr>
        <p:spPr>
          <a:xfrm>
            <a:off x="812902" y="2660904"/>
            <a:ext cx="5120640" cy="420624"/>
          </a:xfrm>
          <a:prstGeom prst="rect">
            <a:avLst/>
          </a:prstGeom>
          <a:noFill/>
          <a:ln/>
        </p:spPr>
        <p:txBody>
          <a:bodyPr wrap="square" lIns="0" tIns="0" rIns="0" bIns="0" rtlCol="0" anchor="t"/>
          <a:lstStyle/>
          <a:p>
            <a:pPr algn="l" indent="0" marL="0">
              <a:buNone/>
            </a:pPr>
            <a:r>
              <a:rPr lang="en-US" sz="1300" dirty="0">
                <a:solidFill>
                  <a:schemeClr val="bg2"/>
                </a:solidFill>
              </a:rPr>
              <a:t>Every alert is saved with its snapshot the moment the rule fires.</a:t>
            </a:r>
            <a:endParaRPr lang="en-US" sz="1300" dirty="0"/>
          </a:p>
        </p:txBody>
      </p:sp>
      <p:sp>
        <p:nvSpPr>
          <p:cNvPr id="8" name="Label"/>
          <p:cNvSpPr txBox="1"/>
          <p:nvPr/>
        </p:nvSpPr>
        <p:spPr>
          <a:xfrm>
            <a:off x="812902" y="3200400"/>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9" name="Heading"/>
          <p:cNvSpPr txBox="1"/>
          <p:nvPr/>
        </p:nvSpPr>
        <p:spPr>
          <a:xfrm>
            <a:off x="812902" y="3447288"/>
            <a:ext cx="5120640" cy="292608"/>
          </a:xfrm>
          <a:prstGeom prst="rect">
            <a:avLst/>
          </a:prstGeom>
          <a:noFill/>
          <a:ln/>
        </p:spPr>
        <p:txBody>
          <a:bodyPr wrap="square" lIns="0" tIns="0" rIns="0" bIns="0" rtlCol="0" anchor="t"/>
          <a:lstStyle/>
          <a:p>
            <a:pPr algn="l" indent="0" marL="0">
              <a:buNone/>
            </a:pPr>
            <a:r>
              <a:rPr lang="en-US" sz="1700" b="1" dirty="0">
                <a:solidFill>
                  <a:schemeClr val="bg1"/>
                </a:solidFill>
              </a:rPr>
              <a:t>Checked by a vision model</a:t>
            </a:r>
            <a:endParaRPr lang="en-US" sz="1700" dirty="0"/>
          </a:p>
        </p:txBody>
      </p:sp>
      <p:sp>
        <p:nvSpPr>
          <p:cNvPr id="10" name="Body"/>
          <p:cNvSpPr txBox="1"/>
          <p:nvPr/>
        </p:nvSpPr>
        <p:spPr>
          <a:xfrm>
            <a:off x="812902" y="3758184"/>
            <a:ext cx="5120640" cy="420624"/>
          </a:xfrm>
          <a:prstGeom prst="rect">
            <a:avLst/>
          </a:prstGeom>
          <a:noFill/>
          <a:ln/>
        </p:spPr>
        <p:txBody>
          <a:bodyPr wrap="square" lIns="0" tIns="0" rIns="0" bIns="0" rtlCol="0" anchor="t"/>
          <a:lstStyle/>
          <a:p>
            <a:pPr algn="l" indent="0" marL="0">
              <a:buNone/>
            </a:pPr>
            <a:r>
              <a:rPr lang="en-US" sz="1300" dirty="0">
                <a:solidFill>
                  <a:schemeClr val="bg2"/>
                </a:solidFill>
              </a:rPr>
              <a:t>A local model looks at the snapshot and a close-up: a real person, or a shadow, poster or reflection?</a:t>
            </a:r>
            <a:endParaRPr lang="en-US" sz="1300" dirty="0"/>
          </a:p>
        </p:txBody>
      </p:sp>
      <p:sp>
        <p:nvSpPr>
          <p:cNvPr id="11" name="Label"/>
          <p:cNvSpPr txBox="1"/>
          <p:nvPr/>
        </p:nvSpPr>
        <p:spPr>
          <a:xfrm>
            <a:off x="812902" y="4297680"/>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2" name="Heading"/>
          <p:cNvSpPr txBox="1"/>
          <p:nvPr/>
        </p:nvSpPr>
        <p:spPr>
          <a:xfrm>
            <a:off x="812902" y="4544568"/>
            <a:ext cx="5120640" cy="292608"/>
          </a:xfrm>
          <a:prstGeom prst="rect">
            <a:avLst/>
          </a:prstGeom>
          <a:noFill/>
          <a:ln/>
        </p:spPr>
        <p:txBody>
          <a:bodyPr wrap="square" lIns="0" tIns="0" rIns="0" bIns="0" rtlCol="0" anchor="t"/>
          <a:lstStyle/>
          <a:p>
            <a:pPr algn="l" indent="0" marL="0">
              <a:buNone/>
            </a:pPr>
            <a:r>
              <a:rPr lang="en-US" sz="1700" b="1" dirty="0">
                <a:solidFill>
                  <a:schemeClr val="bg1"/>
                </a:solidFill>
              </a:rPr>
              <a:t>Sent, or held back</a:t>
            </a:r>
            <a:endParaRPr lang="en-US" sz="1700" dirty="0"/>
          </a:p>
        </p:txBody>
      </p:sp>
      <p:sp>
        <p:nvSpPr>
          <p:cNvPr id="13" name="Body"/>
          <p:cNvSpPr txBox="1"/>
          <p:nvPr/>
        </p:nvSpPr>
        <p:spPr>
          <a:xfrm>
            <a:off x="812902" y="4855464"/>
            <a:ext cx="5120640" cy="420624"/>
          </a:xfrm>
          <a:prstGeom prst="rect">
            <a:avLst/>
          </a:prstGeom>
          <a:noFill/>
          <a:ln/>
        </p:spPr>
        <p:txBody>
          <a:bodyPr wrap="square" lIns="0" tIns="0" rIns="0" bIns="0" rtlCol="0" anchor="t"/>
          <a:lstStyle/>
          <a:p>
            <a:pPr algn="l" indent="0" marL="0">
              <a:buNone/>
            </a:pPr>
            <a:r>
              <a:rPr lang="en-US" sz="1300" dirty="0">
                <a:solidFill>
                  <a:schemeClr val="bg2"/>
                </a:solidFill>
              </a:rPr>
              <a:t>A clear NO is held back but kept, so nothing is lost. If the check can't run, the alert goes out anyway.</a:t>
            </a:r>
            <a:endParaRPr lang="en-US" sz="1300" dirty="0"/>
          </a:p>
        </p:txBody>
      </p:sp>
      <p:sp>
        <p:nvSpPr>
          <p:cNvPr id="14" name="Body"/>
          <p:cNvSpPr txBox="1"/>
          <p:nvPr/>
        </p:nvSpPr>
        <p:spPr>
          <a:xfrm>
            <a:off x="812902" y="5413248"/>
            <a:ext cx="5120640" cy="457200"/>
          </a:xfrm>
          <a:prstGeom prst="rect">
            <a:avLst/>
          </a:prstGeom>
          <a:noFill/>
          <a:ln/>
        </p:spPr>
        <p:txBody>
          <a:bodyPr wrap="square" lIns="0" tIns="0" rIns="0" bIns="0" rtlCol="0" anchor="t"/>
          <a:lstStyle/>
          <a:p>
            <a:pPr algn="l" indent="0" marL="0">
              <a:buNone/>
            </a:pPr>
            <a:r>
              <a:rPr lang="en-US" sz="1300" b="1" dirty="0">
                <a:solidFill>
                  <a:schemeClr val="bg1"/>
                </a:solidFill>
              </a:rPr>
              <a:t xml:space="preserve">Where it goes: </a:t>
            </a:r>
            <a:r>
              <a:rPr lang="en-US" sz="1300" dirty="0">
                <a:solidFill>
                  <a:schemeClr val="bg2"/>
                </a:solidFill>
              </a:rPr>
              <a:t>the dashboard, Telegram, email, or a webhook into your own system.</a:t>
            </a:r>
            <a:endParaRPr lang="en-US" sz="1300" dirty="0"/>
          </a:p>
        </p:txBody>
      </p:sp>
      <p:pic>
        <p:nvPicPr>
          <p:cNvPr id="15" name="dashboard" descr="Histor dashboard: camera status, alert feed with verdicts, search by description and plate"/>
          <p:cNvPicPr>
            <a:picLocks noChangeAspect="1"/>
          </p:cNvPicPr>
          <p:nvPr/>
        </p:nvPicPr>
        <p:blipFill>
          <a:blip r:embed="rId2"/>
          <a:stretch>
            <a:fillRect/>
          </a:stretch>
        </p:blipFill>
        <p:spPr>
          <a:xfrm>
            <a:off x="6532474" y="2103120"/>
            <a:ext cx="4846320" cy="3426997"/>
          </a:xfrm>
          <a:prstGeom prst="rect">
            <a:avLst/>
          </a:prstGeom>
        </p:spPr>
      </p:pic>
      <p:sp>
        <p:nvSpPr>
          <p:cNvPr id="16" name="dashboard frame"/>
          <p:cNvSpPr/>
          <p:nvPr/>
        </p:nvSpPr>
        <p:spPr>
          <a:xfrm>
            <a:off x="6532474" y="2103120"/>
            <a:ext cx="4846320" cy="3426997"/>
          </a:xfrm>
          <a:prstGeom prst="rect">
            <a:avLst/>
          </a:prstGeom>
          <a:noFill/>
          <a:ln w="9525">
            <a:solidFill>
              <a:schemeClr val="accent5"/>
            </a:solidFill>
            <a:prstDash val="solid"/>
          </a:ln>
        </p:spPr>
        <p:txBody>
          <a:bodyPr/>
          <a:lstStyle/>
          <a:p>
            <a:endParaRPr lang="en-US" dirty="0"/>
          </a:p>
        </p:txBody>
      </p:sp>
      <p:sp>
        <p:nvSpPr>
          <p:cNvPr id="17" name="Caption"/>
          <p:cNvSpPr txBox="1"/>
          <p:nvPr/>
        </p:nvSpPr>
        <p:spPr>
          <a:xfrm>
            <a:off x="6532474" y="5621557"/>
            <a:ext cx="4846320" cy="219456"/>
          </a:xfrm>
          <a:prstGeom prst="rect">
            <a:avLst/>
          </a:prstGeom>
          <a:noFill/>
          <a:ln/>
        </p:spPr>
        <p:txBody>
          <a:bodyPr wrap="square" lIns="0" tIns="0" rIns="0" bIns="0" rtlCol="0" anchor="t"/>
          <a:lstStyle/>
          <a:p>
            <a:pPr algn="l" indent="0" marL="0">
              <a:buNone/>
            </a:pPr>
            <a:r>
              <a:rPr lang="en-US" sz="1200" spc="100" kern="0" dirty="0">
                <a:solidFill>
                  <a:srgbClr val="7E8BA6"/>
                </a:solidFill>
                <a:latin typeface="Consolas" pitchFamily="34" charset="0"/>
                <a:ea typeface="Consolas" pitchFamily="34" charset="-122"/>
                <a:cs typeface="Consolas" pitchFamily="34" charset="-120"/>
              </a:rPr>
              <a:t>Dashboard on a demo store, verdicts illustrative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olutions">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OUR SOLUTIONS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Four solutions, one system.</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Perimeter &amp; Zone Watch card"/>
          <p:cNvSpPr/>
          <p:nvPr/>
        </p:nvSpPr>
        <p:spPr>
          <a:xfrm>
            <a:off x="812902" y="2103120"/>
            <a:ext cx="2435733" cy="3310128"/>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pic>
        <p:nvPicPr>
          <p:cNvPr id="6" name="Perimeter &amp; Zone Watch picture" descr="Perimeter &amp; Zone Watch"/>
          <p:cNvPicPr>
            <a:picLocks noChangeAspect="1"/>
          </p:cNvPicPr>
          <p:nvPr/>
        </p:nvPicPr>
        <p:blipFill>
          <a:blip r:embed="rId2"/>
          <a:srcRect t="8333" b="8333"/>
          <a:stretch>
            <a:fillRect/>
          </a:stretch>
        </p:blipFill>
        <p:spPr>
          <a:xfrm>
            <a:off x="922630" y="2212848"/>
            <a:ext cx="2216277" cy="1385173"/>
          </a:xfrm>
          <a:prstGeom prst="rect">
            <a:avLst/>
          </a:prstGeom>
        </p:spPr>
      </p:pic>
      <p:sp>
        <p:nvSpPr>
          <p:cNvPr id="7" name="Label"/>
          <p:cNvSpPr txBox="1"/>
          <p:nvPr/>
        </p:nvSpPr>
        <p:spPr>
          <a:xfrm>
            <a:off x="1014070" y="3753469"/>
            <a:ext cx="2033397" cy="219456"/>
          </a:xfrm>
          <a:prstGeom prst="rect">
            <a:avLst/>
          </a:prstGeom>
          <a:noFill/>
          <a:ln/>
        </p:spPr>
        <p:txBody>
          <a:bodyPr wrap="square" lIns="0" tIns="0" rIns="0" bIns="0" rtlCol="0" anchor="t"/>
          <a:lstStyle/>
          <a:p>
            <a:pPr algn="l" indent="0" marL="0">
              <a:buNone/>
            </a:pPr>
            <a:r>
              <a:rPr lang="en-US" sz="1100" spc="100" kern="0" dirty="0">
                <a:solidFill>
                  <a:schemeClr val="accent2"/>
                </a:solidFill>
                <a:latin typeface="Consolas" pitchFamily="34" charset="0"/>
                <a:ea typeface="Consolas" pitchFamily="34" charset="-122"/>
                <a:cs typeface="Consolas" pitchFamily="34" charset="-120"/>
              </a:rPr>
              <a:t>SECURITY</a:t>
            </a:r>
            <a:endParaRPr lang="en-US" sz="1100" dirty="0"/>
          </a:p>
        </p:txBody>
      </p:sp>
      <p:sp>
        <p:nvSpPr>
          <p:cNvPr id="8" name="Heading"/>
          <p:cNvSpPr txBox="1"/>
          <p:nvPr/>
        </p:nvSpPr>
        <p:spPr>
          <a:xfrm>
            <a:off x="1014070" y="4000357"/>
            <a:ext cx="2033397" cy="502920"/>
          </a:xfrm>
          <a:prstGeom prst="rect">
            <a:avLst/>
          </a:prstGeom>
          <a:noFill/>
          <a:ln/>
        </p:spPr>
        <p:txBody>
          <a:bodyPr wrap="square" lIns="0" tIns="0" rIns="0" bIns="0" rtlCol="0" anchor="t"/>
          <a:lstStyle/>
          <a:p>
            <a:pPr algn="l" indent="0" marL="0">
              <a:buNone/>
            </a:pPr>
            <a:r>
              <a:rPr lang="en-US" sz="1600" b="1" dirty="0">
                <a:solidFill>
                  <a:schemeClr val="bg1"/>
                </a:solidFill>
              </a:rPr>
              <a:t>Perimeter &amp; Zone Watch</a:t>
            </a:r>
            <a:endParaRPr lang="en-US" sz="1600" dirty="0"/>
          </a:p>
        </p:txBody>
      </p:sp>
      <p:sp>
        <p:nvSpPr>
          <p:cNvPr id="9" name="Body"/>
          <p:cNvSpPr txBox="1"/>
          <p:nvPr/>
        </p:nvSpPr>
        <p:spPr>
          <a:xfrm>
            <a:off x="1014070" y="4558141"/>
            <a:ext cx="2033397" cy="658368"/>
          </a:xfrm>
          <a:prstGeom prst="rect">
            <a:avLst/>
          </a:prstGeom>
          <a:noFill/>
          <a:ln/>
        </p:spPr>
        <p:txBody>
          <a:bodyPr wrap="square" lIns="0" tIns="0" rIns="0" bIns="0" rtlCol="0" anchor="t"/>
          <a:lstStyle/>
          <a:p>
            <a:pPr algn="l" indent="0" marL="0">
              <a:buNone/>
            </a:pPr>
            <a:r>
              <a:rPr lang="en-US" sz="1300" dirty="0">
                <a:solidFill>
                  <a:schemeClr val="bg2"/>
                </a:solidFill>
              </a:rPr>
              <a:t>A line crossed, an area entered, or someone staying too long.</a:t>
            </a:r>
            <a:endParaRPr lang="en-US" sz="1300" dirty="0"/>
          </a:p>
        </p:txBody>
      </p:sp>
      <p:sp>
        <p:nvSpPr>
          <p:cNvPr id="10" name="Fire &amp; Smoke card"/>
          <p:cNvSpPr/>
          <p:nvPr/>
        </p:nvSpPr>
        <p:spPr>
          <a:xfrm>
            <a:off x="3522955" y="2103120"/>
            <a:ext cx="2435733" cy="3310128"/>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pic>
        <p:nvPicPr>
          <p:cNvPr id="11" name="Fire &amp; Smoke picture" descr="Fire &amp; Smoke"/>
          <p:cNvPicPr>
            <a:picLocks noChangeAspect="1"/>
          </p:cNvPicPr>
          <p:nvPr/>
        </p:nvPicPr>
        <p:blipFill>
          <a:blip r:embed="rId3"/>
          <a:srcRect t="7877" b="7877"/>
          <a:stretch>
            <a:fillRect/>
          </a:stretch>
        </p:blipFill>
        <p:spPr>
          <a:xfrm>
            <a:off x="3632683" y="2212848"/>
            <a:ext cx="2216277" cy="1385173"/>
          </a:xfrm>
          <a:prstGeom prst="rect">
            <a:avLst/>
          </a:prstGeom>
        </p:spPr>
      </p:pic>
      <p:sp>
        <p:nvSpPr>
          <p:cNvPr id="12" name="Label"/>
          <p:cNvSpPr txBox="1"/>
          <p:nvPr/>
        </p:nvSpPr>
        <p:spPr>
          <a:xfrm>
            <a:off x="3724123" y="3753469"/>
            <a:ext cx="2033397" cy="219456"/>
          </a:xfrm>
          <a:prstGeom prst="rect">
            <a:avLst/>
          </a:prstGeom>
          <a:noFill/>
          <a:ln/>
        </p:spPr>
        <p:txBody>
          <a:bodyPr wrap="square" lIns="0" tIns="0" rIns="0" bIns="0" rtlCol="0" anchor="t"/>
          <a:lstStyle/>
          <a:p>
            <a:pPr algn="l" indent="0" marL="0">
              <a:buNone/>
            </a:pPr>
            <a:r>
              <a:rPr lang="en-US" sz="1100" spc="100" kern="0" dirty="0">
                <a:solidFill>
                  <a:schemeClr val="accent2"/>
                </a:solidFill>
                <a:latin typeface="Consolas" pitchFamily="34" charset="0"/>
                <a:ea typeface="Consolas" pitchFamily="34" charset="-122"/>
                <a:cs typeface="Consolas" pitchFamily="34" charset="-120"/>
              </a:rPr>
              <a:t>SAFETY · IN TRAINING</a:t>
            </a:r>
            <a:endParaRPr lang="en-US" sz="1100" dirty="0"/>
          </a:p>
        </p:txBody>
      </p:sp>
      <p:sp>
        <p:nvSpPr>
          <p:cNvPr id="13" name="Heading"/>
          <p:cNvSpPr txBox="1"/>
          <p:nvPr/>
        </p:nvSpPr>
        <p:spPr>
          <a:xfrm>
            <a:off x="3724123" y="4000357"/>
            <a:ext cx="2033397" cy="502920"/>
          </a:xfrm>
          <a:prstGeom prst="rect">
            <a:avLst/>
          </a:prstGeom>
          <a:noFill/>
          <a:ln/>
        </p:spPr>
        <p:txBody>
          <a:bodyPr wrap="square" lIns="0" tIns="0" rIns="0" bIns="0" rtlCol="0" anchor="t"/>
          <a:lstStyle/>
          <a:p>
            <a:pPr algn="l" indent="0" marL="0">
              <a:buNone/>
            </a:pPr>
            <a:r>
              <a:rPr lang="en-US" sz="1600" b="1" dirty="0">
                <a:solidFill>
                  <a:schemeClr val="bg1"/>
                </a:solidFill>
              </a:rPr>
              <a:t>Fire &amp; Smoke</a:t>
            </a:r>
            <a:endParaRPr lang="en-US" sz="1600" dirty="0"/>
          </a:p>
        </p:txBody>
      </p:sp>
      <p:sp>
        <p:nvSpPr>
          <p:cNvPr id="14" name="Body"/>
          <p:cNvSpPr txBox="1"/>
          <p:nvPr/>
        </p:nvSpPr>
        <p:spPr>
          <a:xfrm>
            <a:off x="3724123" y="4558141"/>
            <a:ext cx="2033397" cy="658368"/>
          </a:xfrm>
          <a:prstGeom prst="rect">
            <a:avLst/>
          </a:prstGeom>
          <a:noFill/>
          <a:ln/>
        </p:spPr>
        <p:txBody>
          <a:bodyPr wrap="square" lIns="0" tIns="0" rIns="0" bIns="0" rtlCol="0" anchor="t"/>
          <a:lstStyle/>
          <a:p>
            <a:pPr algn="l" indent="0" marL="0">
              <a:buNone/>
            </a:pPr>
            <a:r>
              <a:rPr lang="en-US" sz="1300" dirty="0">
                <a:solidFill>
                  <a:schemeClr val="bg2"/>
                </a:solidFill>
              </a:rPr>
              <a:t>Flames and smoke on camera, often before a ceiling detector reacts.</a:t>
            </a:r>
            <a:endParaRPr lang="en-US" sz="1300" dirty="0"/>
          </a:p>
        </p:txBody>
      </p:sp>
      <p:sp>
        <p:nvSpPr>
          <p:cNvPr id="15" name="Licence Plate Reading card"/>
          <p:cNvSpPr/>
          <p:nvPr/>
        </p:nvSpPr>
        <p:spPr>
          <a:xfrm>
            <a:off x="6233008" y="2103120"/>
            <a:ext cx="2435733" cy="3310128"/>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pic>
        <p:nvPicPr>
          <p:cNvPr id="16" name="Licence Plate Reading picture" descr="Licence Plate Reading"/>
          <p:cNvPicPr>
            <a:picLocks noChangeAspect="1"/>
          </p:cNvPicPr>
          <p:nvPr/>
        </p:nvPicPr>
        <p:blipFill>
          <a:blip r:embed="rId4"/>
          <a:srcRect t="7877" b="7877"/>
          <a:stretch>
            <a:fillRect/>
          </a:stretch>
        </p:blipFill>
        <p:spPr>
          <a:xfrm>
            <a:off x="6342736" y="2212848"/>
            <a:ext cx="2216277" cy="1385173"/>
          </a:xfrm>
          <a:prstGeom prst="rect">
            <a:avLst/>
          </a:prstGeom>
        </p:spPr>
      </p:pic>
      <p:sp>
        <p:nvSpPr>
          <p:cNvPr id="17" name="Label"/>
          <p:cNvSpPr txBox="1"/>
          <p:nvPr/>
        </p:nvSpPr>
        <p:spPr>
          <a:xfrm>
            <a:off x="6434176" y="3753469"/>
            <a:ext cx="2033397" cy="219456"/>
          </a:xfrm>
          <a:prstGeom prst="rect">
            <a:avLst/>
          </a:prstGeom>
          <a:noFill/>
          <a:ln/>
        </p:spPr>
        <p:txBody>
          <a:bodyPr wrap="square" lIns="0" tIns="0" rIns="0" bIns="0" rtlCol="0" anchor="t"/>
          <a:lstStyle/>
          <a:p>
            <a:pPr algn="l" indent="0" marL="0">
              <a:buNone/>
            </a:pPr>
            <a:r>
              <a:rPr lang="en-US" sz="1100" spc="100" kern="0" dirty="0">
                <a:solidFill>
                  <a:schemeClr val="accent2"/>
                </a:solidFill>
                <a:latin typeface="Consolas" pitchFamily="34" charset="0"/>
                <a:ea typeface="Consolas" pitchFamily="34" charset="-122"/>
                <a:cs typeface="Consolas" pitchFamily="34" charset="-120"/>
              </a:rPr>
              <a:t>ACCESS &amp; TRAFFIC</a:t>
            </a:r>
            <a:endParaRPr lang="en-US" sz="1100" dirty="0"/>
          </a:p>
        </p:txBody>
      </p:sp>
      <p:sp>
        <p:nvSpPr>
          <p:cNvPr id="18" name="Heading"/>
          <p:cNvSpPr txBox="1"/>
          <p:nvPr/>
        </p:nvSpPr>
        <p:spPr>
          <a:xfrm>
            <a:off x="6434176" y="4000357"/>
            <a:ext cx="2033397" cy="502920"/>
          </a:xfrm>
          <a:prstGeom prst="rect">
            <a:avLst/>
          </a:prstGeom>
          <a:noFill/>
          <a:ln/>
        </p:spPr>
        <p:txBody>
          <a:bodyPr wrap="square" lIns="0" tIns="0" rIns="0" bIns="0" rtlCol="0" anchor="t"/>
          <a:lstStyle/>
          <a:p>
            <a:pPr algn="l" indent="0" marL="0">
              <a:buNone/>
            </a:pPr>
            <a:r>
              <a:rPr lang="en-US" sz="1600" b="1" dirty="0">
                <a:solidFill>
                  <a:schemeClr val="bg1"/>
                </a:solidFill>
              </a:rPr>
              <a:t>Licence Plate Reading</a:t>
            </a:r>
            <a:endParaRPr lang="en-US" sz="1600" dirty="0"/>
          </a:p>
        </p:txBody>
      </p:sp>
      <p:sp>
        <p:nvSpPr>
          <p:cNvPr id="19" name="Body"/>
          <p:cNvSpPr txBox="1"/>
          <p:nvPr/>
        </p:nvSpPr>
        <p:spPr>
          <a:xfrm>
            <a:off x="6434176" y="4558141"/>
            <a:ext cx="2033397" cy="658368"/>
          </a:xfrm>
          <a:prstGeom prst="rect">
            <a:avLst/>
          </a:prstGeom>
          <a:noFill/>
          <a:ln/>
        </p:spPr>
        <p:txBody>
          <a:bodyPr wrap="square" lIns="0" tIns="0" rIns="0" bIns="0" rtlCol="0" anchor="t"/>
          <a:lstStyle/>
          <a:p>
            <a:pPr algn="l" indent="0" marL="0">
              <a:buNone/>
            </a:pPr>
            <a:r>
              <a:rPr lang="en-US" sz="1300" dirty="0">
                <a:solidFill>
                  <a:schemeClr val="bg2"/>
                </a:solidFill>
              </a:rPr>
              <a:t>Every vehicle at the gate, logged, searchable, with watchlist alerts.</a:t>
            </a:r>
            <a:endParaRPr lang="en-US" sz="1300" dirty="0"/>
          </a:p>
        </p:txBody>
      </p:sp>
      <p:sp>
        <p:nvSpPr>
          <p:cNvPr id="20" name="Person Down &amp; Activity card"/>
          <p:cNvSpPr/>
          <p:nvPr/>
        </p:nvSpPr>
        <p:spPr>
          <a:xfrm>
            <a:off x="8943061" y="2103120"/>
            <a:ext cx="2435733" cy="3310128"/>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pic>
        <p:nvPicPr>
          <p:cNvPr id="21" name="Person Down &amp; Activity picture" descr="Person Down &amp; Activity"/>
          <p:cNvPicPr>
            <a:picLocks noChangeAspect="1"/>
          </p:cNvPicPr>
          <p:nvPr/>
        </p:nvPicPr>
        <p:blipFill>
          <a:blip r:embed="rId5"/>
          <a:srcRect t="6977" b="6977"/>
          <a:stretch>
            <a:fillRect/>
          </a:stretch>
        </p:blipFill>
        <p:spPr>
          <a:xfrm>
            <a:off x="9052789" y="2212848"/>
            <a:ext cx="2216277" cy="1385173"/>
          </a:xfrm>
          <a:prstGeom prst="rect">
            <a:avLst/>
          </a:prstGeom>
        </p:spPr>
      </p:pic>
      <p:sp>
        <p:nvSpPr>
          <p:cNvPr id="22" name="Label"/>
          <p:cNvSpPr txBox="1"/>
          <p:nvPr/>
        </p:nvSpPr>
        <p:spPr>
          <a:xfrm>
            <a:off x="9144229" y="3753469"/>
            <a:ext cx="2033397" cy="219456"/>
          </a:xfrm>
          <a:prstGeom prst="rect">
            <a:avLst/>
          </a:prstGeom>
          <a:noFill/>
          <a:ln/>
        </p:spPr>
        <p:txBody>
          <a:bodyPr wrap="square" lIns="0" tIns="0" rIns="0" bIns="0" rtlCol="0" anchor="t"/>
          <a:lstStyle/>
          <a:p>
            <a:pPr algn="l" indent="0" marL="0">
              <a:buNone/>
            </a:pPr>
            <a:r>
              <a:rPr lang="en-US" sz="1100" spc="100" kern="0" dirty="0">
                <a:solidFill>
                  <a:schemeClr val="accent2"/>
                </a:solidFill>
                <a:latin typeface="Consolas" pitchFamily="34" charset="0"/>
                <a:ea typeface="Consolas" pitchFamily="34" charset="-122"/>
                <a:cs typeface="Consolas" pitchFamily="34" charset="-120"/>
              </a:rPr>
              <a:t>SAFETY</a:t>
            </a:r>
            <a:endParaRPr lang="en-US" sz="1100" dirty="0"/>
          </a:p>
        </p:txBody>
      </p:sp>
      <p:sp>
        <p:nvSpPr>
          <p:cNvPr id="23" name="Heading"/>
          <p:cNvSpPr txBox="1"/>
          <p:nvPr/>
        </p:nvSpPr>
        <p:spPr>
          <a:xfrm>
            <a:off x="9144229" y="4000357"/>
            <a:ext cx="2033397" cy="502920"/>
          </a:xfrm>
          <a:prstGeom prst="rect">
            <a:avLst/>
          </a:prstGeom>
          <a:noFill/>
          <a:ln/>
        </p:spPr>
        <p:txBody>
          <a:bodyPr wrap="square" lIns="0" tIns="0" rIns="0" bIns="0" rtlCol="0" anchor="t"/>
          <a:lstStyle/>
          <a:p>
            <a:pPr algn="l" indent="0" marL="0">
              <a:buNone/>
            </a:pPr>
            <a:r>
              <a:rPr lang="en-US" sz="1600" b="1" dirty="0">
                <a:solidFill>
                  <a:schemeClr val="bg1"/>
                </a:solidFill>
              </a:rPr>
              <a:t>Person Down &amp; Activity</a:t>
            </a:r>
            <a:endParaRPr lang="en-US" sz="1600" dirty="0"/>
          </a:p>
        </p:txBody>
      </p:sp>
      <p:sp>
        <p:nvSpPr>
          <p:cNvPr id="24" name="Body"/>
          <p:cNvSpPr txBox="1"/>
          <p:nvPr/>
        </p:nvSpPr>
        <p:spPr>
          <a:xfrm>
            <a:off x="9144229" y="4558141"/>
            <a:ext cx="2033397" cy="658368"/>
          </a:xfrm>
          <a:prstGeom prst="rect">
            <a:avLst/>
          </a:prstGeom>
          <a:noFill/>
          <a:ln/>
        </p:spPr>
        <p:txBody>
          <a:bodyPr wrap="square" lIns="0" tIns="0" rIns="0" bIns="0" rtlCol="0" anchor="t"/>
          <a:lstStyle/>
          <a:p>
            <a:pPr algn="l" indent="0" marL="0">
              <a:buNone/>
            </a:pPr>
            <a:r>
              <a:rPr lang="en-US" sz="1300" dirty="0">
                <a:solidFill>
                  <a:schemeClr val="bg2"/>
                </a:solidFill>
              </a:rPr>
              <a:t>An alert when someone stays down, and a record of what people were doing.</a:t>
            </a:r>
            <a:endParaRPr lang="en-US" sz="1300" dirty="0"/>
          </a:p>
        </p:txBody>
      </p:sp>
      <p:sp>
        <p:nvSpPr>
          <p:cNvPr id="25" name="Body"/>
          <p:cNvSpPr txBox="1"/>
          <p:nvPr/>
        </p:nvSpPr>
        <p:spPr>
          <a:xfrm>
            <a:off x="812902" y="5687568"/>
            <a:ext cx="10565892" cy="274320"/>
          </a:xfrm>
          <a:prstGeom prst="rect">
            <a:avLst/>
          </a:prstGeom>
          <a:noFill/>
          <a:ln/>
        </p:spPr>
        <p:txBody>
          <a:bodyPr wrap="square" lIns="0" tIns="0" rIns="0" bIns="0" rtlCol="0" anchor="t"/>
          <a:lstStyle/>
          <a:p>
            <a:pPr algn="l" indent="0" marL="0">
              <a:buNone/>
            </a:pPr>
            <a:r>
              <a:rPr lang="en-US" sz="1300" b="1" dirty="0">
                <a:solidFill>
                  <a:schemeClr val="bg1"/>
                </a:solidFill>
              </a:rPr>
              <a:t xml:space="preserve">One system: </a:t>
            </a:r>
            <a:r>
              <a:rPr lang="en-US" sz="1300" dirty="0">
                <a:solidFill>
                  <a:schemeClr val="bg2"/>
                </a:solidFill>
              </a:rPr>
              <a:t>each solution is a module on the same server. Add the next one without a new project.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erimeter">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PERIMETER &amp; ZONE WATCH</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Know the moment someone crosses the line.</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pic>
        <p:nvPicPr>
          <p:cNvPr id="5" name="zones-picture" descr="A virtual line and a watched zone drawn on a street camera, people tracked"/>
          <p:cNvPicPr>
            <a:picLocks noChangeAspect="1"/>
          </p:cNvPicPr>
          <p:nvPr/>
        </p:nvPicPr>
        <p:blipFill>
          <a:blip r:embed="rId2"/>
          <a:stretch>
            <a:fillRect/>
          </a:stretch>
        </p:blipFill>
        <p:spPr>
          <a:xfrm>
            <a:off x="812902" y="2103120"/>
            <a:ext cx="4572000" cy="3429000"/>
          </a:xfrm>
          <a:prstGeom prst="rect">
            <a:avLst/>
          </a:prstGeom>
        </p:spPr>
      </p:pic>
      <p:sp>
        <p:nvSpPr>
          <p:cNvPr id="6" name="Caption"/>
          <p:cNvSpPr txBox="1"/>
          <p:nvPr/>
        </p:nvSpPr>
        <p:spPr>
          <a:xfrm>
            <a:off x="812902" y="5623560"/>
            <a:ext cx="4572000" cy="219456"/>
          </a:xfrm>
          <a:prstGeom prst="rect">
            <a:avLst/>
          </a:prstGeom>
          <a:noFill/>
          <a:ln/>
        </p:spPr>
        <p:txBody>
          <a:bodyPr wrap="square" lIns="0" tIns="0" rIns="0" bIns="0" rtlCol="0" anchor="t"/>
          <a:lstStyle/>
          <a:p>
            <a:pPr algn="l" indent="0" marL="0">
              <a:buNone/>
            </a:pPr>
            <a:r>
              <a:rPr lang="en-US" sz="1200" spc="100" kern="0" dirty="0">
                <a:solidFill>
                  <a:srgbClr val="7E8BA6"/>
                </a:solidFill>
                <a:latin typeface="Consolas" pitchFamily="34" charset="0"/>
                <a:ea typeface="Consolas" pitchFamily="34" charset="-122"/>
                <a:cs typeface="Consolas" pitchFamily="34" charset="-120"/>
              </a:rPr>
              <a:t>Real output: a line (blue), a zone (green)</a:t>
            </a:r>
            <a:endParaRPr lang="en-US" sz="1200" dirty="0"/>
          </a:p>
        </p:txBody>
      </p:sp>
      <p:sp>
        <p:nvSpPr>
          <p:cNvPr id="7" name="Heading"/>
          <p:cNvSpPr txBox="1"/>
          <p:nvPr/>
        </p:nvSpPr>
        <p:spPr>
          <a:xfrm>
            <a:off x="5796382" y="2103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Virtual tripwires</a:t>
            </a:r>
            <a:endParaRPr lang="en-US" sz="1600" dirty="0"/>
          </a:p>
        </p:txBody>
      </p:sp>
      <p:sp>
        <p:nvSpPr>
          <p:cNvPr id="8" name="Body"/>
          <p:cNvSpPr txBox="1"/>
          <p:nvPr/>
        </p:nvSpPr>
        <p:spPr>
          <a:xfrm>
            <a:off x="5796382" y="2432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Alert when a line is crossed, and in which direction: in or out.</a:t>
            </a:r>
            <a:endParaRPr lang="en-US" sz="1300" dirty="0"/>
          </a:p>
        </p:txBody>
      </p:sp>
      <p:sp>
        <p:nvSpPr>
          <p:cNvPr id="9" name="Heading"/>
          <p:cNvSpPr txBox="1"/>
          <p:nvPr/>
        </p:nvSpPr>
        <p:spPr>
          <a:xfrm>
            <a:off x="8724748" y="2103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Restricted zones</a:t>
            </a:r>
            <a:endParaRPr lang="en-US" sz="1600" dirty="0"/>
          </a:p>
        </p:txBody>
      </p:sp>
      <p:sp>
        <p:nvSpPr>
          <p:cNvPr id="10" name="Body"/>
          <p:cNvSpPr txBox="1"/>
          <p:nvPr/>
        </p:nvSpPr>
        <p:spPr>
          <a:xfrm>
            <a:off x="8724748" y="2432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Enter and exit alerts for any area you draw, any shape.</a:t>
            </a:r>
            <a:endParaRPr lang="en-US" sz="1300" dirty="0"/>
          </a:p>
        </p:txBody>
      </p:sp>
      <p:sp>
        <p:nvSpPr>
          <p:cNvPr id="11" name="Heading"/>
          <p:cNvSpPr txBox="1"/>
          <p:nvPr/>
        </p:nvSpPr>
        <p:spPr>
          <a:xfrm>
            <a:off x="5796382" y="3246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Stay-too-long timer</a:t>
            </a:r>
            <a:endParaRPr lang="en-US" sz="1600" dirty="0"/>
          </a:p>
        </p:txBody>
      </p:sp>
      <p:sp>
        <p:nvSpPr>
          <p:cNvPr id="12" name="Body"/>
          <p:cNvSpPr txBox="1"/>
          <p:nvPr/>
        </p:nvSpPr>
        <p:spPr>
          <a:xfrm>
            <a:off x="5796382" y="3575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A car parked over 60 s in a fire lane, someone lingering at a back door.</a:t>
            </a:r>
            <a:endParaRPr lang="en-US" sz="1300" dirty="0"/>
          </a:p>
        </p:txBody>
      </p:sp>
      <p:sp>
        <p:nvSpPr>
          <p:cNvPr id="13" name="Heading"/>
          <p:cNvSpPr txBox="1"/>
          <p:nvPr/>
        </p:nvSpPr>
        <p:spPr>
          <a:xfrm>
            <a:off x="8724748" y="3246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People or vehicles</a:t>
            </a:r>
            <a:endParaRPr lang="en-US" sz="1600" dirty="0"/>
          </a:p>
        </p:txBody>
      </p:sp>
      <p:sp>
        <p:nvSpPr>
          <p:cNvPr id="14" name="Body"/>
          <p:cNvSpPr txBox="1"/>
          <p:nvPr/>
        </p:nvSpPr>
        <p:spPr>
          <a:xfrm>
            <a:off x="8724748" y="3575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Choose what matters and ignore the rest, including animals and trees.</a:t>
            </a:r>
            <a:endParaRPr lang="en-US" sz="1300" dirty="0"/>
          </a:p>
        </p:txBody>
      </p:sp>
      <p:sp>
        <p:nvSpPr>
          <p:cNvPr id="15" name="Heading"/>
          <p:cNvSpPr txBox="1"/>
          <p:nvPr/>
        </p:nvSpPr>
        <p:spPr>
          <a:xfrm>
            <a:off x="5796382" y="4389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Counting</a:t>
            </a:r>
            <a:endParaRPr lang="en-US" sz="1600" dirty="0"/>
          </a:p>
        </p:txBody>
      </p:sp>
      <p:sp>
        <p:nvSpPr>
          <p:cNvPr id="16" name="Body"/>
          <p:cNvSpPr txBox="1"/>
          <p:nvPr/>
        </p:nvSpPr>
        <p:spPr>
          <a:xfrm>
            <a:off x="5796382" y="4718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How many people or cars went through a gate, in and out.</a:t>
            </a:r>
            <a:endParaRPr lang="en-US" sz="1300" dirty="0"/>
          </a:p>
        </p:txBody>
      </p:sp>
      <p:sp>
        <p:nvSpPr>
          <p:cNvPr id="17" name="Heading"/>
          <p:cNvSpPr txBox="1"/>
          <p:nvPr/>
        </p:nvSpPr>
        <p:spPr>
          <a:xfrm>
            <a:off x="8724748" y="4389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One intruder, one alert</a:t>
            </a:r>
            <a:endParaRPr lang="en-US" sz="1600" dirty="0"/>
          </a:p>
        </p:txBody>
      </p:sp>
      <p:sp>
        <p:nvSpPr>
          <p:cNvPr id="18" name="Body"/>
          <p:cNvSpPr txBox="1"/>
          <p:nvPr/>
        </p:nvSpPr>
        <p:spPr>
          <a:xfrm>
            <a:off x="8724748" y="4718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A cooldown stops the same event from flooding your team.</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Fire and smoke">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FIRE &amp; SMOKE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See smoke before the alarm goes off.</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pic>
        <p:nvPicPr>
          <p:cNvPr id="5" name="fire-smoke-illustration" descr="Illustration: flames and smoke boxed on a warehouse camera"/>
          <p:cNvPicPr>
            <a:picLocks noChangeAspect="1"/>
          </p:cNvPicPr>
          <p:nvPr/>
        </p:nvPicPr>
        <p:blipFill>
          <a:blip r:embed="rId2"/>
          <a:stretch>
            <a:fillRect/>
          </a:stretch>
        </p:blipFill>
        <p:spPr>
          <a:xfrm>
            <a:off x="6806794" y="2103120"/>
            <a:ext cx="4572000" cy="3391847"/>
          </a:xfrm>
          <a:prstGeom prst="rect">
            <a:avLst/>
          </a:prstGeom>
        </p:spPr>
      </p:pic>
      <p:sp>
        <p:nvSpPr>
          <p:cNvPr id="6" name="Caption"/>
          <p:cNvSpPr txBox="1"/>
          <p:nvPr/>
        </p:nvSpPr>
        <p:spPr>
          <a:xfrm>
            <a:off x="6806794" y="5586407"/>
            <a:ext cx="4572000" cy="219456"/>
          </a:xfrm>
          <a:prstGeom prst="rect">
            <a:avLst/>
          </a:prstGeom>
          <a:noFill/>
          <a:ln/>
        </p:spPr>
        <p:txBody>
          <a:bodyPr wrap="square" lIns="0" tIns="0" rIns="0" bIns="0" rtlCol="0" anchor="t"/>
          <a:lstStyle/>
          <a:p>
            <a:pPr algn="l" indent="0" marL="0">
              <a:buNone/>
            </a:pPr>
            <a:r>
              <a:rPr lang="en-US" sz="1200" spc="100" kern="0" dirty="0">
                <a:solidFill>
                  <a:srgbClr val="7E8BA6"/>
                </a:solidFill>
                <a:latin typeface="Consolas" pitchFamily="34" charset="0"/>
                <a:ea typeface="Consolas" pitchFamily="34" charset="-122"/>
                <a:cs typeface="Consolas" pitchFamily="34" charset="-120"/>
              </a:rPr>
              <a:t>Illustration of an alert, not a live run</a:t>
            </a:r>
            <a:endParaRPr lang="en-US" sz="1200" dirty="0"/>
          </a:p>
        </p:txBody>
      </p:sp>
      <p:sp>
        <p:nvSpPr>
          <p:cNvPr id="7" name="status"/>
          <p:cNvSpPr/>
          <p:nvPr/>
        </p:nvSpPr>
        <p:spPr>
          <a:xfrm>
            <a:off x="812902" y="2103120"/>
            <a:ext cx="3017520" cy="329184"/>
          </a:xfrm>
          <a:prstGeom prst="roundRect">
            <a:avLst>
              <a:gd name="adj" fmla="val 50000"/>
            </a:avLst>
          </a:prstGeom>
          <a:solidFill>
            <a:schemeClr val="accent3"/>
          </a:solidFill>
          <a:ln w="9525">
            <a:solidFill>
              <a:schemeClr val="accent1"/>
            </a:solidFill>
            <a:prstDash val="solid"/>
          </a:ln>
        </p:spPr>
        <p:txBody>
          <a:bodyPr wrap="none" lIns="0" tIns="0" rIns="0" bIns="0" rtlCol="0" anchor="ctr"/>
          <a:lstStyle/>
          <a:p>
            <a:pPr algn="ctr" indent="0" marL="0">
              <a:buNone/>
            </a:pPr>
            <a:r>
              <a:rPr lang="en-US" sz="1100" spc="100" kern="0" dirty="0">
                <a:solidFill>
                  <a:schemeClr val="accent2"/>
                </a:solidFill>
                <a:latin typeface="Consolas" pitchFamily="34" charset="0"/>
                <a:ea typeface="Consolas" pitchFamily="34" charset="-122"/>
                <a:cs typeface="Consolas" pitchFamily="34" charset="-120"/>
              </a:rPr>
              <a:t>IN TRAINING · OUR OWN MODEL</a:t>
            </a:r>
            <a:endParaRPr lang="en-US" sz="1100" dirty="0"/>
          </a:p>
        </p:txBody>
      </p:sp>
      <p:sp>
        <p:nvSpPr>
          <p:cNvPr id="8" name="Heading"/>
          <p:cNvSpPr txBox="1"/>
          <p:nvPr/>
        </p:nvSpPr>
        <p:spPr>
          <a:xfrm>
            <a:off x="812902" y="2651760"/>
            <a:ext cx="5536692" cy="292608"/>
          </a:xfrm>
          <a:prstGeom prst="rect">
            <a:avLst/>
          </a:prstGeom>
          <a:noFill/>
          <a:ln/>
        </p:spPr>
        <p:txBody>
          <a:bodyPr wrap="square" lIns="0" tIns="0" rIns="0" bIns="0" rtlCol="0" anchor="t"/>
          <a:lstStyle/>
          <a:p>
            <a:pPr algn="l" indent="0" marL="0">
              <a:buNone/>
            </a:pPr>
            <a:r>
              <a:rPr lang="en-US" sz="1600" b="1" dirty="0">
                <a:solidFill>
                  <a:schemeClr val="bg1"/>
                </a:solidFill>
              </a:rPr>
              <a:t>Flames and smoke</a:t>
            </a:r>
            <a:endParaRPr lang="en-US" sz="1600" dirty="0"/>
          </a:p>
        </p:txBody>
      </p:sp>
      <p:sp>
        <p:nvSpPr>
          <p:cNvPr id="9" name="Body"/>
          <p:cNvSpPr txBox="1"/>
          <p:nvPr/>
        </p:nvSpPr>
        <p:spPr>
          <a:xfrm>
            <a:off x="812902" y="2962656"/>
            <a:ext cx="5536692" cy="310896"/>
          </a:xfrm>
          <a:prstGeom prst="rect">
            <a:avLst/>
          </a:prstGeom>
          <a:noFill/>
          <a:ln/>
        </p:spPr>
        <p:txBody>
          <a:bodyPr wrap="square" lIns="0" tIns="0" rIns="0" bIns="0" rtlCol="0" anchor="t"/>
          <a:lstStyle/>
          <a:p>
            <a:pPr algn="l" indent="0" marL="0">
              <a:buNone/>
            </a:pPr>
            <a:r>
              <a:rPr lang="en-US" sz="1300" dirty="0">
                <a:solidFill>
                  <a:schemeClr val="bg2"/>
                </a:solidFill>
              </a:rPr>
              <a:t>Both, so you are warned in the early, smoky stage too.</a:t>
            </a:r>
            <a:endParaRPr lang="en-US" sz="1300" dirty="0"/>
          </a:p>
        </p:txBody>
      </p:sp>
      <p:sp>
        <p:nvSpPr>
          <p:cNvPr id="10" name="Heading"/>
          <p:cNvSpPr txBox="1"/>
          <p:nvPr/>
        </p:nvSpPr>
        <p:spPr>
          <a:xfrm>
            <a:off x="812902" y="3328416"/>
            <a:ext cx="5536692" cy="292608"/>
          </a:xfrm>
          <a:prstGeom prst="rect">
            <a:avLst/>
          </a:prstGeom>
          <a:noFill/>
          <a:ln/>
        </p:spPr>
        <p:txBody>
          <a:bodyPr wrap="square" lIns="0" tIns="0" rIns="0" bIns="0" rtlCol="0" anchor="t"/>
          <a:lstStyle/>
          <a:p>
            <a:pPr algn="l" indent="0" marL="0">
              <a:buNone/>
            </a:pPr>
            <a:r>
              <a:rPr lang="en-US" sz="1600" b="1" dirty="0">
                <a:solidFill>
                  <a:schemeClr val="bg1"/>
                </a:solidFill>
              </a:rPr>
              <a:t>Confirmed over several frames</a:t>
            </a:r>
            <a:endParaRPr lang="en-US" sz="1600" dirty="0"/>
          </a:p>
        </p:txBody>
      </p:sp>
      <p:sp>
        <p:nvSpPr>
          <p:cNvPr id="11" name="Body"/>
          <p:cNvSpPr txBox="1"/>
          <p:nvPr/>
        </p:nvSpPr>
        <p:spPr>
          <a:xfrm>
            <a:off x="812902" y="3639312"/>
            <a:ext cx="5536692" cy="310896"/>
          </a:xfrm>
          <a:prstGeom prst="rect">
            <a:avLst/>
          </a:prstGeom>
          <a:noFill/>
          <a:ln/>
        </p:spPr>
        <p:txBody>
          <a:bodyPr wrap="square" lIns="0" tIns="0" rIns="0" bIns="0" rtlCol="0" anchor="t"/>
          <a:lstStyle/>
          <a:p>
            <a:pPr algn="l" indent="0" marL="0">
              <a:buNone/>
            </a:pPr>
            <a:r>
              <a:rPr lang="en-US" sz="1300" dirty="0">
                <a:solidFill>
                  <a:schemeClr val="bg2"/>
                </a:solidFill>
              </a:rPr>
              <a:t>An alert needs the detection to hold, not a single flash.</a:t>
            </a:r>
            <a:endParaRPr lang="en-US" sz="1300" dirty="0"/>
          </a:p>
        </p:txBody>
      </p:sp>
      <p:sp>
        <p:nvSpPr>
          <p:cNvPr id="12" name="Heading"/>
          <p:cNvSpPr txBox="1"/>
          <p:nvPr/>
        </p:nvSpPr>
        <p:spPr>
          <a:xfrm>
            <a:off x="812902" y="4005072"/>
            <a:ext cx="5536692" cy="292608"/>
          </a:xfrm>
          <a:prstGeom prst="rect">
            <a:avLst/>
          </a:prstGeom>
          <a:noFill/>
          <a:ln/>
        </p:spPr>
        <p:txBody>
          <a:bodyPr wrap="square" lIns="0" tIns="0" rIns="0" bIns="0" rtlCol="0" anchor="t"/>
          <a:lstStyle/>
          <a:p>
            <a:pPr algn="l" indent="0" marL="0">
              <a:buNone/>
            </a:pPr>
            <a:r>
              <a:rPr lang="en-US" sz="1600" b="1" dirty="0">
                <a:solidFill>
                  <a:schemeClr val="bg1"/>
                </a:solidFill>
              </a:rPr>
              <a:t>Covers open spaces</a:t>
            </a:r>
            <a:endParaRPr lang="en-US" sz="1600" dirty="0"/>
          </a:p>
        </p:txBody>
      </p:sp>
      <p:sp>
        <p:nvSpPr>
          <p:cNvPr id="13" name="Body"/>
          <p:cNvSpPr txBox="1"/>
          <p:nvPr/>
        </p:nvSpPr>
        <p:spPr>
          <a:xfrm>
            <a:off x="812902" y="4315968"/>
            <a:ext cx="5536692" cy="310896"/>
          </a:xfrm>
          <a:prstGeom prst="rect">
            <a:avLst/>
          </a:prstGeom>
          <a:noFill/>
          <a:ln/>
        </p:spPr>
        <p:txBody>
          <a:bodyPr wrap="square" lIns="0" tIns="0" rIns="0" bIns="0" rtlCol="0" anchor="t"/>
          <a:lstStyle/>
          <a:p>
            <a:pPr algn="l" indent="0" marL="0">
              <a:buNone/>
            </a:pPr>
            <a:r>
              <a:rPr lang="en-US" sz="1300" dirty="0">
                <a:solidFill>
                  <a:schemeClr val="bg2"/>
                </a:solidFill>
              </a:rPr>
              <a:t>Yards, high roofs and car parks, where ceiling detectors struggle.</a:t>
            </a:r>
            <a:endParaRPr lang="en-US" sz="1300" dirty="0"/>
          </a:p>
        </p:txBody>
      </p:sp>
      <p:sp>
        <p:nvSpPr>
          <p:cNvPr id="14" name="Heading"/>
          <p:cNvSpPr txBox="1"/>
          <p:nvPr/>
        </p:nvSpPr>
        <p:spPr>
          <a:xfrm>
            <a:off x="812902" y="4681728"/>
            <a:ext cx="5536692" cy="292608"/>
          </a:xfrm>
          <a:prstGeom prst="rect">
            <a:avLst/>
          </a:prstGeom>
          <a:noFill/>
          <a:ln/>
        </p:spPr>
        <p:txBody>
          <a:bodyPr wrap="square" lIns="0" tIns="0" rIns="0" bIns="0" rtlCol="0" anchor="t"/>
          <a:lstStyle/>
          <a:p>
            <a:pPr algn="l" indent="0" marL="0">
              <a:buNone/>
            </a:pPr>
            <a:r>
              <a:rPr lang="en-US" sz="1600" b="1" dirty="0">
                <a:solidFill>
                  <a:schemeClr val="bg1"/>
                </a:solidFill>
              </a:rPr>
              <a:t>Works with your alarm</a:t>
            </a:r>
            <a:endParaRPr lang="en-US" sz="1600" dirty="0"/>
          </a:p>
        </p:txBody>
      </p:sp>
      <p:sp>
        <p:nvSpPr>
          <p:cNvPr id="15" name="Body"/>
          <p:cNvSpPr txBox="1"/>
          <p:nvPr/>
        </p:nvSpPr>
        <p:spPr>
          <a:xfrm>
            <a:off x="812902" y="4992624"/>
            <a:ext cx="5536692" cy="310896"/>
          </a:xfrm>
          <a:prstGeom prst="rect">
            <a:avLst/>
          </a:prstGeom>
          <a:noFill/>
          <a:ln/>
        </p:spPr>
        <p:txBody>
          <a:bodyPr wrap="square" lIns="0" tIns="0" rIns="0" bIns="0" rtlCol="0" anchor="t"/>
          <a:lstStyle/>
          <a:p>
            <a:pPr algn="l" indent="0" marL="0">
              <a:buNone/>
            </a:pPr>
            <a:r>
              <a:rPr lang="en-US" sz="1300" dirty="0">
                <a:solidFill>
                  <a:schemeClr val="bg2"/>
                </a:solidFill>
              </a:rPr>
              <a:t>An extra early warning, never a replacement for a certified system.</a:t>
            </a:r>
            <a:endParaRPr lang="en-US" sz="1300" dirty="0"/>
          </a:p>
        </p:txBody>
      </p:sp>
      <p:sp>
        <p:nvSpPr>
          <p:cNvPr id="16" name="Body"/>
          <p:cNvSpPr txBox="1"/>
          <p:nvPr/>
        </p:nvSpPr>
        <p:spPr>
          <a:xfrm>
            <a:off x="812902" y="5431536"/>
            <a:ext cx="5536692" cy="457200"/>
          </a:xfrm>
          <a:prstGeom prst="rect">
            <a:avLst/>
          </a:prstGeom>
          <a:noFill/>
          <a:ln/>
        </p:spPr>
        <p:txBody>
          <a:bodyPr wrap="square" lIns="0" tIns="0" rIns="0" bIns="0" rtlCol="0" anchor="t"/>
          <a:lstStyle/>
          <a:p>
            <a:pPr algn="l" indent="0" marL="0">
              <a:buNone/>
            </a:pPr>
            <a:r>
              <a:rPr lang="en-US" sz="1300" b="1" dirty="0">
                <a:solidFill>
                  <a:schemeClr val="bg1"/>
                </a:solidFill>
              </a:rPr>
              <a:t xml:space="preserve">Good to know: </a:t>
            </a:r>
            <a:r>
              <a:rPr lang="en-US" sz="1300" dirty="0">
                <a:solidFill>
                  <a:schemeClr val="bg2"/>
                </a:solidFill>
              </a:rPr>
              <a:t>steam, fog and dust can look like smoke. We set thresholds on your site during the pilot.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erson down">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PERSON DOWN &amp; ACTIVITY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Measured from the body, not guessed.</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pic>
        <p:nvPicPr>
          <p:cNvPr id="5" name="pose-picture" descr="Body points drawn on tracked people in a street video"/>
          <p:cNvPicPr>
            <a:picLocks noChangeAspect="1"/>
          </p:cNvPicPr>
          <p:nvPr/>
        </p:nvPicPr>
        <p:blipFill>
          <a:blip r:embed="rId2"/>
          <a:stretch>
            <a:fillRect/>
          </a:stretch>
        </p:blipFill>
        <p:spPr>
          <a:xfrm>
            <a:off x="812902" y="2103120"/>
            <a:ext cx="4572000" cy="3320878"/>
          </a:xfrm>
          <a:prstGeom prst="rect">
            <a:avLst/>
          </a:prstGeom>
        </p:spPr>
      </p:pic>
      <p:sp>
        <p:nvSpPr>
          <p:cNvPr id="6" name="Caption"/>
          <p:cNvSpPr txBox="1"/>
          <p:nvPr/>
        </p:nvSpPr>
        <p:spPr>
          <a:xfrm>
            <a:off x="812902" y="5515438"/>
            <a:ext cx="4572000" cy="219456"/>
          </a:xfrm>
          <a:prstGeom prst="rect">
            <a:avLst/>
          </a:prstGeom>
          <a:noFill/>
          <a:ln/>
        </p:spPr>
        <p:txBody>
          <a:bodyPr wrap="square" lIns="0" tIns="0" rIns="0" bIns="0" rtlCol="0" anchor="t"/>
          <a:lstStyle/>
          <a:p>
            <a:pPr algn="l" indent="0" marL="0">
              <a:buNone/>
            </a:pPr>
            <a:r>
              <a:rPr lang="en-US" sz="1200" spc="100" kern="0" dirty="0">
                <a:solidFill>
                  <a:srgbClr val="7E8BA6"/>
                </a:solidFill>
                <a:latin typeface="Consolas" pitchFamily="34" charset="0"/>
                <a:ea typeface="Consolas" pitchFamily="34" charset="-122"/>
                <a:cs typeface="Consolas" pitchFamily="34" charset="-120"/>
              </a:rPr>
              <a:t>Real output: 17 body points per person</a:t>
            </a:r>
            <a:endParaRPr lang="en-US" sz="1200" dirty="0"/>
          </a:p>
        </p:txBody>
      </p:sp>
      <p:sp>
        <p:nvSpPr>
          <p:cNvPr id="7" name="Heading"/>
          <p:cNvSpPr txBox="1"/>
          <p:nvPr/>
        </p:nvSpPr>
        <p:spPr>
          <a:xfrm>
            <a:off x="5796382" y="2103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Person down</a:t>
            </a:r>
            <a:endParaRPr lang="en-US" sz="1600" dirty="0"/>
          </a:p>
        </p:txBody>
      </p:sp>
      <p:sp>
        <p:nvSpPr>
          <p:cNvPr id="8" name="Body"/>
          <p:cNvSpPr txBox="1"/>
          <p:nvPr/>
        </p:nvSpPr>
        <p:spPr>
          <a:xfrm>
            <a:off x="5796382" y="2432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An alert when someone stays lying for 10 s, with a snapshot.</a:t>
            </a:r>
            <a:endParaRPr lang="en-US" sz="1300" dirty="0"/>
          </a:p>
        </p:txBody>
      </p:sp>
      <p:sp>
        <p:nvSpPr>
          <p:cNvPr id="9" name="Heading"/>
          <p:cNvSpPr txBox="1"/>
          <p:nvPr/>
        </p:nvSpPr>
        <p:spPr>
          <a:xfrm>
            <a:off x="8724748" y="2103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Hands up</a:t>
            </a:r>
            <a:endParaRPr lang="en-US" sz="1600" dirty="0"/>
          </a:p>
        </p:txBody>
      </p:sp>
      <p:sp>
        <p:nvSpPr>
          <p:cNvPr id="10" name="Body"/>
          <p:cNvSpPr txBox="1"/>
          <p:nvPr/>
        </p:nvSpPr>
        <p:spPr>
          <a:xfrm>
            <a:off x="8724748" y="2432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Both hands above the head for 3 s, at a till or a desk.</a:t>
            </a:r>
            <a:endParaRPr lang="en-US" sz="1300" dirty="0"/>
          </a:p>
        </p:txBody>
      </p:sp>
      <p:sp>
        <p:nvSpPr>
          <p:cNvPr id="11" name="Heading"/>
          <p:cNvSpPr txBox="1"/>
          <p:nvPr/>
        </p:nvSpPr>
        <p:spPr>
          <a:xfrm>
            <a:off x="5796382" y="3246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Posture history</a:t>
            </a:r>
            <a:endParaRPr lang="en-US" sz="1600" dirty="0"/>
          </a:p>
        </p:txBody>
      </p:sp>
      <p:sp>
        <p:nvSpPr>
          <p:cNvPr id="12" name="Body"/>
          <p:cNvSpPr txBox="1"/>
          <p:nvPr/>
        </p:nvSpPr>
        <p:spPr>
          <a:xfrm>
            <a:off x="5796382" y="3575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Seconds standing, sitting, crouching or lying, per person and visit.</a:t>
            </a:r>
            <a:endParaRPr lang="en-US" sz="1300" dirty="0"/>
          </a:p>
        </p:txBody>
      </p:sp>
      <p:sp>
        <p:nvSpPr>
          <p:cNvPr id="13" name="Heading"/>
          <p:cNvSpPr txBox="1"/>
          <p:nvPr/>
        </p:nvSpPr>
        <p:spPr>
          <a:xfrm>
            <a:off x="8724748" y="3246120"/>
            <a:ext cx="2654046" cy="292608"/>
          </a:xfrm>
          <a:prstGeom prst="rect">
            <a:avLst/>
          </a:prstGeom>
          <a:noFill/>
          <a:ln/>
        </p:spPr>
        <p:txBody>
          <a:bodyPr wrap="square" lIns="0" tIns="0" rIns="0" bIns="0" rtlCol="0" anchor="t"/>
          <a:lstStyle/>
          <a:p>
            <a:pPr algn="l" indent="0" marL="0">
              <a:buNone/>
            </a:pPr>
            <a:r>
              <a:rPr lang="en-US" sz="1600" b="1" dirty="0">
                <a:solidFill>
                  <a:schemeClr val="bg1"/>
                </a:solidFill>
              </a:rPr>
              <a:t>What they wore</a:t>
            </a:r>
            <a:endParaRPr lang="en-US" sz="1600" dirty="0"/>
          </a:p>
        </p:txBody>
      </p:sp>
      <p:sp>
        <p:nvSpPr>
          <p:cNvPr id="14" name="Body"/>
          <p:cNvSpPr txBox="1"/>
          <p:nvPr/>
        </p:nvSpPr>
        <p:spPr>
          <a:xfrm>
            <a:off x="8724748" y="3575304"/>
            <a:ext cx="2654046" cy="731520"/>
          </a:xfrm>
          <a:prstGeom prst="rect">
            <a:avLst/>
          </a:prstGeom>
          <a:noFill/>
          <a:ln/>
        </p:spPr>
        <p:txBody>
          <a:bodyPr wrap="square" lIns="0" tIns="0" rIns="0" bIns="0" rtlCol="0" anchor="t"/>
          <a:lstStyle/>
          <a:p>
            <a:pPr algn="l" indent="0" marL="0">
              <a:buNone/>
            </a:pPr>
            <a:r>
              <a:rPr lang="en-US" sz="1300" dirty="0">
                <a:solidFill>
                  <a:schemeClr val="bg2"/>
                </a:solidFill>
              </a:rPr>
              <a:t>Colour of the top and the trousers. "A red top and blue jeans?"</a:t>
            </a:r>
            <a:endParaRPr lang="en-US" sz="1300" dirty="0"/>
          </a:p>
        </p:txBody>
      </p:sp>
      <p:sp>
        <p:nvSpPr>
          <p:cNvPr id="15" name="Body"/>
          <p:cNvSpPr txBox="1"/>
          <p:nvPr/>
        </p:nvSpPr>
        <p:spPr>
          <a:xfrm>
            <a:off x="5796382" y="4526280"/>
            <a:ext cx="5582412" cy="914400"/>
          </a:xfrm>
          <a:prstGeom prst="rect">
            <a:avLst/>
          </a:prstGeom>
          <a:noFill/>
          <a:ln/>
        </p:spPr>
        <p:txBody>
          <a:bodyPr wrap="square" lIns="0" tIns="0" rIns="0" bIns="0" rtlCol="0" anchor="t"/>
          <a:lstStyle/>
          <a:p>
            <a:pPr algn="l" indent="0" marL="0">
              <a:buNone/>
            </a:pPr>
            <a:r>
              <a:rPr lang="en-US" sz="1300" b="1" dirty="0">
                <a:solidFill>
                  <a:schemeClr val="bg1"/>
                </a:solidFill>
              </a:rPr>
              <a:t xml:space="preserve">Honest limits: </a:t>
            </a:r>
            <a:r>
              <a:rPr lang="en-US" sz="1300" dirty="0">
                <a:solidFill>
                  <a:schemeClr val="bg2"/>
                </a:solidFill>
              </a:rPr>
              <a:t>people must be at least 80 px tall, and colours are lost on infrared at night. Person-down is tested on staged falls at your site before it goes live.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Use cases">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BEYOND THE FIRST FOUR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Same system, more jobs.</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Big stat"/>
          <p:cNvSpPr txBox="1"/>
          <p:nvPr/>
        </p:nvSpPr>
        <p:spPr>
          <a:xfrm>
            <a:off x="812902" y="2029968"/>
            <a:ext cx="4206240" cy="914400"/>
          </a:xfrm>
          <a:prstGeom prst="rect">
            <a:avLst/>
          </a:prstGeom>
          <a:noFill/>
          <a:ln/>
        </p:spPr>
        <p:txBody>
          <a:bodyPr wrap="square" lIns="0" tIns="0" rIns="0" bIns="0" rtlCol="0" anchor="t"/>
          <a:lstStyle/>
          <a:p>
            <a:pPr algn="l" indent="0" marL="0">
              <a:buNone/>
            </a:pPr>
            <a:r>
              <a:rPr lang="en-US" sz="6000" b="1" dirty="0">
                <a:solidFill>
                  <a:schemeClr val="accent2"/>
                </a:solidFill>
              </a:rPr>
              <a:t>28</a:t>
            </a:r>
            <a:r>
              <a:rPr lang="en-US" sz="3200" b="1" dirty="0">
                <a:solidFill>
                  <a:schemeClr val="bg1"/>
                </a:solidFill>
              </a:rPr>
              <a:t xml:space="preserve"> of 37</a:t>
            </a:r>
            <a:endParaRPr lang="en-US" sz="6000" dirty="0"/>
          </a:p>
        </p:txBody>
      </p:sp>
      <p:sp>
        <p:nvSpPr>
          <p:cNvPr id="6" name="Body"/>
          <p:cNvSpPr txBox="1"/>
          <p:nvPr/>
        </p:nvSpPr>
        <p:spPr>
          <a:xfrm>
            <a:off x="812902" y="3017520"/>
            <a:ext cx="4206240" cy="457200"/>
          </a:xfrm>
          <a:prstGeom prst="rect">
            <a:avLst/>
          </a:prstGeom>
          <a:noFill/>
          <a:ln/>
        </p:spPr>
        <p:txBody>
          <a:bodyPr wrap="square" lIns="0" tIns="0" rIns="0" bIns="0" rtlCol="0" anchor="t"/>
          <a:lstStyle/>
          <a:p>
            <a:pPr algn="l" indent="0" marL="0">
              <a:buNone/>
            </a:pPr>
            <a:r>
              <a:rPr lang="en-US" sz="1400" dirty="0">
                <a:solidFill>
                  <a:schemeClr val="bg2"/>
                </a:solidFill>
              </a:rPr>
              <a:t>ideas in our Use-Case Catalog are ready to deploy today.</a:t>
            </a:r>
            <a:endParaRPr lang="en-US" sz="1400" dirty="0"/>
          </a:p>
        </p:txBody>
      </p:sp>
      <p:sp>
        <p:nvSpPr>
          <p:cNvPr id="7" name="Stat number"/>
          <p:cNvSpPr txBox="1"/>
          <p:nvPr/>
        </p:nvSpPr>
        <p:spPr>
          <a:xfrm>
            <a:off x="812902" y="3703320"/>
            <a:ext cx="685800" cy="384048"/>
          </a:xfrm>
          <a:prstGeom prst="rect">
            <a:avLst/>
          </a:prstGeom>
          <a:noFill/>
          <a:ln/>
        </p:spPr>
        <p:txBody>
          <a:bodyPr wrap="square" lIns="0" tIns="0" rIns="0" bIns="0" rtlCol="0" anchor="ctr"/>
          <a:lstStyle/>
          <a:p>
            <a:pPr algn="l" indent="0" marL="0">
              <a:buNone/>
            </a:pPr>
            <a:r>
              <a:rPr lang="en-US" sz="2400" b="1" dirty="0">
                <a:solidFill>
                  <a:schemeClr val="bg1"/>
                </a:solidFill>
              </a:rPr>
              <a:t>11</a:t>
            </a:r>
            <a:endParaRPr lang="en-US" sz="2400" dirty="0"/>
          </a:p>
        </p:txBody>
      </p:sp>
      <p:sp>
        <p:nvSpPr>
          <p:cNvPr id="8" name="Stat label"/>
          <p:cNvSpPr txBox="1"/>
          <p:nvPr/>
        </p:nvSpPr>
        <p:spPr>
          <a:xfrm>
            <a:off x="1544422" y="3703320"/>
            <a:ext cx="3474720" cy="384048"/>
          </a:xfrm>
          <a:prstGeom prst="rect">
            <a:avLst/>
          </a:prstGeom>
          <a:noFill/>
          <a:ln/>
        </p:spPr>
        <p:txBody>
          <a:bodyPr wrap="square" lIns="0" tIns="0" rIns="0" bIns="0" rtlCol="0" anchor="ctr"/>
          <a:lstStyle/>
          <a:p>
            <a:pPr algn="l" indent="0" marL="0">
              <a:buNone/>
            </a:pPr>
            <a:r>
              <a:rPr lang="en-US" sz="1300" dirty="0">
                <a:solidFill>
                  <a:schemeClr val="bg2"/>
                </a:solidFill>
              </a:rPr>
              <a:t>Ready out of the box</a:t>
            </a:r>
            <a:endParaRPr lang="en-US" sz="1300" dirty="0"/>
          </a:p>
        </p:txBody>
      </p:sp>
      <p:sp>
        <p:nvSpPr>
          <p:cNvPr id="9" name="Stat number"/>
          <p:cNvSpPr txBox="1"/>
          <p:nvPr/>
        </p:nvSpPr>
        <p:spPr>
          <a:xfrm>
            <a:off x="812902" y="4178808"/>
            <a:ext cx="685800" cy="384048"/>
          </a:xfrm>
          <a:prstGeom prst="rect">
            <a:avLst/>
          </a:prstGeom>
          <a:noFill/>
          <a:ln/>
        </p:spPr>
        <p:txBody>
          <a:bodyPr wrap="square" lIns="0" tIns="0" rIns="0" bIns="0" rtlCol="0" anchor="ctr"/>
          <a:lstStyle/>
          <a:p>
            <a:pPr algn="l" indent="0" marL="0">
              <a:buNone/>
            </a:pPr>
            <a:r>
              <a:rPr lang="en-US" sz="2400" b="1" dirty="0">
                <a:solidFill>
                  <a:schemeClr val="bg1"/>
                </a:solidFill>
              </a:rPr>
              <a:t>17</a:t>
            </a:r>
            <a:endParaRPr lang="en-US" sz="2400" dirty="0"/>
          </a:p>
        </p:txBody>
      </p:sp>
      <p:sp>
        <p:nvSpPr>
          <p:cNvPr id="10" name="Stat label"/>
          <p:cNvSpPr txBox="1"/>
          <p:nvPr/>
        </p:nvSpPr>
        <p:spPr>
          <a:xfrm>
            <a:off x="1544422" y="4178808"/>
            <a:ext cx="3474720" cy="384048"/>
          </a:xfrm>
          <a:prstGeom prst="rect">
            <a:avLst/>
          </a:prstGeom>
          <a:noFill/>
          <a:ln/>
        </p:spPr>
        <p:txBody>
          <a:bodyPr wrap="square" lIns="0" tIns="0" rIns="0" bIns="0" rtlCol="0" anchor="ctr"/>
          <a:lstStyle/>
          <a:p>
            <a:pPr algn="l" indent="0" marL="0">
              <a:buNone/>
            </a:pPr>
            <a:r>
              <a:rPr lang="en-US" sz="1300" dirty="0">
                <a:solidFill>
                  <a:schemeClr val="bg2"/>
                </a:solidFill>
              </a:rPr>
              <a:t>Ready, set up on site</a:t>
            </a:r>
            <a:endParaRPr lang="en-US" sz="1300" dirty="0"/>
          </a:p>
        </p:txBody>
      </p:sp>
      <p:sp>
        <p:nvSpPr>
          <p:cNvPr id="11" name="Stat number"/>
          <p:cNvSpPr txBox="1"/>
          <p:nvPr/>
        </p:nvSpPr>
        <p:spPr>
          <a:xfrm>
            <a:off x="812902" y="4654296"/>
            <a:ext cx="685800" cy="384048"/>
          </a:xfrm>
          <a:prstGeom prst="rect">
            <a:avLst/>
          </a:prstGeom>
          <a:noFill/>
          <a:ln/>
        </p:spPr>
        <p:txBody>
          <a:bodyPr wrap="square" lIns="0" tIns="0" rIns="0" bIns="0" rtlCol="0" anchor="ctr"/>
          <a:lstStyle/>
          <a:p>
            <a:pPr algn="l" indent="0" marL="0">
              <a:buNone/>
            </a:pPr>
            <a:r>
              <a:rPr lang="en-US" sz="2400" b="1" dirty="0">
                <a:solidFill>
                  <a:schemeClr val="bg1"/>
                </a:solidFill>
              </a:rPr>
              <a:t>9</a:t>
            </a:r>
            <a:endParaRPr lang="en-US" sz="2400" dirty="0"/>
          </a:p>
        </p:txBody>
      </p:sp>
      <p:sp>
        <p:nvSpPr>
          <p:cNvPr id="12" name="Stat label"/>
          <p:cNvSpPr txBox="1"/>
          <p:nvPr/>
        </p:nvSpPr>
        <p:spPr>
          <a:xfrm>
            <a:off x="1544422" y="4654296"/>
            <a:ext cx="3474720" cy="384048"/>
          </a:xfrm>
          <a:prstGeom prst="rect">
            <a:avLst/>
          </a:prstGeom>
          <a:noFill/>
          <a:ln/>
        </p:spPr>
        <p:txBody>
          <a:bodyPr wrap="square" lIns="0" tIns="0" rIns="0" bIns="0" rtlCol="0" anchor="ctr"/>
          <a:lstStyle/>
          <a:p>
            <a:pPr algn="l" indent="0" marL="0">
              <a:buNone/>
            </a:pPr>
            <a:r>
              <a:rPr lang="en-US" sz="1300" dirty="0">
                <a:solidFill>
                  <a:schemeClr val="bg2"/>
                </a:solidFill>
              </a:rPr>
              <a:t>In research: tested on your footage first</a:t>
            </a:r>
            <a:endParaRPr lang="en-US" sz="1300" dirty="0"/>
          </a:p>
        </p:txBody>
      </p:sp>
      <p:sp>
        <p:nvSpPr>
          <p:cNvPr id="13" name="Catalog note"/>
          <p:cNvSpPr txBox="1"/>
          <p:nvPr/>
        </p:nvSpPr>
        <p:spPr>
          <a:xfrm>
            <a:off x="812902" y="5257800"/>
            <a:ext cx="4206240" cy="457200"/>
          </a:xfrm>
          <a:prstGeom prst="rect">
            <a:avLst/>
          </a:prstGeom>
          <a:noFill/>
          <a:ln/>
        </p:spPr>
        <p:txBody>
          <a:bodyPr wrap="square" lIns="0" tIns="0" rIns="0" bIns="0" rtlCol="0" anchor="t"/>
          <a:lstStyle/>
          <a:p>
            <a:pPr algn="l" indent="0" marL="0">
              <a:buNone/>
            </a:pPr>
            <a:r>
              <a:rPr lang="en-US" sz="1300" i="1" dirty="0">
                <a:solidFill>
                  <a:schemeClr val="bg2"/>
                </a:solidFill>
              </a:rPr>
              <a:t>Ask for the catalog: every idea with its readiness rating.</a:t>
            </a:r>
            <a:endParaRPr lang="en-US" sz="1300" dirty="0"/>
          </a:p>
        </p:txBody>
      </p:sp>
      <p:sp>
        <p:nvSpPr>
          <p:cNvPr id="14" name="Safety circle"/>
          <p:cNvSpPr/>
          <p:nvPr/>
        </p:nvSpPr>
        <p:spPr>
          <a:xfrm>
            <a:off x="5567782" y="2103120"/>
            <a:ext cx="457200" cy="457200"/>
          </a:xfrm>
          <a:prstGeom prst="ellipse">
            <a:avLst/>
          </a:prstGeom>
          <a:solidFill>
            <a:schemeClr val="accent3"/>
          </a:solidFill>
          <a:ln w="19050">
            <a:solidFill>
              <a:schemeClr val="accent2"/>
            </a:solidFill>
            <a:prstDash val="solid"/>
          </a:ln>
        </p:spPr>
        <p:txBody>
          <a:bodyPr/>
          <a:lstStyle/>
          <a:p>
            <a:endParaRPr lang="en-US" dirty="0"/>
          </a:p>
        </p:txBody>
      </p:sp>
      <p:pic>
        <p:nvPicPr>
          <p:cNvPr id="15" name="Safety icon" descr="shield icon"/>
          <p:cNvPicPr>
            <a:picLocks noChangeAspect="1"/>
          </p:cNvPicPr>
          <p:nvPr/>
        </p:nvPicPr>
        <p:blipFill>
          <a:blip r:embed="rId2"/>
          <a:stretch>
            <a:fillRect/>
          </a:stretch>
        </p:blipFill>
        <p:spPr>
          <a:xfrm>
            <a:off x="5668366" y="2203704"/>
            <a:ext cx="256032" cy="256032"/>
          </a:xfrm>
          <a:prstGeom prst="rect">
            <a:avLst/>
          </a:prstGeom>
        </p:spPr>
      </p:pic>
      <p:sp>
        <p:nvSpPr>
          <p:cNvPr id="16" name="Heading"/>
          <p:cNvSpPr txBox="1"/>
          <p:nvPr/>
        </p:nvSpPr>
        <p:spPr>
          <a:xfrm>
            <a:off x="6253582" y="2084832"/>
            <a:ext cx="5125212" cy="256032"/>
          </a:xfrm>
          <a:prstGeom prst="rect">
            <a:avLst/>
          </a:prstGeom>
          <a:noFill/>
          <a:ln/>
        </p:spPr>
        <p:txBody>
          <a:bodyPr wrap="square" lIns="0" tIns="0" rIns="0" bIns="0" rtlCol="0" anchor="t"/>
          <a:lstStyle/>
          <a:p>
            <a:pPr algn="l" indent="0" marL="0">
              <a:buNone/>
            </a:pPr>
            <a:r>
              <a:rPr lang="en-US" sz="1500" b="1" dirty="0">
                <a:solidFill>
                  <a:schemeClr val="bg1"/>
                </a:solidFill>
              </a:rPr>
              <a:t>Safety</a:t>
            </a:r>
            <a:endParaRPr lang="en-US" sz="1500" dirty="0"/>
          </a:p>
        </p:txBody>
      </p:sp>
      <p:sp>
        <p:nvSpPr>
          <p:cNvPr id="17" name="Body"/>
          <p:cNvSpPr txBox="1"/>
          <p:nvPr/>
        </p:nvSpPr>
        <p:spPr>
          <a:xfrm>
            <a:off x="6253582" y="2359152"/>
            <a:ext cx="5125212" cy="274320"/>
          </a:xfrm>
          <a:prstGeom prst="rect">
            <a:avLst/>
          </a:prstGeom>
          <a:noFill/>
          <a:ln/>
        </p:spPr>
        <p:txBody>
          <a:bodyPr wrap="square" lIns="0" tIns="0" rIns="0" bIns="0" rtlCol="0" anchor="t"/>
          <a:lstStyle/>
          <a:p>
            <a:pPr algn="l" indent="0" marL="0">
              <a:buNone/>
            </a:pPr>
            <a:r>
              <a:rPr lang="en-US" sz="1300" dirty="0">
                <a:solidFill>
                  <a:schemeClr val="bg2"/>
                </a:solidFill>
              </a:rPr>
              <a:t>Fall detection, loitering, left bags and packages, crowd size.</a:t>
            </a:r>
            <a:endParaRPr lang="en-US" sz="1300" dirty="0"/>
          </a:p>
        </p:txBody>
      </p:sp>
      <p:sp>
        <p:nvSpPr>
          <p:cNvPr id="18" name="Workplace circle"/>
          <p:cNvSpPr/>
          <p:nvPr/>
        </p:nvSpPr>
        <p:spPr>
          <a:xfrm>
            <a:off x="5567782" y="2798064"/>
            <a:ext cx="457200" cy="457200"/>
          </a:xfrm>
          <a:prstGeom prst="ellipse">
            <a:avLst/>
          </a:prstGeom>
          <a:solidFill>
            <a:schemeClr val="accent3"/>
          </a:solidFill>
          <a:ln w="19050">
            <a:solidFill>
              <a:schemeClr val="accent2"/>
            </a:solidFill>
            <a:prstDash val="solid"/>
          </a:ln>
        </p:spPr>
        <p:txBody>
          <a:bodyPr/>
          <a:lstStyle/>
          <a:p>
            <a:endParaRPr lang="en-US" dirty="0"/>
          </a:p>
        </p:txBody>
      </p:sp>
      <p:pic>
        <p:nvPicPr>
          <p:cNvPr id="19" name="Workplace icon" descr="hat icon"/>
          <p:cNvPicPr>
            <a:picLocks noChangeAspect="1"/>
          </p:cNvPicPr>
          <p:nvPr/>
        </p:nvPicPr>
        <p:blipFill>
          <a:blip r:embed="rId3"/>
          <a:stretch>
            <a:fillRect/>
          </a:stretch>
        </p:blipFill>
        <p:spPr>
          <a:xfrm>
            <a:off x="5668366" y="2898648"/>
            <a:ext cx="256032" cy="256032"/>
          </a:xfrm>
          <a:prstGeom prst="rect">
            <a:avLst/>
          </a:prstGeom>
        </p:spPr>
      </p:pic>
      <p:sp>
        <p:nvSpPr>
          <p:cNvPr id="20" name="Heading"/>
          <p:cNvSpPr txBox="1"/>
          <p:nvPr/>
        </p:nvSpPr>
        <p:spPr>
          <a:xfrm>
            <a:off x="6253582" y="2779776"/>
            <a:ext cx="5125212" cy="256032"/>
          </a:xfrm>
          <a:prstGeom prst="rect">
            <a:avLst/>
          </a:prstGeom>
          <a:noFill/>
          <a:ln/>
        </p:spPr>
        <p:txBody>
          <a:bodyPr wrap="square" lIns="0" tIns="0" rIns="0" bIns="0" rtlCol="0" anchor="t"/>
          <a:lstStyle/>
          <a:p>
            <a:pPr algn="l" indent="0" marL="0">
              <a:buNone/>
            </a:pPr>
            <a:r>
              <a:rPr lang="en-US" sz="1500" b="1" dirty="0">
                <a:solidFill>
                  <a:schemeClr val="bg1"/>
                </a:solidFill>
              </a:rPr>
              <a:t>Workplace</a:t>
            </a:r>
            <a:endParaRPr lang="en-US" sz="1500" dirty="0"/>
          </a:p>
        </p:txBody>
      </p:sp>
      <p:sp>
        <p:nvSpPr>
          <p:cNvPr id="21" name="Body"/>
          <p:cNvSpPr txBox="1"/>
          <p:nvPr/>
        </p:nvSpPr>
        <p:spPr>
          <a:xfrm>
            <a:off x="6253582" y="3054096"/>
            <a:ext cx="5125212" cy="274320"/>
          </a:xfrm>
          <a:prstGeom prst="rect">
            <a:avLst/>
          </a:prstGeom>
          <a:noFill/>
          <a:ln/>
        </p:spPr>
        <p:txBody>
          <a:bodyPr wrap="square" lIns="0" tIns="0" rIns="0" bIns="0" rtlCol="0" anchor="t"/>
          <a:lstStyle/>
          <a:p>
            <a:pPr algn="l" indent="0" marL="0">
              <a:buNone/>
            </a:pPr>
            <a:r>
              <a:rPr lang="en-US" sz="1300" dirty="0">
                <a:solidFill>
                  <a:schemeClr val="bg2"/>
                </a:solidFill>
              </a:rPr>
              <a:t>Hard-hat and safety-vest checks, no-go zones around machines.</a:t>
            </a:r>
            <a:endParaRPr lang="en-US" sz="1300" dirty="0"/>
          </a:p>
        </p:txBody>
      </p:sp>
      <p:sp>
        <p:nvSpPr>
          <p:cNvPr id="22" name="Retail circle"/>
          <p:cNvSpPr/>
          <p:nvPr/>
        </p:nvSpPr>
        <p:spPr>
          <a:xfrm>
            <a:off x="5567782" y="3493008"/>
            <a:ext cx="457200" cy="457200"/>
          </a:xfrm>
          <a:prstGeom prst="ellipse">
            <a:avLst/>
          </a:prstGeom>
          <a:solidFill>
            <a:schemeClr val="accent3"/>
          </a:solidFill>
          <a:ln w="19050">
            <a:solidFill>
              <a:schemeClr val="accent2"/>
            </a:solidFill>
            <a:prstDash val="solid"/>
          </a:ln>
        </p:spPr>
        <p:txBody>
          <a:bodyPr/>
          <a:lstStyle/>
          <a:p>
            <a:endParaRPr lang="en-US" dirty="0"/>
          </a:p>
        </p:txBody>
      </p:sp>
      <p:pic>
        <p:nvPicPr>
          <p:cNvPr id="23" name="Retail icon" descr="cart icon"/>
          <p:cNvPicPr>
            <a:picLocks noChangeAspect="1"/>
          </p:cNvPicPr>
          <p:nvPr/>
        </p:nvPicPr>
        <p:blipFill>
          <a:blip r:embed="rId4"/>
          <a:stretch>
            <a:fillRect/>
          </a:stretch>
        </p:blipFill>
        <p:spPr>
          <a:xfrm>
            <a:off x="5668366" y="3593592"/>
            <a:ext cx="256032" cy="256032"/>
          </a:xfrm>
          <a:prstGeom prst="rect">
            <a:avLst/>
          </a:prstGeom>
        </p:spPr>
      </p:pic>
      <p:sp>
        <p:nvSpPr>
          <p:cNvPr id="24" name="Heading"/>
          <p:cNvSpPr txBox="1"/>
          <p:nvPr/>
        </p:nvSpPr>
        <p:spPr>
          <a:xfrm>
            <a:off x="6253582" y="3474720"/>
            <a:ext cx="5125212" cy="256032"/>
          </a:xfrm>
          <a:prstGeom prst="rect">
            <a:avLst/>
          </a:prstGeom>
          <a:noFill/>
          <a:ln/>
        </p:spPr>
        <p:txBody>
          <a:bodyPr wrap="square" lIns="0" tIns="0" rIns="0" bIns="0" rtlCol="0" anchor="t"/>
          <a:lstStyle/>
          <a:p>
            <a:pPr algn="l" indent="0" marL="0">
              <a:buNone/>
            </a:pPr>
            <a:r>
              <a:rPr lang="en-US" sz="1500" b="1" dirty="0">
                <a:solidFill>
                  <a:schemeClr val="bg1"/>
                </a:solidFill>
              </a:rPr>
              <a:t>Retail</a:t>
            </a:r>
            <a:endParaRPr lang="en-US" sz="1500" dirty="0"/>
          </a:p>
        </p:txBody>
      </p:sp>
      <p:sp>
        <p:nvSpPr>
          <p:cNvPr id="25" name="Body"/>
          <p:cNvSpPr txBox="1"/>
          <p:nvPr/>
        </p:nvSpPr>
        <p:spPr>
          <a:xfrm>
            <a:off x="6253582" y="3749040"/>
            <a:ext cx="5125212" cy="274320"/>
          </a:xfrm>
          <a:prstGeom prst="rect">
            <a:avLst/>
          </a:prstGeom>
          <a:noFill/>
          <a:ln/>
        </p:spPr>
        <p:txBody>
          <a:bodyPr wrap="square" lIns="0" tIns="0" rIns="0" bIns="0" rtlCol="0" anchor="t"/>
          <a:lstStyle/>
          <a:p>
            <a:pPr algn="l" indent="0" marL="0">
              <a:buNone/>
            </a:pPr>
            <a:r>
              <a:rPr lang="en-US" sz="1300" dirty="0">
                <a:solidFill>
                  <a:schemeClr val="bg2"/>
                </a:solidFill>
              </a:rPr>
              <a:t>People counting, queue length, empty-shelf alerts.</a:t>
            </a:r>
            <a:endParaRPr lang="en-US" sz="1300" dirty="0"/>
          </a:p>
        </p:txBody>
      </p:sp>
      <p:sp>
        <p:nvSpPr>
          <p:cNvPr id="26" name="Traffic &amp; parking circle"/>
          <p:cNvSpPr/>
          <p:nvPr/>
        </p:nvSpPr>
        <p:spPr>
          <a:xfrm>
            <a:off x="5567782" y="4187952"/>
            <a:ext cx="457200" cy="457200"/>
          </a:xfrm>
          <a:prstGeom prst="ellipse">
            <a:avLst/>
          </a:prstGeom>
          <a:solidFill>
            <a:schemeClr val="accent3"/>
          </a:solidFill>
          <a:ln w="19050">
            <a:solidFill>
              <a:schemeClr val="accent2"/>
            </a:solidFill>
            <a:prstDash val="solid"/>
          </a:ln>
        </p:spPr>
        <p:txBody>
          <a:bodyPr/>
          <a:lstStyle/>
          <a:p>
            <a:endParaRPr lang="en-US" dirty="0"/>
          </a:p>
        </p:txBody>
      </p:sp>
      <p:pic>
        <p:nvPicPr>
          <p:cNvPr id="27" name="Traffic &amp; parking icon" descr="car icon"/>
          <p:cNvPicPr>
            <a:picLocks noChangeAspect="1"/>
          </p:cNvPicPr>
          <p:nvPr/>
        </p:nvPicPr>
        <p:blipFill>
          <a:blip r:embed="rId5"/>
          <a:stretch>
            <a:fillRect/>
          </a:stretch>
        </p:blipFill>
        <p:spPr>
          <a:xfrm>
            <a:off x="5668366" y="4288536"/>
            <a:ext cx="256032" cy="256032"/>
          </a:xfrm>
          <a:prstGeom prst="rect">
            <a:avLst/>
          </a:prstGeom>
        </p:spPr>
      </p:pic>
      <p:sp>
        <p:nvSpPr>
          <p:cNvPr id="28" name="Heading"/>
          <p:cNvSpPr txBox="1"/>
          <p:nvPr/>
        </p:nvSpPr>
        <p:spPr>
          <a:xfrm>
            <a:off x="6253582" y="4169664"/>
            <a:ext cx="5125212" cy="256032"/>
          </a:xfrm>
          <a:prstGeom prst="rect">
            <a:avLst/>
          </a:prstGeom>
          <a:noFill/>
          <a:ln/>
        </p:spPr>
        <p:txBody>
          <a:bodyPr wrap="square" lIns="0" tIns="0" rIns="0" bIns="0" rtlCol="0" anchor="t"/>
          <a:lstStyle/>
          <a:p>
            <a:pPr algn="l" indent="0" marL="0">
              <a:buNone/>
            </a:pPr>
            <a:r>
              <a:rPr lang="en-US" sz="1500" b="1" dirty="0">
                <a:solidFill>
                  <a:schemeClr val="bg1"/>
                </a:solidFill>
              </a:rPr>
              <a:t>Traffic &amp; parking</a:t>
            </a:r>
            <a:endParaRPr lang="en-US" sz="1500" dirty="0"/>
          </a:p>
        </p:txBody>
      </p:sp>
      <p:sp>
        <p:nvSpPr>
          <p:cNvPr id="29" name="Body"/>
          <p:cNvSpPr txBox="1"/>
          <p:nvPr/>
        </p:nvSpPr>
        <p:spPr>
          <a:xfrm>
            <a:off x="6253582" y="4443984"/>
            <a:ext cx="5125212" cy="274320"/>
          </a:xfrm>
          <a:prstGeom prst="rect">
            <a:avLst/>
          </a:prstGeom>
          <a:noFill/>
          <a:ln/>
        </p:spPr>
        <p:txBody>
          <a:bodyPr wrap="square" lIns="0" tIns="0" rIns="0" bIns="0" rtlCol="0" anchor="t"/>
          <a:lstStyle/>
          <a:p>
            <a:pPr algn="l" indent="0" marL="0">
              <a:buNone/>
            </a:pPr>
            <a:r>
              <a:rPr lang="en-US" sz="1300" dirty="0">
                <a:solidFill>
                  <a:schemeClr val="bg2"/>
                </a:solidFill>
              </a:rPr>
              <a:t>Vehicle counting and type, free spaces, helmet checks for riders.</a:t>
            </a:r>
            <a:endParaRPr lang="en-US" sz="1300" dirty="0"/>
          </a:p>
        </p:txBody>
      </p:sp>
      <p:sp>
        <p:nvSpPr>
          <p:cNvPr id="30" name="Outdoor &amp; farms circle"/>
          <p:cNvSpPr/>
          <p:nvPr/>
        </p:nvSpPr>
        <p:spPr>
          <a:xfrm>
            <a:off x="5567782" y="4882896"/>
            <a:ext cx="457200" cy="457200"/>
          </a:xfrm>
          <a:prstGeom prst="ellipse">
            <a:avLst/>
          </a:prstGeom>
          <a:solidFill>
            <a:schemeClr val="accent3"/>
          </a:solidFill>
          <a:ln w="19050">
            <a:solidFill>
              <a:schemeClr val="accent2"/>
            </a:solidFill>
            <a:prstDash val="solid"/>
          </a:ln>
        </p:spPr>
        <p:txBody>
          <a:bodyPr/>
          <a:lstStyle/>
          <a:p>
            <a:endParaRPr lang="en-US" dirty="0"/>
          </a:p>
        </p:txBody>
      </p:sp>
      <p:pic>
        <p:nvPicPr>
          <p:cNvPr id="31" name="Outdoor &amp; farms icon" descr="leaf icon"/>
          <p:cNvPicPr>
            <a:picLocks noChangeAspect="1"/>
          </p:cNvPicPr>
          <p:nvPr/>
        </p:nvPicPr>
        <p:blipFill>
          <a:blip r:embed="rId6"/>
          <a:stretch>
            <a:fillRect/>
          </a:stretch>
        </p:blipFill>
        <p:spPr>
          <a:xfrm>
            <a:off x="5668366" y="4983480"/>
            <a:ext cx="256032" cy="256032"/>
          </a:xfrm>
          <a:prstGeom prst="rect">
            <a:avLst/>
          </a:prstGeom>
        </p:spPr>
      </p:pic>
      <p:sp>
        <p:nvSpPr>
          <p:cNvPr id="32" name="Heading"/>
          <p:cNvSpPr txBox="1"/>
          <p:nvPr/>
        </p:nvSpPr>
        <p:spPr>
          <a:xfrm>
            <a:off x="6253582" y="4864608"/>
            <a:ext cx="5125212" cy="256032"/>
          </a:xfrm>
          <a:prstGeom prst="rect">
            <a:avLst/>
          </a:prstGeom>
          <a:noFill/>
          <a:ln/>
        </p:spPr>
        <p:txBody>
          <a:bodyPr wrap="square" lIns="0" tIns="0" rIns="0" bIns="0" rtlCol="0" anchor="t"/>
          <a:lstStyle/>
          <a:p>
            <a:pPr algn="l" indent="0" marL="0">
              <a:buNone/>
            </a:pPr>
            <a:r>
              <a:rPr lang="en-US" sz="1500" b="1" dirty="0">
                <a:solidFill>
                  <a:schemeClr val="bg1"/>
                </a:solidFill>
              </a:rPr>
              <a:t>Outdoor &amp; farms</a:t>
            </a:r>
            <a:endParaRPr lang="en-US" sz="1500" dirty="0"/>
          </a:p>
        </p:txBody>
      </p:sp>
      <p:sp>
        <p:nvSpPr>
          <p:cNvPr id="33" name="Body"/>
          <p:cNvSpPr txBox="1"/>
          <p:nvPr/>
        </p:nvSpPr>
        <p:spPr>
          <a:xfrm>
            <a:off x="6253582" y="5138928"/>
            <a:ext cx="5125212" cy="274320"/>
          </a:xfrm>
          <a:prstGeom prst="rect">
            <a:avLst/>
          </a:prstGeom>
          <a:noFill/>
          <a:ln/>
        </p:spPr>
        <p:txBody>
          <a:bodyPr wrap="square" lIns="0" tIns="0" rIns="0" bIns="0" rtlCol="0" anchor="t"/>
          <a:lstStyle/>
          <a:p>
            <a:pPr algn="l" indent="0" marL="0">
              <a:buNone/>
            </a:pPr>
            <a:r>
              <a:rPr lang="en-US" sz="1300" dirty="0">
                <a:solidFill>
                  <a:schemeClr val="bg2"/>
                </a:solidFill>
              </a:rPr>
              <a:t>Animal intrusion, flood-level watch, illegal dumping.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IT team">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FOR YOUR IT TEAM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Plugs into what you already have.</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Your cameras circle"/>
          <p:cNvSpPr/>
          <p:nvPr/>
        </p:nvSpPr>
        <p:spPr>
          <a:xfrm>
            <a:off x="812902" y="2103120"/>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6" name="Your cameras icon" descr="camera icon"/>
          <p:cNvPicPr>
            <a:picLocks noChangeAspect="1"/>
          </p:cNvPicPr>
          <p:nvPr/>
        </p:nvPicPr>
        <p:blipFill>
          <a:blip r:embed="rId2"/>
          <a:stretch>
            <a:fillRect/>
          </a:stretch>
        </p:blipFill>
        <p:spPr>
          <a:xfrm>
            <a:off x="917509" y="2207727"/>
            <a:ext cx="266273" cy="266273"/>
          </a:xfrm>
          <a:prstGeom prst="rect">
            <a:avLst/>
          </a:prstGeom>
        </p:spPr>
      </p:pic>
      <p:sp>
        <p:nvSpPr>
          <p:cNvPr id="7" name="Heading"/>
          <p:cNvSpPr txBox="1"/>
          <p:nvPr/>
        </p:nvSpPr>
        <p:spPr>
          <a:xfrm>
            <a:off x="1544422" y="2084832"/>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Your cameras</a:t>
            </a:r>
            <a:endParaRPr lang="en-US" sz="1700" dirty="0"/>
          </a:p>
        </p:txBody>
      </p:sp>
      <p:sp>
        <p:nvSpPr>
          <p:cNvPr id="8" name="Body"/>
          <p:cNvSpPr txBox="1"/>
          <p:nvPr/>
        </p:nvSpPr>
        <p:spPr>
          <a:xfrm>
            <a:off x="1544422" y="2395728"/>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Hikvision, Dahua, Reolink, Uniview, Axis or any RTSP camera, found on the network over ONVIF.</a:t>
            </a:r>
            <a:endParaRPr lang="en-US" sz="1300" dirty="0"/>
          </a:p>
        </p:txBody>
      </p:sp>
      <p:sp>
        <p:nvSpPr>
          <p:cNvPr id="9" name="CPU first circle"/>
          <p:cNvSpPr/>
          <p:nvPr/>
        </p:nvSpPr>
        <p:spPr>
          <a:xfrm>
            <a:off x="812902" y="2990088"/>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0" name="CPU first icon" descr="cpu icon"/>
          <p:cNvPicPr>
            <a:picLocks noChangeAspect="1"/>
          </p:cNvPicPr>
          <p:nvPr/>
        </p:nvPicPr>
        <p:blipFill>
          <a:blip r:embed="rId3"/>
          <a:stretch>
            <a:fillRect/>
          </a:stretch>
        </p:blipFill>
        <p:spPr>
          <a:xfrm>
            <a:off x="917509" y="3094695"/>
            <a:ext cx="266273" cy="266273"/>
          </a:xfrm>
          <a:prstGeom prst="rect">
            <a:avLst/>
          </a:prstGeom>
        </p:spPr>
      </p:pic>
      <p:sp>
        <p:nvSpPr>
          <p:cNvPr id="11" name="Heading"/>
          <p:cNvSpPr txBox="1"/>
          <p:nvPr/>
        </p:nvSpPr>
        <p:spPr>
          <a:xfrm>
            <a:off x="1544422" y="2971800"/>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CPU first</a:t>
            </a:r>
            <a:endParaRPr lang="en-US" sz="1700" dirty="0"/>
          </a:p>
        </p:txBody>
      </p:sp>
      <p:sp>
        <p:nvSpPr>
          <p:cNvPr id="12" name="Body"/>
          <p:cNvSpPr txBox="1"/>
          <p:nvPr/>
        </p:nvSpPr>
        <p:spPr>
          <a:xfrm>
            <a:off x="1544422" y="3282696"/>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A standard Linux or Windows server. Add an NVIDIA GPU later for many cameras or heavier models.</a:t>
            </a:r>
            <a:endParaRPr lang="en-US" sz="1300" dirty="0"/>
          </a:p>
        </p:txBody>
      </p:sp>
      <p:sp>
        <p:nvSpPr>
          <p:cNvPr id="13" name="One config per site circle"/>
          <p:cNvSpPr/>
          <p:nvPr/>
        </p:nvSpPr>
        <p:spPr>
          <a:xfrm>
            <a:off x="812902" y="3877056"/>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4" name="One config per site icon" descr="grid icon"/>
          <p:cNvPicPr>
            <a:picLocks noChangeAspect="1"/>
          </p:cNvPicPr>
          <p:nvPr/>
        </p:nvPicPr>
        <p:blipFill>
          <a:blip r:embed="rId4"/>
          <a:stretch>
            <a:fillRect/>
          </a:stretch>
        </p:blipFill>
        <p:spPr>
          <a:xfrm>
            <a:off x="917509" y="3981663"/>
            <a:ext cx="266273" cy="266273"/>
          </a:xfrm>
          <a:prstGeom prst="rect">
            <a:avLst/>
          </a:prstGeom>
        </p:spPr>
      </p:pic>
      <p:sp>
        <p:nvSpPr>
          <p:cNvPr id="15" name="Heading"/>
          <p:cNvSpPr txBox="1"/>
          <p:nvPr/>
        </p:nvSpPr>
        <p:spPr>
          <a:xfrm>
            <a:off x="1544422" y="3858768"/>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One config per site</a:t>
            </a:r>
            <a:endParaRPr lang="en-US" sz="1700" dirty="0"/>
          </a:p>
        </p:txBody>
      </p:sp>
      <p:sp>
        <p:nvSpPr>
          <p:cNvPr id="16" name="Body"/>
          <p:cNvSpPr txBox="1"/>
          <p:nvPr/>
        </p:nvSpPr>
        <p:spPr>
          <a:xfrm>
            <a:off x="1544422" y="4169664"/>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Cameras, zones, lines and thresholds in one simple file, drawn in a visual editor.</a:t>
            </a:r>
            <a:endParaRPr lang="en-US" sz="1300" dirty="0"/>
          </a:p>
        </p:txBody>
      </p:sp>
      <p:sp>
        <p:nvSpPr>
          <p:cNvPr id="17" name="Built to keep running circle"/>
          <p:cNvSpPr/>
          <p:nvPr/>
        </p:nvSpPr>
        <p:spPr>
          <a:xfrm>
            <a:off x="812902" y="4764024"/>
            <a:ext cx="475488" cy="475488"/>
          </a:xfrm>
          <a:prstGeom prst="ellipse">
            <a:avLst/>
          </a:prstGeom>
          <a:solidFill>
            <a:schemeClr val="accent3"/>
          </a:solidFill>
          <a:ln w="19050">
            <a:solidFill>
              <a:schemeClr val="accent2"/>
            </a:solidFill>
            <a:prstDash val="solid"/>
          </a:ln>
        </p:spPr>
        <p:txBody>
          <a:bodyPr/>
          <a:lstStyle/>
          <a:p>
            <a:endParaRPr lang="en-US" dirty="0"/>
          </a:p>
        </p:txBody>
      </p:sp>
      <p:pic>
        <p:nvPicPr>
          <p:cNvPr id="18" name="Built to keep running icon" descr="server icon"/>
          <p:cNvPicPr>
            <a:picLocks noChangeAspect="1"/>
          </p:cNvPicPr>
          <p:nvPr/>
        </p:nvPicPr>
        <p:blipFill>
          <a:blip r:embed="rId5"/>
          <a:stretch>
            <a:fillRect/>
          </a:stretch>
        </p:blipFill>
        <p:spPr>
          <a:xfrm>
            <a:off x="917509" y="4868631"/>
            <a:ext cx="266273" cy="266273"/>
          </a:xfrm>
          <a:prstGeom prst="rect">
            <a:avLst/>
          </a:prstGeom>
        </p:spPr>
      </p:pic>
      <p:sp>
        <p:nvSpPr>
          <p:cNvPr id="19" name="Heading"/>
          <p:cNvSpPr txBox="1"/>
          <p:nvPr/>
        </p:nvSpPr>
        <p:spPr>
          <a:xfrm>
            <a:off x="1544422" y="4745736"/>
            <a:ext cx="4754880" cy="292608"/>
          </a:xfrm>
          <a:prstGeom prst="rect">
            <a:avLst/>
          </a:prstGeom>
          <a:noFill/>
          <a:ln/>
        </p:spPr>
        <p:txBody>
          <a:bodyPr wrap="square" lIns="0" tIns="0" rIns="0" bIns="0" rtlCol="0" anchor="t"/>
          <a:lstStyle/>
          <a:p>
            <a:pPr algn="l" indent="0" marL="0">
              <a:buNone/>
            </a:pPr>
            <a:r>
              <a:rPr lang="en-US" sz="1700" b="1" dirty="0">
                <a:solidFill>
                  <a:schemeClr val="bg1"/>
                </a:solidFill>
              </a:rPr>
              <a:t>Built to keep running</a:t>
            </a:r>
            <a:endParaRPr lang="en-US" sz="1700" dirty="0"/>
          </a:p>
        </p:txBody>
      </p:sp>
      <p:sp>
        <p:nvSpPr>
          <p:cNvPr id="20" name="Body"/>
          <p:cNvSpPr txBox="1"/>
          <p:nvPr/>
        </p:nvSpPr>
        <p:spPr>
          <a:xfrm>
            <a:off x="1544422" y="5056632"/>
            <a:ext cx="4754880" cy="502920"/>
          </a:xfrm>
          <a:prstGeom prst="rect">
            <a:avLst/>
          </a:prstGeom>
          <a:noFill/>
          <a:ln/>
        </p:spPr>
        <p:txBody>
          <a:bodyPr wrap="square" lIns="0" tIns="0" rIns="0" bIns="0" rtlCol="0" anchor="t"/>
          <a:lstStyle/>
          <a:p>
            <a:pPr algn="l" indent="0" marL="0">
              <a:buNone/>
            </a:pPr>
            <a:r>
              <a:rPr lang="en-US" sz="1300" dirty="0">
                <a:solidFill>
                  <a:schemeClr val="bg2"/>
                </a:solidFill>
              </a:rPr>
              <a:t>Cameras reconnect on their own, old frames are skipped so alerts never lag, and each object keeps its ID.</a:t>
            </a:r>
            <a:endParaRPr lang="en-US" sz="1300" dirty="0"/>
          </a:p>
        </p:txBody>
      </p:sp>
      <p:sp>
        <p:nvSpPr>
          <p:cNvPr id="21" name="event card"/>
          <p:cNvSpPr/>
          <p:nvPr/>
        </p:nvSpPr>
        <p:spPr>
          <a:xfrm>
            <a:off x="6802222" y="2103120"/>
            <a:ext cx="4576572" cy="233172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22" name="Label"/>
          <p:cNvSpPr txBox="1"/>
          <p:nvPr/>
        </p:nvSpPr>
        <p:spPr>
          <a:xfrm>
            <a:off x="7076542" y="2331720"/>
            <a:ext cx="4027932" cy="219456"/>
          </a:xfrm>
          <a:prstGeom prst="rect">
            <a:avLst/>
          </a:prstGeom>
          <a:noFill/>
          <a:ln/>
        </p:spPr>
        <p:txBody>
          <a:bodyPr wrap="square" lIns="0" tIns="0" rIns="0" bIns="0" rtlCol="0" anchor="t"/>
          <a:lstStyle/>
          <a:p>
            <a:pPr algn="l" indent="0" marL="0">
              <a:buNone/>
            </a:pPr>
            <a:r>
              <a:rPr lang="en-US" sz="1100" spc="100" kern="0" dirty="0">
                <a:solidFill>
                  <a:schemeClr val="accent2"/>
                </a:solidFill>
                <a:latin typeface="Consolas" pitchFamily="34" charset="0"/>
                <a:ea typeface="Consolas" pitchFamily="34" charset="-122"/>
                <a:cs typeface="Consolas" pitchFamily="34" charset="-120"/>
              </a:rPr>
              <a:t>CLEAR EVENTS, NOT RAW VIDEO</a:t>
            </a:r>
            <a:endParaRPr lang="en-US" sz="1100" dirty="0"/>
          </a:p>
        </p:txBody>
      </p:sp>
      <p:sp>
        <p:nvSpPr>
          <p:cNvPr id="23" name="JSON event"/>
          <p:cNvSpPr txBox="1"/>
          <p:nvPr/>
        </p:nvSpPr>
        <p:spPr>
          <a:xfrm>
            <a:off x="7076542" y="2670048"/>
            <a:ext cx="4027932" cy="1600200"/>
          </a:xfrm>
          <a:prstGeom prst="rect">
            <a:avLst/>
          </a:prstGeom>
          <a:noFill/>
          <a:ln/>
        </p:spPr>
        <p:txBody>
          <a:bodyPr wrap="square" lIns="0" tIns="0" rIns="0" bIns="0" rtlCol="0" anchor="t"/>
          <a:lstStyle/>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"type": "cross",</a:t>
            </a:r>
            <a:endParaRPr lang="en-US" sz="1300" dirty="0"/>
          </a:p>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xml:space="preserve">  "rule": "gate_line",</a:t>
            </a:r>
            <a:endParaRPr lang="en-US" sz="1300" dirty="0"/>
          </a:p>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xml:space="preserve">  "direction": "in",</a:t>
            </a:r>
            <a:endParaRPr lang="en-US" sz="1300" dirty="0"/>
          </a:p>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xml:space="preserve">  "label": "person",</a:t>
            </a:r>
            <a:endParaRPr lang="en-US" sz="1300" dirty="0"/>
          </a:p>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xml:space="preserve">  "camera": "gate",</a:t>
            </a:r>
            <a:endParaRPr lang="en-US" sz="1300" dirty="0"/>
          </a:p>
          <a:p>
            <a:pPr algn="l" indent="0" marL="0">
              <a:spcAft>
                <a:spcPts val="200"/>
              </a:spcAft>
              <a:buNone/>
            </a:pPr>
            <a:r>
              <a:rPr lang="en-US" sz="1300" dirty="0">
                <a:solidFill>
                  <a:srgbClr val="C7D3EA"/>
                </a:solidFill>
                <a:latin typeface="Consolas" pitchFamily="34" charset="0"/>
                <a:ea typeface="Consolas" pitchFamily="34" charset="-122"/>
                <a:cs typeface="Consolas" pitchFamily="34" charset="-120"/>
              </a:rPr>
              <a:t xml:space="preserve">  "time": "2026-10-02T02:14:07" }</a:t>
            </a:r>
            <a:endParaRPr lang="en-US" sz="1300" dirty="0"/>
          </a:p>
        </p:txBody>
      </p:sp>
      <p:sp>
        <p:nvSpPr>
          <p:cNvPr id="24" name="Body"/>
          <p:cNvSpPr txBox="1"/>
          <p:nvPr/>
        </p:nvSpPr>
        <p:spPr>
          <a:xfrm>
            <a:off x="6802222" y="4663440"/>
            <a:ext cx="4576572" cy="822960"/>
          </a:xfrm>
          <a:prstGeom prst="rect">
            <a:avLst/>
          </a:prstGeom>
          <a:noFill/>
          <a:ln/>
        </p:spPr>
        <p:txBody>
          <a:bodyPr wrap="square" lIns="0" tIns="0" rIns="0" bIns="0" rtlCol="0" anchor="t"/>
          <a:lstStyle/>
          <a:p>
            <a:pPr algn="l" indent="0" marL="0">
              <a:buNone/>
            </a:pPr>
            <a:r>
              <a:rPr lang="en-US" sz="1300" dirty="0">
                <a:solidFill>
                  <a:schemeClr val="bg2"/>
                </a:solidFill>
              </a:rPr>
              <a:t>Every event is plain JSON with a snapshot: easy to send to your dashboard, database or security system.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Why Histor">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WHY HISTOR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Keep your cameras. Add the intelligence.</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Keep your cameras card"/>
          <p:cNvSpPr/>
          <p:nvPr/>
        </p:nvSpPr>
        <p:spPr>
          <a:xfrm>
            <a:off x="812902" y="2103120"/>
            <a:ext cx="1930298" cy="251460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6" name="Keep your cameras circle"/>
          <p:cNvSpPr/>
          <p:nvPr/>
        </p:nvSpPr>
        <p:spPr>
          <a:xfrm>
            <a:off x="1041502" y="2359152"/>
            <a:ext cx="502920" cy="502920"/>
          </a:xfrm>
          <a:prstGeom prst="ellipse">
            <a:avLst/>
          </a:prstGeom>
          <a:solidFill>
            <a:schemeClr val="accent3"/>
          </a:solidFill>
          <a:ln w="19050">
            <a:solidFill>
              <a:schemeClr val="accent2"/>
            </a:solidFill>
            <a:prstDash val="solid"/>
          </a:ln>
        </p:spPr>
        <p:txBody>
          <a:bodyPr/>
          <a:lstStyle/>
          <a:p>
            <a:endParaRPr lang="en-US" dirty="0"/>
          </a:p>
        </p:txBody>
      </p:sp>
      <p:pic>
        <p:nvPicPr>
          <p:cNvPr id="7" name="Keep your cameras icon" descr="camera icon"/>
          <p:cNvPicPr>
            <a:picLocks noChangeAspect="1"/>
          </p:cNvPicPr>
          <p:nvPr/>
        </p:nvPicPr>
        <p:blipFill>
          <a:blip r:embed="rId2"/>
          <a:stretch>
            <a:fillRect/>
          </a:stretch>
        </p:blipFill>
        <p:spPr>
          <a:xfrm>
            <a:off x="1152144" y="2469794"/>
            <a:ext cx="281635" cy="281635"/>
          </a:xfrm>
          <a:prstGeom prst="rect">
            <a:avLst/>
          </a:prstGeom>
        </p:spPr>
      </p:pic>
      <p:sp>
        <p:nvSpPr>
          <p:cNvPr id="8" name="Heading"/>
          <p:cNvSpPr txBox="1"/>
          <p:nvPr/>
        </p:nvSpPr>
        <p:spPr>
          <a:xfrm>
            <a:off x="1041502" y="3063240"/>
            <a:ext cx="1518818" cy="502920"/>
          </a:xfrm>
          <a:prstGeom prst="rect">
            <a:avLst/>
          </a:prstGeom>
          <a:noFill/>
          <a:ln/>
        </p:spPr>
        <p:txBody>
          <a:bodyPr wrap="square" lIns="0" tIns="0" rIns="0" bIns="0" rtlCol="0" anchor="t"/>
          <a:lstStyle/>
          <a:p>
            <a:pPr algn="l" indent="0" marL="0">
              <a:buNone/>
            </a:pPr>
            <a:r>
              <a:rPr lang="en-US" sz="1600" b="1" dirty="0">
                <a:solidFill>
                  <a:schemeClr val="bg1"/>
                </a:solidFill>
              </a:rPr>
              <a:t>Keep your cameras</a:t>
            </a:r>
            <a:endParaRPr lang="en-US" sz="1600" dirty="0"/>
          </a:p>
        </p:txBody>
      </p:sp>
      <p:sp>
        <p:nvSpPr>
          <p:cNvPr id="9" name="Body"/>
          <p:cNvSpPr txBox="1"/>
          <p:nvPr/>
        </p:nvSpPr>
        <p:spPr>
          <a:xfrm>
            <a:off x="1041502" y="3639312"/>
            <a:ext cx="1518818" cy="868680"/>
          </a:xfrm>
          <a:prstGeom prst="rect">
            <a:avLst/>
          </a:prstGeom>
          <a:noFill/>
          <a:ln/>
        </p:spPr>
        <p:txBody>
          <a:bodyPr wrap="square" lIns="0" tIns="0" rIns="0" bIns="0" rtlCol="0" anchor="t"/>
          <a:lstStyle/>
          <a:p>
            <a:pPr algn="l" indent="0" marL="0">
              <a:buNone/>
            </a:pPr>
            <a:r>
              <a:rPr lang="en-US" sz="1300" dirty="0">
                <a:solidFill>
                  <a:schemeClr val="bg2"/>
                </a:solidFill>
              </a:rPr>
              <a:t>No rip-and-replace: it works with the cameras you own.</a:t>
            </a:r>
            <a:endParaRPr lang="en-US" sz="1300" dirty="0"/>
          </a:p>
        </p:txBody>
      </p:sp>
      <p:sp>
        <p:nvSpPr>
          <p:cNvPr id="10" name="No special hardware card"/>
          <p:cNvSpPr/>
          <p:nvPr/>
        </p:nvSpPr>
        <p:spPr>
          <a:xfrm>
            <a:off x="2971800" y="2103120"/>
            <a:ext cx="1930298" cy="251460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11" name="No special hardware circle"/>
          <p:cNvSpPr/>
          <p:nvPr/>
        </p:nvSpPr>
        <p:spPr>
          <a:xfrm>
            <a:off x="3200400" y="2359152"/>
            <a:ext cx="502920" cy="502920"/>
          </a:xfrm>
          <a:prstGeom prst="ellipse">
            <a:avLst/>
          </a:prstGeom>
          <a:solidFill>
            <a:schemeClr val="accent3"/>
          </a:solidFill>
          <a:ln w="19050">
            <a:solidFill>
              <a:schemeClr val="accent2"/>
            </a:solidFill>
            <a:prstDash val="solid"/>
          </a:ln>
        </p:spPr>
        <p:txBody>
          <a:bodyPr/>
          <a:lstStyle/>
          <a:p>
            <a:endParaRPr lang="en-US" dirty="0"/>
          </a:p>
        </p:txBody>
      </p:sp>
      <p:pic>
        <p:nvPicPr>
          <p:cNvPr id="12" name="No special hardware icon" descr="server icon"/>
          <p:cNvPicPr>
            <a:picLocks noChangeAspect="1"/>
          </p:cNvPicPr>
          <p:nvPr/>
        </p:nvPicPr>
        <p:blipFill>
          <a:blip r:embed="rId3"/>
          <a:stretch>
            <a:fillRect/>
          </a:stretch>
        </p:blipFill>
        <p:spPr>
          <a:xfrm>
            <a:off x="3311042" y="2469794"/>
            <a:ext cx="281635" cy="281635"/>
          </a:xfrm>
          <a:prstGeom prst="rect">
            <a:avLst/>
          </a:prstGeom>
        </p:spPr>
      </p:pic>
      <p:sp>
        <p:nvSpPr>
          <p:cNvPr id="13" name="Heading"/>
          <p:cNvSpPr txBox="1"/>
          <p:nvPr/>
        </p:nvSpPr>
        <p:spPr>
          <a:xfrm>
            <a:off x="3200400" y="3063240"/>
            <a:ext cx="1518818" cy="502920"/>
          </a:xfrm>
          <a:prstGeom prst="rect">
            <a:avLst/>
          </a:prstGeom>
          <a:noFill/>
          <a:ln/>
        </p:spPr>
        <p:txBody>
          <a:bodyPr wrap="square" lIns="0" tIns="0" rIns="0" bIns="0" rtlCol="0" anchor="t"/>
          <a:lstStyle/>
          <a:p>
            <a:pPr algn="l" indent="0" marL="0">
              <a:buNone/>
            </a:pPr>
            <a:r>
              <a:rPr lang="en-US" sz="1600" b="1" dirty="0">
                <a:solidFill>
                  <a:schemeClr val="bg1"/>
                </a:solidFill>
              </a:rPr>
              <a:t>No special hardware</a:t>
            </a:r>
            <a:endParaRPr lang="en-US" sz="1600" dirty="0"/>
          </a:p>
        </p:txBody>
      </p:sp>
      <p:sp>
        <p:nvSpPr>
          <p:cNvPr id="14" name="Body"/>
          <p:cNvSpPr txBox="1"/>
          <p:nvPr/>
        </p:nvSpPr>
        <p:spPr>
          <a:xfrm>
            <a:off x="3200400" y="3639312"/>
            <a:ext cx="1518818" cy="868680"/>
          </a:xfrm>
          <a:prstGeom prst="rect">
            <a:avLst/>
          </a:prstGeom>
          <a:noFill/>
          <a:ln/>
        </p:spPr>
        <p:txBody>
          <a:bodyPr wrap="square" lIns="0" tIns="0" rIns="0" bIns="0" rtlCol="0" anchor="t"/>
          <a:lstStyle/>
          <a:p>
            <a:pPr algn="l" indent="0" marL="0">
              <a:buNone/>
            </a:pPr>
            <a:r>
              <a:rPr lang="en-US" sz="1300" dirty="0">
                <a:solidFill>
                  <a:schemeClr val="bg2"/>
                </a:solidFill>
              </a:rPr>
              <a:t>Runs on a standard server, no graphics card to start.</a:t>
            </a:r>
            <a:endParaRPr lang="en-US" sz="1300" dirty="0"/>
          </a:p>
        </p:txBody>
      </p:sp>
      <p:sp>
        <p:nvSpPr>
          <p:cNvPr id="15" name="Video stays on site card"/>
          <p:cNvSpPr/>
          <p:nvPr/>
        </p:nvSpPr>
        <p:spPr>
          <a:xfrm>
            <a:off x="5130698" y="2103120"/>
            <a:ext cx="1930298" cy="251460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16" name="Video stays on site circle"/>
          <p:cNvSpPr/>
          <p:nvPr/>
        </p:nvSpPr>
        <p:spPr>
          <a:xfrm>
            <a:off x="5359298" y="2359152"/>
            <a:ext cx="502920" cy="502920"/>
          </a:xfrm>
          <a:prstGeom prst="ellipse">
            <a:avLst/>
          </a:prstGeom>
          <a:solidFill>
            <a:schemeClr val="accent3"/>
          </a:solidFill>
          <a:ln w="19050">
            <a:solidFill>
              <a:schemeClr val="accent2"/>
            </a:solidFill>
            <a:prstDash val="solid"/>
          </a:ln>
        </p:spPr>
        <p:txBody>
          <a:bodyPr/>
          <a:lstStyle/>
          <a:p>
            <a:endParaRPr lang="en-US" dirty="0"/>
          </a:p>
        </p:txBody>
      </p:sp>
      <p:pic>
        <p:nvPicPr>
          <p:cNvPr id="17" name="Video stays on site icon" descr="lock icon"/>
          <p:cNvPicPr>
            <a:picLocks noChangeAspect="1"/>
          </p:cNvPicPr>
          <p:nvPr/>
        </p:nvPicPr>
        <p:blipFill>
          <a:blip r:embed="rId4"/>
          <a:stretch>
            <a:fillRect/>
          </a:stretch>
        </p:blipFill>
        <p:spPr>
          <a:xfrm>
            <a:off x="5469941" y="2469794"/>
            <a:ext cx="281635" cy="281635"/>
          </a:xfrm>
          <a:prstGeom prst="rect">
            <a:avLst/>
          </a:prstGeom>
        </p:spPr>
      </p:pic>
      <p:sp>
        <p:nvSpPr>
          <p:cNvPr id="18" name="Heading"/>
          <p:cNvSpPr txBox="1"/>
          <p:nvPr/>
        </p:nvSpPr>
        <p:spPr>
          <a:xfrm>
            <a:off x="5359298" y="3063240"/>
            <a:ext cx="1518818" cy="502920"/>
          </a:xfrm>
          <a:prstGeom prst="rect">
            <a:avLst/>
          </a:prstGeom>
          <a:noFill/>
          <a:ln/>
        </p:spPr>
        <p:txBody>
          <a:bodyPr wrap="square" lIns="0" tIns="0" rIns="0" bIns="0" rtlCol="0" anchor="t"/>
          <a:lstStyle/>
          <a:p>
            <a:pPr algn="l" indent="0" marL="0">
              <a:buNone/>
            </a:pPr>
            <a:r>
              <a:rPr lang="en-US" sz="1600" b="1" dirty="0">
                <a:solidFill>
                  <a:schemeClr val="bg1"/>
                </a:solidFill>
              </a:rPr>
              <a:t>Video stays on site</a:t>
            </a:r>
            <a:endParaRPr lang="en-US" sz="1600" dirty="0"/>
          </a:p>
        </p:txBody>
      </p:sp>
      <p:sp>
        <p:nvSpPr>
          <p:cNvPr id="19" name="Body"/>
          <p:cNvSpPr txBox="1"/>
          <p:nvPr/>
        </p:nvSpPr>
        <p:spPr>
          <a:xfrm>
            <a:off x="5359298" y="3639312"/>
            <a:ext cx="1518818" cy="868680"/>
          </a:xfrm>
          <a:prstGeom prst="rect">
            <a:avLst/>
          </a:prstGeom>
          <a:noFill/>
          <a:ln/>
        </p:spPr>
        <p:txBody>
          <a:bodyPr wrap="square" lIns="0" tIns="0" rIns="0" bIns="0" rtlCol="0" anchor="t"/>
          <a:lstStyle/>
          <a:p>
            <a:pPr algn="l" indent="0" marL="0">
              <a:buNone/>
            </a:pPr>
            <a:r>
              <a:rPr lang="en-US" sz="1300" dirty="0">
                <a:solidFill>
                  <a:schemeClr val="bg2"/>
                </a:solidFill>
              </a:rPr>
              <a:t>Nothing has to leave your building.</a:t>
            </a:r>
            <a:endParaRPr lang="en-US" sz="1300" dirty="0"/>
          </a:p>
        </p:txBody>
      </p:sp>
      <p:sp>
        <p:nvSpPr>
          <p:cNvPr id="20" name="Fewer false alarms card"/>
          <p:cNvSpPr/>
          <p:nvPr/>
        </p:nvSpPr>
        <p:spPr>
          <a:xfrm>
            <a:off x="7289597" y="2103120"/>
            <a:ext cx="1930298" cy="251460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21" name="Fewer false alarms circle"/>
          <p:cNvSpPr/>
          <p:nvPr/>
        </p:nvSpPr>
        <p:spPr>
          <a:xfrm>
            <a:off x="7518197" y="2359152"/>
            <a:ext cx="502920" cy="502920"/>
          </a:xfrm>
          <a:prstGeom prst="ellipse">
            <a:avLst/>
          </a:prstGeom>
          <a:solidFill>
            <a:schemeClr val="accent3"/>
          </a:solidFill>
          <a:ln w="19050">
            <a:solidFill>
              <a:schemeClr val="accent2"/>
            </a:solidFill>
            <a:prstDash val="solid"/>
          </a:ln>
        </p:spPr>
        <p:txBody>
          <a:bodyPr/>
          <a:lstStyle/>
          <a:p>
            <a:endParaRPr lang="en-US" dirty="0"/>
          </a:p>
        </p:txBody>
      </p:sp>
      <p:pic>
        <p:nvPicPr>
          <p:cNvPr id="22" name="Fewer false alarms icon" descr="check icon"/>
          <p:cNvPicPr>
            <a:picLocks noChangeAspect="1"/>
          </p:cNvPicPr>
          <p:nvPr/>
        </p:nvPicPr>
        <p:blipFill>
          <a:blip r:embed="rId5"/>
          <a:stretch>
            <a:fillRect/>
          </a:stretch>
        </p:blipFill>
        <p:spPr>
          <a:xfrm>
            <a:off x="7628839" y="2469794"/>
            <a:ext cx="281635" cy="281635"/>
          </a:xfrm>
          <a:prstGeom prst="rect">
            <a:avLst/>
          </a:prstGeom>
        </p:spPr>
      </p:pic>
      <p:sp>
        <p:nvSpPr>
          <p:cNvPr id="23" name="Heading"/>
          <p:cNvSpPr txBox="1"/>
          <p:nvPr/>
        </p:nvSpPr>
        <p:spPr>
          <a:xfrm>
            <a:off x="7518197" y="3063240"/>
            <a:ext cx="1518818" cy="502920"/>
          </a:xfrm>
          <a:prstGeom prst="rect">
            <a:avLst/>
          </a:prstGeom>
          <a:noFill/>
          <a:ln/>
        </p:spPr>
        <p:txBody>
          <a:bodyPr wrap="square" lIns="0" tIns="0" rIns="0" bIns="0" rtlCol="0" anchor="t"/>
          <a:lstStyle/>
          <a:p>
            <a:pPr algn="l" indent="0" marL="0">
              <a:buNone/>
            </a:pPr>
            <a:r>
              <a:rPr lang="en-US" sz="1600" b="1" dirty="0">
                <a:solidFill>
                  <a:schemeClr val="bg1"/>
                </a:solidFill>
              </a:rPr>
              <a:t>Fewer false alarms</a:t>
            </a:r>
            <a:endParaRPr lang="en-US" sz="1600" dirty="0"/>
          </a:p>
        </p:txBody>
      </p:sp>
      <p:sp>
        <p:nvSpPr>
          <p:cNvPr id="24" name="Body"/>
          <p:cNvSpPr txBox="1"/>
          <p:nvPr/>
        </p:nvSpPr>
        <p:spPr>
          <a:xfrm>
            <a:off x="7518197" y="3639312"/>
            <a:ext cx="1518818" cy="868680"/>
          </a:xfrm>
          <a:prstGeom prst="rect">
            <a:avLst/>
          </a:prstGeom>
          <a:noFill/>
          <a:ln/>
        </p:spPr>
        <p:txBody>
          <a:bodyPr wrap="square" lIns="0" tIns="0" rIns="0" bIns="0" rtlCol="0" anchor="t"/>
          <a:lstStyle/>
          <a:p>
            <a:pPr algn="l" indent="0" marL="0">
              <a:buNone/>
            </a:pPr>
            <a:r>
              <a:rPr lang="en-US" sz="1300" dirty="0">
                <a:solidFill>
                  <a:schemeClr val="bg2"/>
                </a:solidFill>
              </a:rPr>
              <a:t>Rules tuned to your site, and a second look before sending.</a:t>
            </a:r>
            <a:endParaRPr lang="en-US" sz="1300" dirty="0"/>
          </a:p>
        </p:txBody>
      </p:sp>
      <p:sp>
        <p:nvSpPr>
          <p:cNvPr id="25" name="Grows with you card"/>
          <p:cNvSpPr/>
          <p:nvPr/>
        </p:nvSpPr>
        <p:spPr>
          <a:xfrm>
            <a:off x="9448495" y="2103120"/>
            <a:ext cx="1930298" cy="251460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26" name="Grows with you circle"/>
          <p:cNvSpPr/>
          <p:nvPr/>
        </p:nvSpPr>
        <p:spPr>
          <a:xfrm>
            <a:off x="9677095" y="2359152"/>
            <a:ext cx="502920" cy="502920"/>
          </a:xfrm>
          <a:prstGeom prst="ellipse">
            <a:avLst/>
          </a:prstGeom>
          <a:solidFill>
            <a:schemeClr val="accent3"/>
          </a:solidFill>
          <a:ln w="19050">
            <a:solidFill>
              <a:schemeClr val="accent2"/>
            </a:solidFill>
            <a:prstDash val="solid"/>
          </a:ln>
        </p:spPr>
        <p:txBody>
          <a:bodyPr/>
          <a:lstStyle/>
          <a:p>
            <a:endParaRPr lang="en-US" dirty="0"/>
          </a:p>
        </p:txBody>
      </p:sp>
      <p:pic>
        <p:nvPicPr>
          <p:cNvPr id="27" name="Grows with you icon" descr="rocket icon"/>
          <p:cNvPicPr>
            <a:picLocks noChangeAspect="1"/>
          </p:cNvPicPr>
          <p:nvPr/>
        </p:nvPicPr>
        <p:blipFill>
          <a:blip r:embed="rId6"/>
          <a:stretch>
            <a:fillRect/>
          </a:stretch>
        </p:blipFill>
        <p:spPr>
          <a:xfrm>
            <a:off x="9787738" y="2469794"/>
            <a:ext cx="281635" cy="281635"/>
          </a:xfrm>
          <a:prstGeom prst="rect">
            <a:avLst/>
          </a:prstGeom>
        </p:spPr>
      </p:pic>
      <p:sp>
        <p:nvSpPr>
          <p:cNvPr id="28" name="Heading"/>
          <p:cNvSpPr txBox="1"/>
          <p:nvPr/>
        </p:nvSpPr>
        <p:spPr>
          <a:xfrm>
            <a:off x="9677095" y="3063240"/>
            <a:ext cx="1518818" cy="502920"/>
          </a:xfrm>
          <a:prstGeom prst="rect">
            <a:avLst/>
          </a:prstGeom>
          <a:noFill/>
          <a:ln/>
        </p:spPr>
        <p:txBody>
          <a:bodyPr wrap="square" lIns="0" tIns="0" rIns="0" bIns="0" rtlCol="0" anchor="t"/>
          <a:lstStyle/>
          <a:p>
            <a:pPr algn="l" indent="0" marL="0">
              <a:buNone/>
            </a:pPr>
            <a:r>
              <a:rPr lang="en-US" sz="1600" b="1" dirty="0">
                <a:solidFill>
                  <a:schemeClr val="bg1"/>
                </a:solidFill>
              </a:rPr>
              <a:t>Grows with you</a:t>
            </a:r>
            <a:endParaRPr lang="en-US" sz="1600" dirty="0"/>
          </a:p>
        </p:txBody>
      </p:sp>
      <p:sp>
        <p:nvSpPr>
          <p:cNvPr id="29" name="Body"/>
          <p:cNvSpPr txBox="1"/>
          <p:nvPr/>
        </p:nvSpPr>
        <p:spPr>
          <a:xfrm>
            <a:off x="9677095" y="3639312"/>
            <a:ext cx="1518818" cy="868680"/>
          </a:xfrm>
          <a:prstGeom prst="rect">
            <a:avLst/>
          </a:prstGeom>
          <a:noFill/>
          <a:ln/>
        </p:spPr>
        <p:txBody>
          <a:bodyPr wrap="square" lIns="0" tIns="0" rIns="0" bIns="0" rtlCol="0" anchor="t"/>
          <a:lstStyle/>
          <a:p>
            <a:pPr algn="l" indent="0" marL="0">
              <a:buNone/>
            </a:pPr>
            <a:r>
              <a:rPr lang="en-US" sz="1300" dirty="0">
                <a:solidFill>
                  <a:schemeClr val="bg2"/>
                </a:solidFill>
              </a:rPr>
              <a:t>Add cameras, sites and detections any time.</a:t>
            </a:r>
            <a:endParaRPr lang="en-US" sz="1300" dirty="0"/>
          </a:p>
        </p:txBody>
      </p:sp>
      <p:sp>
        <p:nvSpPr>
          <p:cNvPr id="30" name="Label"/>
          <p:cNvSpPr txBox="1"/>
          <p:nvPr/>
        </p:nvSpPr>
        <p:spPr>
          <a:xfrm>
            <a:off x="812902" y="4919472"/>
            <a:ext cx="27432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BUILT FOR</a:t>
            </a:r>
            <a:endParaRPr lang="en-US" sz="1200" dirty="0"/>
          </a:p>
        </p:txBody>
      </p:sp>
      <p:sp>
        <p:nvSpPr>
          <p:cNvPr id="31" name="Warehouses chip"/>
          <p:cNvSpPr/>
          <p:nvPr/>
        </p:nvSpPr>
        <p:spPr>
          <a:xfrm>
            <a:off x="812902" y="5230368"/>
            <a:ext cx="1225296"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Warehouses</a:t>
            </a:r>
            <a:endParaRPr lang="en-US" sz="1200" dirty="0"/>
          </a:p>
        </p:txBody>
      </p:sp>
      <p:sp>
        <p:nvSpPr>
          <p:cNvPr id="32" name="Factories chip"/>
          <p:cNvSpPr/>
          <p:nvPr/>
        </p:nvSpPr>
        <p:spPr>
          <a:xfrm>
            <a:off x="2195344" y="5230368"/>
            <a:ext cx="1141171"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Factories</a:t>
            </a:r>
            <a:endParaRPr lang="en-US" sz="1200" dirty="0"/>
          </a:p>
        </p:txBody>
      </p:sp>
      <p:sp>
        <p:nvSpPr>
          <p:cNvPr id="33" name="Retail chip"/>
          <p:cNvSpPr/>
          <p:nvPr/>
        </p:nvSpPr>
        <p:spPr>
          <a:xfrm>
            <a:off x="3493661" y="5230368"/>
            <a:ext cx="888797"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Retail</a:t>
            </a:r>
            <a:endParaRPr lang="en-US" sz="1200" dirty="0"/>
          </a:p>
        </p:txBody>
      </p:sp>
      <p:sp>
        <p:nvSpPr>
          <p:cNvPr id="34" name="Car parks chip"/>
          <p:cNvSpPr/>
          <p:nvPr/>
        </p:nvSpPr>
        <p:spPr>
          <a:xfrm>
            <a:off x="4539604" y="5230368"/>
            <a:ext cx="1141171"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Car parks</a:t>
            </a:r>
            <a:endParaRPr lang="en-US" sz="1200" dirty="0"/>
          </a:p>
        </p:txBody>
      </p:sp>
      <p:sp>
        <p:nvSpPr>
          <p:cNvPr id="35" name="Schools chip"/>
          <p:cNvSpPr/>
          <p:nvPr/>
        </p:nvSpPr>
        <p:spPr>
          <a:xfrm>
            <a:off x="5837921" y="5230368"/>
            <a:ext cx="972922"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Schools</a:t>
            </a:r>
            <a:endParaRPr lang="en-US" sz="1200" dirty="0"/>
          </a:p>
        </p:txBody>
      </p:sp>
      <p:sp>
        <p:nvSpPr>
          <p:cNvPr id="36" name="Hospitals chip"/>
          <p:cNvSpPr/>
          <p:nvPr/>
        </p:nvSpPr>
        <p:spPr>
          <a:xfrm>
            <a:off x="6967989" y="5230368"/>
            <a:ext cx="1141171"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Hospitals</a:t>
            </a:r>
            <a:endParaRPr lang="en-US" sz="1200" dirty="0"/>
          </a:p>
        </p:txBody>
      </p:sp>
      <p:sp>
        <p:nvSpPr>
          <p:cNvPr id="37" name="Residential compounds chip"/>
          <p:cNvSpPr/>
          <p:nvPr/>
        </p:nvSpPr>
        <p:spPr>
          <a:xfrm>
            <a:off x="8266307" y="5230368"/>
            <a:ext cx="2150669"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Residential compounds</a:t>
            </a:r>
            <a:endParaRPr lang="en-US" sz="1200" dirty="0"/>
          </a:p>
        </p:txBody>
      </p:sp>
      <p:sp>
        <p:nvSpPr>
          <p:cNvPr id="38" name="Farms chip"/>
          <p:cNvSpPr/>
          <p:nvPr/>
        </p:nvSpPr>
        <p:spPr>
          <a:xfrm>
            <a:off x="10574122" y="5230368"/>
            <a:ext cx="804672" cy="365760"/>
          </a:xfrm>
          <a:prstGeom prst="roundRect">
            <a:avLst>
              <a:gd name="adj" fmla="val 50000"/>
            </a:avLst>
          </a:prstGeom>
          <a:solidFill>
            <a:schemeClr val="accent4"/>
          </a:solidFill>
          <a:ln w="9525">
            <a:solidFill>
              <a:schemeClr val="accent5"/>
            </a:solidFill>
            <a:prstDash val="solid"/>
          </a:ln>
        </p:spPr>
        <p:txBody>
          <a:bodyPr wrap="none" lIns="0" tIns="0" rIns="0" bIns="0" rtlCol="0" anchor="ctr"/>
          <a:lstStyle/>
          <a:p>
            <a:pPr algn="ctr" indent="0" marL="0">
              <a:buNone/>
            </a:pPr>
            <a:r>
              <a:rPr lang="en-US" sz="1200" dirty="0">
                <a:solidFill>
                  <a:schemeClr val="bg2"/>
                </a:solidFill>
              </a:rPr>
              <a:t>Farms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ilot">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GETTING STARTED</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Start with a pilot.</a:t>
            </a:r>
            <a:endParaRPr lang="en-US" sz="3600" dirty="0"/>
          </a:p>
        </p:txBody>
      </p:sp>
      <p:sp>
        <p:nvSpPr>
          <p:cNvPr id="4" name="Slide Number Placeholder 0"/>
          <p:cNvSpPr>
            <a:spLocks noGrp="1"/>
          </p:cNvSpPr>
          <p:nvPr>
            <p:ph type="sldNum" sz="quarter" idx="4294967295"/>
          </p:nvPr>
        </p:nvSpPr>
        <p:spPr>
          <a:xfrm>
            <a:off x="10109200" y="6286500"/>
            <a:ext cx="1270000" cy="228600"/>
          </a:xfrm>
          <a:prstGeom prst="rect">
            <a:avLst/>
          </a:prstGeom>
        </p:spPr>
        <p:txBody>
          <a:bodyPr/>
          <a:lstStyle>
            <a:lvl1pPr>
              <a:defRPr sz="1200">
                <a:solidFill>
                  <a:srgbClr val="7E8BA6"/>
                </a:solidFill>
                <a:latin typeface="Consolas"/>
                <a:ea typeface="Consolas"/>
                <a:cs typeface="Consolas"/>
              </a:defRPr>
            </a:lvl1pPr>
          </a:lstStyle>
          <a:p>
            <a:pPr algn="r"/>
            <a:fld id="{F7021451-1387-4CA6-816F-3879F97B5CBC}" type="slidenum">
              <a:rPr b="0" lang="en-US"/>
              <a:t>‹#›</a:t>
            </a:fld>
            <a:endParaRPr lang="en-US"/>
          </a:p>
        </p:txBody>
      </p:sp>
      <p:sp>
        <p:nvSpPr>
          <p:cNvPr id="5" name="Talk card"/>
          <p:cNvSpPr/>
          <p:nvPr/>
        </p:nvSpPr>
        <p:spPr>
          <a:xfrm>
            <a:off x="812902" y="2103120"/>
            <a:ext cx="3156204" cy="178308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6" name="Label"/>
          <p:cNvSpPr txBox="1"/>
          <p:nvPr/>
        </p:nvSpPr>
        <p:spPr>
          <a:xfrm>
            <a:off x="1068934" y="2304288"/>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Heading"/>
          <p:cNvSpPr txBox="1"/>
          <p:nvPr/>
        </p:nvSpPr>
        <p:spPr>
          <a:xfrm>
            <a:off x="1068934" y="2560320"/>
            <a:ext cx="2644140" cy="329184"/>
          </a:xfrm>
          <a:prstGeom prst="rect">
            <a:avLst/>
          </a:prstGeom>
          <a:noFill/>
          <a:ln/>
        </p:spPr>
        <p:txBody>
          <a:bodyPr wrap="square" lIns="0" tIns="0" rIns="0" bIns="0" rtlCol="0" anchor="t"/>
          <a:lstStyle/>
          <a:p>
            <a:pPr algn="l" indent="0" marL="0">
              <a:buNone/>
            </a:pPr>
            <a:r>
              <a:rPr lang="en-US" sz="2000" b="1" dirty="0">
                <a:solidFill>
                  <a:schemeClr val="bg1"/>
                </a:solidFill>
              </a:rPr>
              <a:t>Talk</a:t>
            </a:r>
            <a:endParaRPr lang="en-US" sz="2000" dirty="0"/>
          </a:p>
        </p:txBody>
      </p:sp>
      <p:sp>
        <p:nvSpPr>
          <p:cNvPr id="8" name="Body"/>
          <p:cNvSpPr txBox="1"/>
          <p:nvPr/>
        </p:nvSpPr>
        <p:spPr>
          <a:xfrm>
            <a:off x="1068934" y="2953512"/>
            <a:ext cx="2644140" cy="868680"/>
          </a:xfrm>
          <a:prstGeom prst="rect">
            <a:avLst/>
          </a:prstGeom>
          <a:noFill/>
          <a:ln/>
        </p:spPr>
        <p:txBody>
          <a:bodyPr wrap="square" lIns="0" tIns="0" rIns="0" bIns="0" rtlCol="0" anchor="t"/>
          <a:lstStyle/>
          <a:p>
            <a:pPr algn="l" indent="0" marL="0">
              <a:buNone/>
            </a:pPr>
            <a:r>
              <a:rPr lang="en-US" sz="1300" dirty="0">
                <a:solidFill>
                  <a:schemeClr val="bg2"/>
                </a:solidFill>
              </a:rPr>
              <a:t>We walk your site with you, list the cameras and agree what counts as an alert.</a:t>
            </a:r>
            <a:endParaRPr lang="en-US" sz="1300" dirty="0"/>
          </a:p>
        </p:txBody>
      </p:sp>
      <p:sp>
        <p:nvSpPr>
          <p:cNvPr id="9" name="arrow-01"/>
          <p:cNvSpPr/>
          <p:nvPr/>
        </p:nvSpPr>
        <p:spPr>
          <a:xfrm>
            <a:off x="4060546" y="2994660"/>
            <a:ext cx="365760" cy="0"/>
          </a:xfrm>
          <a:prstGeom prst="line">
            <a:avLst/>
          </a:prstGeom>
          <a:noFill/>
          <a:ln w="38100">
            <a:solidFill>
              <a:schemeClr val="accent1"/>
            </a:solidFill>
            <a:prstDash val="solid"/>
            <a:tailEnd type="triangle"/>
          </a:ln>
        </p:spPr>
      </p:sp>
      <p:sp>
        <p:nvSpPr>
          <p:cNvPr id="10" name="Pilot card"/>
          <p:cNvSpPr/>
          <p:nvPr/>
        </p:nvSpPr>
        <p:spPr>
          <a:xfrm>
            <a:off x="4517746" y="2103120"/>
            <a:ext cx="3156204" cy="1783080"/>
          </a:xfrm>
          <a:prstGeom prst="roundRect">
            <a:avLst>
              <a:gd name="adj" fmla="val 4545"/>
            </a:avLst>
          </a:prstGeom>
          <a:solidFill>
            <a:schemeClr val="accent3"/>
          </a:solidFill>
          <a:ln w="19050">
            <a:solidFill>
              <a:schemeClr val="accent1"/>
            </a:solidFill>
            <a:prstDash val="solid"/>
          </a:ln>
        </p:spPr>
        <p:txBody>
          <a:bodyPr/>
          <a:lstStyle/>
          <a:p>
            <a:endParaRPr lang="en-US" dirty="0"/>
          </a:p>
        </p:txBody>
      </p:sp>
      <p:sp>
        <p:nvSpPr>
          <p:cNvPr id="11" name="Label"/>
          <p:cNvSpPr txBox="1"/>
          <p:nvPr/>
        </p:nvSpPr>
        <p:spPr>
          <a:xfrm>
            <a:off x="4773778" y="2304288"/>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2" name="Heading"/>
          <p:cNvSpPr txBox="1"/>
          <p:nvPr/>
        </p:nvSpPr>
        <p:spPr>
          <a:xfrm>
            <a:off x="4773778" y="2560320"/>
            <a:ext cx="2644140" cy="329184"/>
          </a:xfrm>
          <a:prstGeom prst="rect">
            <a:avLst/>
          </a:prstGeom>
          <a:noFill/>
          <a:ln/>
        </p:spPr>
        <p:txBody>
          <a:bodyPr wrap="square" lIns="0" tIns="0" rIns="0" bIns="0" rtlCol="0" anchor="t"/>
          <a:lstStyle/>
          <a:p>
            <a:pPr algn="l" indent="0" marL="0">
              <a:buNone/>
            </a:pPr>
            <a:r>
              <a:rPr lang="en-US" sz="2000" b="1" dirty="0">
                <a:solidFill>
                  <a:schemeClr val="bg1"/>
                </a:solidFill>
              </a:rPr>
              <a:t>Pilot</a:t>
            </a:r>
            <a:endParaRPr lang="en-US" sz="2000" dirty="0"/>
          </a:p>
        </p:txBody>
      </p:sp>
      <p:sp>
        <p:nvSpPr>
          <p:cNvPr id="13" name="Body"/>
          <p:cNvSpPr txBox="1"/>
          <p:nvPr/>
        </p:nvSpPr>
        <p:spPr>
          <a:xfrm>
            <a:off x="4773778" y="2953512"/>
            <a:ext cx="2644140" cy="868680"/>
          </a:xfrm>
          <a:prstGeom prst="rect">
            <a:avLst/>
          </a:prstGeom>
          <a:noFill/>
          <a:ln/>
        </p:spPr>
        <p:txBody>
          <a:bodyPr wrap="square" lIns="0" tIns="0" rIns="0" bIns="0" rtlCol="0" anchor="t"/>
          <a:lstStyle/>
          <a:p>
            <a:pPr algn="l" indent="0" marL="0">
              <a:buNone/>
            </a:pPr>
            <a:r>
              <a:rPr lang="en-US" sz="1300" dirty="0">
                <a:solidFill>
                  <a:schemeClr val="bg2"/>
                </a:solidFill>
              </a:rPr>
              <a:t>A few cameras on your real footage. We count hits and false alarms together.</a:t>
            </a:r>
            <a:endParaRPr lang="en-US" sz="1300" dirty="0"/>
          </a:p>
        </p:txBody>
      </p:sp>
      <p:sp>
        <p:nvSpPr>
          <p:cNvPr id="14" name="arrow-02"/>
          <p:cNvSpPr/>
          <p:nvPr/>
        </p:nvSpPr>
        <p:spPr>
          <a:xfrm>
            <a:off x="7765390" y="2994660"/>
            <a:ext cx="365760" cy="0"/>
          </a:xfrm>
          <a:prstGeom prst="line">
            <a:avLst/>
          </a:prstGeom>
          <a:noFill/>
          <a:ln w="38100">
            <a:solidFill>
              <a:schemeClr val="accent1"/>
            </a:solidFill>
            <a:prstDash val="solid"/>
            <a:tailEnd type="triangle"/>
          </a:ln>
        </p:spPr>
      </p:sp>
      <p:sp>
        <p:nvSpPr>
          <p:cNvPr id="15" name="Roll out card"/>
          <p:cNvSpPr/>
          <p:nvPr/>
        </p:nvSpPr>
        <p:spPr>
          <a:xfrm>
            <a:off x="8222590" y="2103120"/>
            <a:ext cx="3156204" cy="1783080"/>
          </a:xfrm>
          <a:prstGeom prst="roundRect">
            <a:avLst>
              <a:gd name="adj" fmla="val 4545"/>
            </a:avLst>
          </a:prstGeom>
          <a:solidFill>
            <a:schemeClr val="accent4"/>
          </a:solidFill>
          <a:ln w="9525">
            <a:solidFill>
              <a:schemeClr val="accent5"/>
            </a:solidFill>
            <a:prstDash val="solid"/>
          </a:ln>
        </p:spPr>
        <p:txBody>
          <a:bodyPr/>
          <a:lstStyle/>
          <a:p>
            <a:endParaRPr lang="en-US" dirty="0"/>
          </a:p>
        </p:txBody>
      </p:sp>
      <p:sp>
        <p:nvSpPr>
          <p:cNvPr id="16" name="Label"/>
          <p:cNvSpPr txBox="1"/>
          <p:nvPr/>
        </p:nvSpPr>
        <p:spPr>
          <a:xfrm>
            <a:off x="8478622" y="2304288"/>
            <a:ext cx="914400"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7" name="Heading"/>
          <p:cNvSpPr txBox="1"/>
          <p:nvPr/>
        </p:nvSpPr>
        <p:spPr>
          <a:xfrm>
            <a:off x="8478622" y="2560320"/>
            <a:ext cx="2644140" cy="329184"/>
          </a:xfrm>
          <a:prstGeom prst="rect">
            <a:avLst/>
          </a:prstGeom>
          <a:noFill/>
          <a:ln/>
        </p:spPr>
        <p:txBody>
          <a:bodyPr wrap="square" lIns="0" tIns="0" rIns="0" bIns="0" rtlCol="0" anchor="t"/>
          <a:lstStyle/>
          <a:p>
            <a:pPr algn="l" indent="0" marL="0">
              <a:buNone/>
            </a:pPr>
            <a:r>
              <a:rPr lang="en-US" sz="2000" b="1" dirty="0">
                <a:solidFill>
                  <a:schemeClr val="bg1"/>
                </a:solidFill>
              </a:rPr>
              <a:t>Roll out</a:t>
            </a:r>
            <a:endParaRPr lang="en-US" sz="2000" dirty="0"/>
          </a:p>
        </p:txBody>
      </p:sp>
      <p:sp>
        <p:nvSpPr>
          <p:cNvPr id="18" name="Body"/>
          <p:cNvSpPr txBox="1"/>
          <p:nvPr/>
        </p:nvSpPr>
        <p:spPr>
          <a:xfrm>
            <a:off x="8478622" y="2953512"/>
            <a:ext cx="2644140" cy="868680"/>
          </a:xfrm>
          <a:prstGeom prst="rect">
            <a:avLst/>
          </a:prstGeom>
          <a:noFill/>
          <a:ln/>
        </p:spPr>
        <p:txBody>
          <a:bodyPr wrap="square" lIns="0" tIns="0" rIns="0" bIns="0" rtlCol="0" anchor="t"/>
          <a:lstStyle/>
          <a:p>
            <a:pPr algn="l" indent="0" marL="0">
              <a:buNone/>
            </a:pPr>
            <a:r>
              <a:rPr lang="en-US" sz="1300" dirty="0">
                <a:solidFill>
                  <a:schemeClr val="bg2"/>
                </a:solidFill>
              </a:rPr>
              <a:t>Add cameras, sites and new detections as you need them, on the same system.</a:t>
            </a:r>
            <a:endParaRPr lang="en-US" sz="1300" dirty="0"/>
          </a:p>
        </p:txBody>
      </p:sp>
      <p:sp>
        <p:nvSpPr>
          <p:cNvPr id="19" name="Label"/>
          <p:cNvSpPr txBox="1"/>
          <p:nvPr/>
        </p:nvSpPr>
        <p:spPr>
          <a:xfrm>
            <a:off x="812902" y="4178808"/>
            <a:ext cx="5008626"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WHAT THE PILOT GIVES YOU</a:t>
            </a:r>
            <a:endParaRPr lang="en-US" sz="1200" dirty="0"/>
          </a:p>
        </p:txBody>
      </p:sp>
      <p:pic>
        <p:nvPicPr>
          <p:cNvPr id="20" name="check icon" descr="check"/>
          <p:cNvPicPr>
            <a:picLocks noChangeAspect="1"/>
          </p:cNvPicPr>
          <p:nvPr/>
        </p:nvPicPr>
        <p:blipFill>
          <a:blip r:embed="rId2"/>
          <a:stretch>
            <a:fillRect/>
          </a:stretch>
        </p:blipFill>
        <p:spPr>
          <a:xfrm>
            <a:off x="812902" y="4526280"/>
            <a:ext cx="201168" cy="201168"/>
          </a:xfrm>
          <a:prstGeom prst="rect">
            <a:avLst/>
          </a:prstGeom>
        </p:spPr>
      </p:pic>
      <p:sp>
        <p:nvSpPr>
          <p:cNvPr id="21" name="Body"/>
          <p:cNvSpPr txBox="1"/>
          <p:nvPr/>
        </p:nvSpPr>
        <p:spPr>
          <a:xfrm>
            <a:off x="1132942" y="450799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Real results on your own site, not a demo video</a:t>
            </a:r>
            <a:endParaRPr lang="en-US" sz="1300" dirty="0"/>
          </a:p>
        </p:txBody>
      </p:sp>
      <p:pic>
        <p:nvPicPr>
          <p:cNvPr id="22" name="check icon" descr="check"/>
          <p:cNvPicPr>
            <a:picLocks noChangeAspect="1"/>
          </p:cNvPicPr>
          <p:nvPr/>
        </p:nvPicPr>
        <p:blipFill>
          <a:blip r:embed="rId2"/>
          <a:stretch>
            <a:fillRect/>
          </a:stretch>
        </p:blipFill>
        <p:spPr>
          <a:xfrm>
            <a:off x="812902" y="4892040"/>
            <a:ext cx="201168" cy="201168"/>
          </a:xfrm>
          <a:prstGeom prst="rect">
            <a:avLst/>
          </a:prstGeom>
        </p:spPr>
      </p:pic>
      <p:sp>
        <p:nvSpPr>
          <p:cNvPr id="23" name="Body"/>
          <p:cNvSpPr txBox="1"/>
          <p:nvPr/>
        </p:nvSpPr>
        <p:spPr>
          <a:xfrm>
            <a:off x="1132942" y="487375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A clear count of hits and false alarms</a:t>
            </a:r>
            <a:endParaRPr lang="en-US" sz="1300" dirty="0"/>
          </a:p>
        </p:txBody>
      </p:sp>
      <p:pic>
        <p:nvPicPr>
          <p:cNvPr id="24" name="check icon" descr="check"/>
          <p:cNvPicPr>
            <a:picLocks noChangeAspect="1"/>
          </p:cNvPicPr>
          <p:nvPr/>
        </p:nvPicPr>
        <p:blipFill>
          <a:blip r:embed="rId2"/>
          <a:stretch>
            <a:fillRect/>
          </a:stretch>
        </p:blipFill>
        <p:spPr>
          <a:xfrm>
            <a:off x="812902" y="5257800"/>
            <a:ext cx="201168" cy="201168"/>
          </a:xfrm>
          <a:prstGeom prst="rect">
            <a:avLst/>
          </a:prstGeom>
        </p:spPr>
      </p:pic>
      <p:sp>
        <p:nvSpPr>
          <p:cNvPr id="25" name="Body"/>
          <p:cNvSpPr txBox="1"/>
          <p:nvPr/>
        </p:nvSpPr>
        <p:spPr>
          <a:xfrm>
            <a:off x="1132942" y="523951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Rules tuned to your cameras and hours</a:t>
            </a:r>
            <a:endParaRPr lang="en-US" sz="1300" dirty="0"/>
          </a:p>
        </p:txBody>
      </p:sp>
      <p:sp>
        <p:nvSpPr>
          <p:cNvPr id="26" name="Label"/>
          <p:cNvSpPr txBox="1"/>
          <p:nvPr/>
        </p:nvSpPr>
        <p:spPr>
          <a:xfrm>
            <a:off x="6370168" y="4178808"/>
            <a:ext cx="5008626" cy="219456"/>
          </a:xfrm>
          <a:prstGeom prst="rect">
            <a:avLst/>
          </a:prstGeom>
          <a:noFill/>
          <a:ln/>
        </p:spPr>
        <p:txBody>
          <a:bodyPr wrap="square" lIns="0" tIns="0" rIns="0" bIns="0" rtlCol="0" anchor="t"/>
          <a:lstStyle/>
          <a:p>
            <a:pPr algn="l" indent="0" marL="0">
              <a:buNone/>
            </a:pPr>
            <a:r>
              <a:rPr lang="en-US" sz="1200" spc="100" kern="0" dirty="0">
                <a:solidFill>
                  <a:schemeClr val="accent2"/>
                </a:solidFill>
                <a:latin typeface="Consolas" pitchFamily="34" charset="0"/>
                <a:ea typeface="Consolas" pitchFamily="34" charset="-122"/>
                <a:cs typeface="Consolas" pitchFamily="34" charset="-120"/>
              </a:rPr>
              <a:t>WHAT WE NEED FROM YOU</a:t>
            </a:r>
            <a:endParaRPr lang="en-US" sz="1200" dirty="0"/>
          </a:p>
        </p:txBody>
      </p:sp>
      <p:pic>
        <p:nvPicPr>
          <p:cNvPr id="27" name="check icon" descr="check"/>
          <p:cNvPicPr>
            <a:picLocks noChangeAspect="1"/>
          </p:cNvPicPr>
          <p:nvPr/>
        </p:nvPicPr>
        <p:blipFill>
          <a:blip r:embed="rId2"/>
          <a:stretch>
            <a:fillRect/>
          </a:stretch>
        </p:blipFill>
        <p:spPr>
          <a:xfrm>
            <a:off x="6370168" y="4526280"/>
            <a:ext cx="201168" cy="201168"/>
          </a:xfrm>
          <a:prstGeom prst="rect">
            <a:avLst/>
          </a:prstGeom>
        </p:spPr>
      </p:pic>
      <p:sp>
        <p:nvSpPr>
          <p:cNvPr id="28" name="Body"/>
          <p:cNvSpPr txBox="1"/>
          <p:nvPr/>
        </p:nvSpPr>
        <p:spPr>
          <a:xfrm>
            <a:off x="6690208" y="450799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Access to 2–5 cameras (address and login)</a:t>
            </a:r>
            <a:endParaRPr lang="en-US" sz="1300" dirty="0"/>
          </a:p>
        </p:txBody>
      </p:sp>
      <p:pic>
        <p:nvPicPr>
          <p:cNvPr id="29" name="check icon" descr="check"/>
          <p:cNvPicPr>
            <a:picLocks noChangeAspect="1"/>
          </p:cNvPicPr>
          <p:nvPr/>
        </p:nvPicPr>
        <p:blipFill>
          <a:blip r:embed="rId2"/>
          <a:stretch>
            <a:fillRect/>
          </a:stretch>
        </p:blipFill>
        <p:spPr>
          <a:xfrm>
            <a:off x="6370168" y="4892040"/>
            <a:ext cx="201168" cy="201168"/>
          </a:xfrm>
          <a:prstGeom prst="rect">
            <a:avLst/>
          </a:prstGeom>
        </p:spPr>
      </p:pic>
      <p:sp>
        <p:nvSpPr>
          <p:cNvPr id="30" name="Body"/>
          <p:cNvSpPr txBox="1"/>
          <p:nvPr/>
        </p:nvSpPr>
        <p:spPr>
          <a:xfrm>
            <a:off x="6690208" y="487375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A server or PC on the same network: we advise on the spec</a:t>
            </a:r>
            <a:endParaRPr lang="en-US" sz="1300" dirty="0"/>
          </a:p>
        </p:txBody>
      </p:sp>
      <p:pic>
        <p:nvPicPr>
          <p:cNvPr id="31" name="check icon" descr="check"/>
          <p:cNvPicPr>
            <a:picLocks noChangeAspect="1"/>
          </p:cNvPicPr>
          <p:nvPr/>
        </p:nvPicPr>
        <p:blipFill>
          <a:blip r:embed="rId2"/>
          <a:stretch>
            <a:fillRect/>
          </a:stretch>
        </p:blipFill>
        <p:spPr>
          <a:xfrm>
            <a:off x="6370168" y="5257800"/>
            <a:ext cx="201168" cy="201168"/>
          </a:xfrm>
          <a:prstGeom prst="rect">
            <a:avLst/>
          </a:prstGeom>
        </p:spPr>
      </p:pic>
      <p:sp>
        <p:nvSpPr>
          <p:cNvPr id="32" name="Body"/>
          <p:cNvSpPr txBox="1"/>
          <p:nvPr/>
        </p:nvSpPr>
        <p:spPr>
          <a:xfrm>
            <a:off x="6690208" y="523951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One contact who knows the site</a:t>
            </a:r>
            <a:endParaRPr lang="en-US" sz="1300" dirty="0"/>
          </a:p>
        </p:txBody>
      </p:sp>
      <p:pic>
        <p:nvPicPr>
          <p:cNvPr id="33" name="check icon" descr="check"/>
          <p:cNvPicPr>
            <a:picLocks noChangeAspect="1"/>
          </p:cNvPicPr>
          <p:nvPr/>
        </p:nvPicPr>
        <p:blipFill>
          <a:blip r:embed="rId2"/>
          <a:stretch>
            <a:fillRect/>
          </a:stretch>
        </p:blipFill>
        <p:spPr>
          <a:xfrm>
            <a:off x="6370168" y="5623560"/>
            <a:ext cx="201168" cy="201168"/>
          </a:xfrm>
          <a:prstGeom prst="rect">
            <a:avLst/>
          </a:prstGeom>
        </p:spPr>
      </p:pic>
      <p:sp>
        <p:nvSpPr>
          <p:cNvPr id="34" name="Body"/>
          <p:cNvSpPr txBox="1"/>
          <p:nvPr/>
        </p:nvSpPr>
        <p:spPr>
          <a:xfrm>
            <a:off x="6690208" y="5605272"/>
            <a:ext cx="4688586" cy="274320"/>
          </a:xfrm>
          <a:prstGeom prst="rect">
            <a:avLst/>
          </a:prstGeom>
          <a:noFill/>
          <a:ln/>
        </p:spPr>
        <p:txBody>
          <a:bodyPr wrap="square" lIns="0" tIns="0" rIns="0" bIns="0" rtlCol="0" anchor="t"/>
          <a:lstStyle/>
          <a:p>
            <a:pPr algn="l" indent="0" marL="0">
              <a:buNone/>
            </a:pPr>
            <a:r>
              <a:rPr lang="en-US" sz="1300" dirty="0">
                <a:solidFill>
                  <a:schemeClr val="bg2"/>
                </a:solidFill>
              </a:rPr>
              <a:t>Agreement on what should trigger an alert</a:t>
            </a:r>
            <a:endParaRPr lang="en-US" sz="1300" dirty="0"/>
          </a:p>
        </p:txBody>
      </p:sp>
    </p:spTree>
  </p:cSld>
  <p:clrMapOvr>
    <a:masterClrMapping/>
  </p:clrMapOvr>
</p:sld>
</file>

<file path=ppt/theme/theme1.xml><?xml version="1.0" encoding="utf-8"?>
<a:theme xmlns:a="http://schemas.openxmlformats.org/drawingml/2006/main" name="Histor">
  <a:themeElements>
    <a:clrScheme name="Histor">
      <a:dk1>
        <a:srgbClr val="080C17"/>
      </a:dk1>
      <a:lt1>
        <a:srgbClr val="EEF3FB"/>
      </a:lt1>
      <a:dk2>
        <a:srgbClr val="0D1322"/>
      </a:dk2>
      <a:lt2>
        <a:srgbClr val="AEBBD3"/>
      </a:lt2>
      <a:accent1>
        <a:srgbClr val="4C82FF"/>
      </a:accent1>
      <a:accent2>
        <a:srgbClr val="63CFF5"/>
      </a:accent2>
      <a:accent3>
        <a:srgbClr val="13245A"/>
      </a:accent3>
      <a:accent4>
        <a:srgbClr val="111A2E"/>
      </a:accent4>
      <a:accent5>
        <a:srgbClr val="22304F"/>
      </a:accent5>
      <a:accent6>
        <a:srgbClr val="2A5FF0"/>
      </a:accent6>
      <a:hlink>
        <a:srgbClr val="63CFF5"/>
      </a:hlink>
      <a:folHlink>
        <a:srgbClr val="7E8BA6"/>
      </a:folHlink>
    </a:clrScheme>
    <a:fontScheme name="His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dc:title>
  <dc:subject>PptxGenJS Presentation</dc:subject>
  <dc:creator>Histor</dc:creator>
  <cp:lastModifiedBy>Histor</cp:lastModifiedBy>
  <cp:revision>1</cp:revision>
  <dcterms:created xsi:type="dcterms:W3CDTF">2026-10-06T07:31:03Z</dcterms:created>
  <dcterms:modified xsi:type="dcterms:W3CDTF">2026-10-06T07:31:03Z</dcterms:modified>
</cp:coreProperties>
</file>